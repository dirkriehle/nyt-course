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9A2A7C-E2D3-434F-873A-8C2D01426A31}">
  <a:tblStyle styleId="{829A2A7C-E2D3-434F-873A-8C2D01426A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370db3ca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370db3ca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1605a233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1605a233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1605a233c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1605a233c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1605a233c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1605a233c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16a67214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16a67214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16a67214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16a67214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16a67214f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16a67214f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16a67214f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16a67214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605a233c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605a233c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136f098fd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136f098fd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3c6de8f0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3c6de8f0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13c6de8f0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13c6de8f0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13772eb11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13772eb11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136f098fd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136f098fd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3c6de8f0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13c6de8f0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3960e6332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3960e6332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3960e6332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3960e6332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uni1.de/ny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Science Research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B04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short research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science research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 Short SE Research History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Short Research History</a:t>
            </a:r>
            <a:endParaRPr/>
          </a:p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Software Engineering Research of Old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is building artifacts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Engineering science (research) is building-to-learn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Building-to-learn was often only casually or not at all evaluated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Empirical Software Engineering</a:t>
            </a:r>
            <a:endParaRPr/>
          </a:p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5" y="914405"/>
            <a:ext cx="329184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5225" y="914400"/>
            <a:ext cx="1825647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Victor R. Basili, Ph.D.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(Overly) Analytical Software Engineering Research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Fastest way to research paper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Formulate </a:t>
            </a:r>
            <a:r>
              <a:rPr lang="en"/>
              <a:t>hypothesis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 with GitHub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and submit paper</a:t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Design Science Research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Empirically grounded innovation</a:t>
            </a:r>
            <a:endParaRPr/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Design Science Research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Science Research [1]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science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Paradigm for conducting scientific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Methodology if you follow a specific textbook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goal of design science research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innovative solutions to current problems</a:t>
            </a:r>
            <a:endParaRPr/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00" name="Google Shape;100;p1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Paradigm = methodology category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Science Research [1] Activities and Their Purpose</a:t>
            </a:r>
            <a:endParaRPr/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07" name="Google Shape;107;p18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{829A2A7C-E2D3-434F-873A-8C2D01426A31}</a:tableStyleId>
              </a:tblPr>
              <a:tblGrid>
                <a:gridCol w="640600"/>
                <a:gridCol w="2745425"/>
                <a:gridCol w="5209325"/>
              </a:tblGrid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Activity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Purpose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Problem identification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Build theory of problem domain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Objective definition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Define objective (“research question”)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Solution design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Design solution (the “design science artifact”)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Demonstration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Demonstrate viability (should we continue?)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Evaluation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Evaluate theory as embodied in artifact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6.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Publication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Communicate findings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08" name="Google Shape;108;p1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</a:t>
            </a:r>
            <a:r>
              <a:rPr lang="en"/>
              <a:t> According to Peffers et al. (2007)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identification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building </a:t>
            </a:r>
            <a:r>
              <a:rPr lang="en"/>
              <a:t>methodologies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Structured literature survey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Qualitative survey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Questionnaire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Qualitative data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QDA associated practices</a:t>
            </a:r>
            <a:endParaRPr/>
          </a:p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Scientific About Design Science Research?</a:t>
            </a:r>
            <a:endParaRPr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16" name="Google Shape;116;p19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Evaluation / validation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building methodologies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Action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Case study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…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Hypothesis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Controlled experiments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Hypothesis testing surveys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in Design Science Research</a:t>
            </a:r>
            <a:endParaRPr/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Science and Engineering Theses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30" name="Google Shape;130;p21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{829A2A7C-E2D3-434F-873A-8C2D01426A31}</a:tableStyleId>
              </a:tblPr>
              <a:tblGrid>
                <a:gridCol w="640600"/>
                <a:gridCol w="3977375"/>
                <a:gridCol w="3977375"/>
              </a:tblGrid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Design Science Activity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Final Thesis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Problem identification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Related work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Objective definition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Requirements for work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Solution design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Design and implementation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Demonstration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Demonstration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Evaluation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Evaluation against requirements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6.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Publication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Final thesis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Effort is Spent in Design Science Research [1]</a:t>
            </a:r>
            <a:endParaRPr/>
          </a:p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37" name="Google Shape;137;p22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{829A2A7C-E2D3-434F-873A-8C2D01426A31}</a:tableStyleId>
              </a:tblPr>
              <a:tblGrid>
                <a:gridCol w="640725"/>
                <a:gridCol w="2651500"/>
                <a:gridCol w="2651500"/>
                <a:gridCol w="2651500"/>
              </a:tblGrid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Activity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% (Master Thesis)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% (Ph.D. Thesis)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Problem identification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</a:t>
                      </a:r>
                      <a:r>
                        <a:rPr lang="en" sz="1800"/>
                        <a:t>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29</a:t>
                      </a:r>
                      <a:r>
                        <a:rPr lang="en" sz="1800"/>
                        <a:t>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Objective definition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Solution design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70%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20%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Demonstration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15%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Evaluation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35%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6.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Publication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10%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10%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2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According to me, spitballing… [DR]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
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41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42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43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44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45.xml"/>
  <Override ContentType="application/vnd.openxmlformats-officedocument.presentationml.notesSlide+xml" PartName="/ppt/notesSlides/notesSlide46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47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48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49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40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6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43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5.xml"/>
  <Override ContentType="application/vnd.openxmlformats-officedocument.presentationml.slide+xml" PartName="/ppt/slides/slide17.xml"/>
  <Override ContentType="application/vnd.openxmlformats-officedocument.presentationml.slide+xml" PartName="/ppt/slides/slide42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33.xml"/>
  <Override ContentType="application/vnd.openxmlformats-officedocument.presentationml.slide+xml" PartName="/ppt/slides/slide16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7.xml"/>
  <Override ContentType="application/vnd.openxmlformats-officedocument.presentationml.slide+xml" PartName="/ppt/slides/slide41.xml"/>
  <Override ContentType="application/vnd.openxmlformats-officedocument.presentationml.slide+xml" PartName="/ppt/slides/slide7.xml"/>
  <Override ContentType="application/vnd.openxmlformats-officedocument.presentationml.slide+xml" PartName="/ppt/slides/slide36.xml"/>
  <Override ContentType="application/vnd.openxmlformats-officedocument.presentationml.slide+xml" PartName="/ppt/slides/slide23.xml"/>
  <Override ContentType="application/vnd.openxmlformats-officedocument.presentationml.slide+xml" PartName="/ppt/slides/slide49.xml"/>
  <Override ContentType="application/vnd.openxmlformats-officedocument.presentationml.slide+xml" PartName="/ppt/slides/slide10.xml"/>
  <Override ContentType="application/vnd.openxmlformats-officedocument.presentationml.slide+xml" PartName="/ppt/slides/slide6.xml"/>
  <Override ContentType="application/vnd.openxmlformats-officedocument.presentationml.slide+xml" PartName="/ppt/slides/slide40.xml"/>
  <Override ContentType="application/vnd.openxmlformats-officedocument.presentationml.slide+xml" PartName="/ppt/slides/slide4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9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12.xml"/>
  <Override ContentType="application/vnd.openxmlformats-officedocument.presentationml.slide+xml" PartName="/ppt/slides/slide47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8.xml"/>
  <Override ContentType="application/vnd.openxmlformats-officedocument.presentationml.slide+xml" PartName="/ppt/slides/slide4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32.xml"/>
  <Override ContentType="application/vnd.openxmlformats-officedocument.presentationml.slide+xml" PartName="/ppt/slides/slide1.xml"/>
  <Override ContentType="application/vnd.openxmlformats-officedocument.presentationml.slide+xml" PartName="/ppt/slides/slide45.xml"/>
  <Override ContentType="application/vnd.openxmlformats-officedocument.presentationml.slide+xml" PartName="/ppt/slides/slide28.xml"/>
  <Override ContentType="application/vnd.openxmlformats-officedocument.presentationml.slide+xml" PartName="/ppt/slides/slide15.xml"/>
  <Override ContentType="application/vnd.openxmlformats-officedocument.presentationml.slide+xml" PartName="/ppt/slides/slide31.xml"/>
  <Override ContentType="application/vnd.openxmlformats-officedocument.presentationml.slide+xml" PartName="/ppt/slides/slide27.xml"/>
  <Override ContentType="application/vnd.openxmlformats-officedocument.presentationml.slide+xml" PartName="/ppt/slides/slide2.xml"/>
  <Override ContentType="application/vnd.openxmlformats-officedocument.presentationml.slide+xml" PartName="/ppt/slides/slide44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 showSpecialPlsOnTitleSld="0">
  <p:sldMasterIdLst>
    <p:sldMasterId id="2147483654" r:id="rId5"/>
  </p:sldMasterIdLst>
  <p:notesMasterIdLst>
    <p:notesMasterId r:id="rId6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1D0D3B27-48E7-414E-A840-DF4C97E417E6}">
  <a:tblStyle styleId="{1D0D3B27-48E7-414E-A840-DF4C97E417E6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4.xml"/><Relationship Id="rId42" Type="http://schemas.openxmlformats.org/officeDocument/2006/relationships/slide" Target="slides/slide36.xml"/><Relationship Id="rId41" Type="http://schemas.openxmlformats.org/officeDocument/2006/relationships/slide" Target="slides/slide35.xml"/><Relationship Id="rId44" Type="http://schemas.openxmlformats.org/officeDocument/2006/relationships/slide" Target="slides/slide38.xml"/><Relationship Id="rId43" Type="http://schemas.openxmlformats.org/officeDocument/2006/relationships/slide" Target="slides/slide37.xml"/><Relationship Id="rId46" Type="http://schemas.openxmlformats.org/officeDocument/2006/relationships/slide" Target="slides/slide40.xml"/><Relationship Id="rId45" Type="http://schemas.openxmlformats.org/officeDocument/2006/relationships/slide" Target="slides/slide39.xml"/><Relationship Id="rId1" Type="http://schemas.openxmlformats.org/officeDocument/2006/relationships/theme" Target="theme/theme2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tableStyles" Target="tableStyles.xml"/><Relationship Id="rId9" Type="http://schemas.openxmlformats.org/officeDocument/2006/relationships/slide" Target="slides/slide3.xml"/><Relationship Id="rId48" Type="http://schemas.openxmlformats.org/officeDocument/2006/relationships/slide" Target="slides/slide42.xml"/><Relationship Id="rId47" Type="http://schemas.openxmlformats.org/officeDocument/2006/relationships/slide" Target="slides/slide41.xml"/><Relationship Id="rId49" Type="http://schemas.openxmlformats.org/officeDocument/2006/relationships/slide" Target="slides/slide43.xml"/><Relationship Id="rId5" Type="http://schemas.openxmlformats.org/officeDocument/2006/relationships/slideMaster" Target="slideMasters/slideMaster1.xml"/><Relationship Id="rId6" Type="http://schemas.openxmlformats.org/officeDocument/2006/relationships/notesMaster" Target="notesMasters/notesMaster1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31" Type="http://schemas.openxmlformats.org/officeDocument/2006/relationships/slide" Target="slides/slide25.xml"/><Relationship Id="rId30" Type="http://schemas.openxmlformats.org/officeDocument/2006/relationships/slide" Target="slides/slide24.xml"/><Relationship Id="rId33" Type="http://schemas.openxmlformats.org/officeDocument/2006/relationships/slide" Target="slides/slide27.xml"/><Relationship Id="rId32" Type="http://schemas.openxmlformats.org/officeDocument/2006/relationships/slide" Target="slides/slide26.xml"/><Relationship Id="rId35" Type="http://schemas.openxmlformats.org/officeDocument/2006/relationships/slide" Target="slides/slide29.xml"/><Relationship Id="rId34" Type="http://schemas.openxmlformats.org/officeDocument/2006/relationships/slide" Target="slides/slide28.xml"/><Relationship Id="rId37" Type="http://schemas.openxmlformats.org/officeDocument/2006/relationships/slide" Target="slides/slide31.xml"/><Relationship Id="rId36" Type="http://schemas.openxmlformats.org/officeDocument/2006/relationships/slide" Target="slides/slide30.xml"/><Relationship Id="rId39" Type="http://schemas.openxmlformats.org/officeDocument/2006/relationships/slide" Target="slides/slide33.xml"/><Relationship Id="rId38" Type="http://schemas.openxmlformats.org/officeDocument/2006/relationships/slide" Target="slides/slide32.xml"/><Relationship Id="rId20" Type="http://schemas.openxmlformats.org/officeDocument/2006/relationships/slide" Target="slides/slide14.xml"/><Relationship Id="rId22" Type="http://schemas.openxmlformats.org/officeDocument/2006/relationships/slide" Target="slides/slide16.xml"/><Relationship Id="rId21" Type="http://schemas.openxmlformats.org/officeDocument/2006/relationships/slide" Target="slides/slide15.xml"/><Relationship Id="rId24" Type="http://schemas.openxmlformats.org/officeDocument/2006/relationships/slide" Target="slides/slide18.xml"/><Relationship Id="rId23" Type="http://schemas.openxmlformats.org/officeDocument/2006/relationships/slide" Target="slides/slide17.xml"/><Relationship Id="rId26" Type="http://schemas.openxmlformats.org/officeDocument/2006/relationships/slide" Target="slides/slide20.xml"/><Relationship Id="rId25" Type="http://schemas.openxmlformats.org/officeDocument/2006/relationships/slide" Target="slides/slide19.xml"/><Relationship Id="rId28" Type="http://schemas.openxmlformats.org/officeDocument/2006/relationships/slide" Target="slides/slide22.xml"/><Relationship Id="rId27" Type="http://schemas.openxmlformats.org/officeDocument/2006/relationships/slide" Target="slides/slide21.xml"/><Relationship Id="rId29" Type="http://schemas.openxmlformats.org/officeDocument/2006/relationships/slide" Target="slides/slide23.xml"/><Relationship Id="rId51" Type="http://schemas.openxmlformats.org/officeDocument/2006/relationships/slide" Target="slides/slide45.xml"/><Relationship Id="rId50" Type="http://schemas.openxmlformats.org/officeDocument/2006/relationships/slide" Target="slides/slide44.xml"/><Relationship Id="rId53" Type="http://schemas.openxmlformats.org/officeDocument/2006/relationships/slide" Target="slides/slide47.xml"/><Relationship Id="rId52" Type="http://schemas.openxmlformats.org/officeDocument/2006/relationships/slide" Target="slides/slide46.xml"/><Relationship Id="rId11" Type="http://schemas.openxmlformats.org/officeDocument/2006/relationships/slide" Target="slides/slide5.xml"/><Relationship Id="rId55" Type="http://schemas.openxmlformats.org/officeDocument/2006/relationships/slide" Target="slides/slide49.xml"/><Relationship Id="rId10" Type="http://schemas.openxmlformats.org/officeDocument/2006/relationships/slide" Target="slides/slide4.xml"/><Relationship Id="rId54" Type="http://schemas.openxmlformats.org/officeDocument/2006/relationships/slide" Target="slides/slide48.xml"/><Relationship Id="rId13" Type="http://schemas.openxmlformats.org/officeDocument/2006/relationships/slide" Target="slides/slide7.xml"/><Relationship Id="rId12" Type="http://schemas.openxmlformats.org/officeDocument/2006/relationships/slide" Target="slides/slide6.xml"/><Relationship Id="rId15" Type="http://schemas.openxmlformats.org/officeDocument/2006/relationships/slide" Target="slides/slide9.xml"/><Relationship Id="rId14" Type="http://schemas.openxmlformats.org/officeDocument/2006/relationships/slide" Target="slides/slide8.xml"/><Relationship Id="rId17" Type="http://schemas.openxmlformats.org/officeDocument/2006/relationships/slide" Target="slides/slide11.xml"/><Relationship Id="rId16" Type="http://schemas.openxmlformats.org/officeDocument/2006/relationships/slide" Target="slides/slide10.xml"/><Relationship Id="rId19" Type="http://schemas.openxmlformats.org/officeDocument/2006/relationships/slide" Target="slides/slide13.xml"/><Relationship Id="rId18" Type="http://schemas.openxmlformats.org/officeDocument/2006/relationships/slide" Target="slides/slide12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7" name="Shape 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Google Shape;48;g2c22c2530aa_0_6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9" name="Google Shape;49;g2c22c2530aa_0_6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g10b1f6a61c9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5" name="Google Shape;55;g10b1f6a61c9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0" name="Shape 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Google Shape;61;gf9bad1e87a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2" name="Google Shape;62;gf9bad1e87a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g10b1f6a61c9_0_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7" name="Google Shape;67;g10b1f6a61c9_0_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2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g10b1f6a61c9_0_5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4" name="Google Shape;74;g10b1f6a61c9_0_5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9" name="Shape 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Google Shape;80;g126c08e6057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1" name="Google Shape;81;g126c08e6057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6" name="Shape 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" name="Google Shape;87;gdb5ccdfa64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8" name="Google Shape;88;gdb5ccdfa64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3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Google Shape;94;g2c20d0728ba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5" name="Google Shape;95;g2c20d0728ba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g10b1f6a61c9_0_7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2" name="Google Shape;102;g10b1f6a61c9_0_7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8" name="Shape 1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" name="Google Shape;109;g10b1f6a61c9_0_8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0" name="Google Shape;110;g10b1f6a61c9_0_8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g124990fbb6b_1_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0" name="Google Shape;120;g124990fbb6b_1_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1" name="Shape 1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" name="Google Shape;132;g10b1f6a61c9_0_6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3" name="Google Shape;133;g10b1f6a61c9_0_6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g22e740d6db8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0" name="Google Shape;140;g22e740d6db8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10b1f6a61c9_0_5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10b1f6a61c9_0_5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g10b1f6a61c9_0_9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5" name="Google Shape;155;g10b1f6a61c9_0_9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g10b1f6a61c9_2_1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0" name="Google Shape;160;g10b1f6a61c9_2_1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5" name="Shape 1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6" name="Google Shape;166;g10b1f6a61c9_2_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7" name="Google Shape;167;g10b1f6a61c9_2_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g10b1f6a61c9_2_2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5" name="Google Shape;175;g10b1f6a61c9_2_2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g124990fbb6b_1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2" name="Google Shape;182;g124990fbb6b_1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g125ac54983c_0_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9" name="Google Shape;189;g125ac54983c_0_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g125ac54983c_0_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96" name="Google Shape;196;g125ac54983c_0_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g1f58dc28097_0_3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3" name="Google Shape;203;g1f58dc28097_0_3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8" name="Shape 2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9" name="Google Shape;209;g10b1f6a61c9_2_2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0" name="Google Shape;210;g10b1f6a61c9_2_2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g128c488f742_1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7" name="Google Shape;217;g128c488f742_1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g10b1f6a61c9_2_3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24" name="Google Shape;224;g10b1f6a61c9_2_3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7" name="Shape 2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8" name="Google Shape;228;g10b1f6a61c9_2_3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29" name="Google Shape;229;g10b1f6a61c9_2_3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4" name="Shape 2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5" name="Google Shape;235;g10e751f47f0_0_5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36" name="Google Shape;236;g10e751f47f0_0_5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1" name="Shape 2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2" name="Google Shape;242;g350db62341d_0_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3" name="Google Shape;243;g350db62341d_0_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8" name="Shape 2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9" name="Google Shape;249;g10e751f47f0_0_4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50" name="Google Shape;250;g10e751f47f0_0_4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5" name="Shape 2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" name="Google Shape;256;g359876a3eee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57" name="Google Shape;257;g359876a3eee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2" name="Shape 2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3" name="Google Shape;263;g10b1f6a61c9_2_4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64" name="Google Shape;264;g10b1f6a61c9_2_4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7" name="Shape 2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8" name="Google Shape;268;g10e751f47f0_0_5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69" name="Google Shape;269;g10e751f47f0_0_5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4" name="Shape 2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5" name="Google Shape;275;g10e751f47f0_0_7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76" name="Google Shape;276;g10e751f47f0_0_7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g10e751f47f0_0_7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83" name="Google Shape;283;g10e751f47f0_0_7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8" name="Shape 2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9" name="Google Shape;289;g10e751f47f0_0_8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90" name="Google Shape;290;g10e751f47f0_0_8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95" name="Shape 2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6" name="Google Shape;296;g10b1f6a61c9_0_13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97" name="Google Shape;297;g10b1f6a61c9_0_13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g10b1f6a61c9_0_14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02" name="Google Shape;302;g10b1f6a61c9_0_14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8" name="Shape 3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9" name="Google Shape;309;g10b1f6a61c9_1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10" name="Google Shape;310;g10b1f6a61c9_1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g10b1f6a61c9_0_15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18" name="Google Shape;318;g10b1f6a61c9_0_15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g10b1f6a61c9_0_17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7" name="Google Shape;327;g10b1f6a61c9_0_17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g10b1f6a61c9_4_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32" name="Google Shape;332;g10b1f6a61c9_4_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g1246c69a0e8_0_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39" name="Google Shape;339;g1246c69a0e8_0_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g1246c69a0e8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46" name="Google Shape;346;g1246c69a0e8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g35ed74dac38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55" name="Google Shape;355;g35ed74dac38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61" name="Shape 3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2" name="Google Shape;362;g10e751f47f0_0_9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63" name="Google Shape;363;g10e751f47f0_0_9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70" name="Shape 3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1" name="Google Shape;371;g10e751f47f0_0_9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72" name="Google Shape;372;g10e751f47f0_0_9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78" name="Shape 3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9" name="Google Shape;379;g10b1f6a61c9_2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80" name="Google Shape;380;g10b1f6a61c9_2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85" name="Shape 3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6" name="Google Shape;386;g38715dcde82_0_5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87" name="Google Shape;387;g38715dcde82_0_5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91" name="Shape 3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2" name="Google Shape;392;g38715dcde82_0_5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93" name="Google Shape;393;g38715dcde82_0_5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hyperlink" Target="https://oss.cs.fau.de" TargetMode="Externa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hyperlink" Target="https://oss.cs.fau.de" TargetMode="Externa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hyperlink" Target="https://oss.cs.fau.de" TargetMode="Externa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0" y="0"/>
            <a:ext cx="9144000" cy="2388900"/>
          </a:xfrm>
          <a:prstGeom prst="rect">
            <a:avLst/>
          </a:prstGeom>
          <a:noFill/>
        </p:spPr>
        <p:txBody>
          <a:bodyPr anchorCtr="0" anchor="b" bIns="274300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200"/>
              <a:buNone/>
              <a:defRPr sz="4200">
                <a:solidFill>
                  <a:schemeClr val="dk1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0" y="2569475"/>
            <a:ext cx="9144000" cy="2574000"/>
          </a:xfrm>
          <a:prstGeom prst="rect">
            <a:avLst/>
          </a:prstGeom>
        </p:spPr>
        <p:txBody>
          <a:bodyPr anchorCtr="0" anchor="t" bIns="91425" lIns="91425" spcFirstLastPara="1" rIns="91425" wrap="square" tIns="274300">
            <a:noAutofit/>
          </a:bodyPr>
          <a:lstStyle>
            <a:lvl1pPr lv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1pPr>
            <a:lvl2pPr lvl="1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2pPr>
            <a:lvl3pPr lvl="2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3pPr>
            <a:lvl4pPr lvl="3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4pPr>
            <a:lvl5pPr lvl="4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5pPr>
            <a:lvl6pPr lvl="5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6pPr>
            <a:lvl7pPr lvl="6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7pPr>
            <a:lvl8pPr lvl="7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8pPr>
            <a:lvl9pPr lvl="8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9pPr>
          </a:lstStyle>
          <a:p/>
        </p:txBody>
      </p:sp>
      <p:grpSp>
        <p:nvGrpSpPr>
          <p:cNvPr id="12" name="Google Shape;12;p2"/>
          <p:cNvGrpSpPr/>
          <p:nvPr/>
        </p:nvGrpSpPr>
        <p:grpSpPr>
          <a:xfrm>
            <a:off x="0" y="2388810"/>
            <a:ext cx="9144000" cy="183000"/>
            <a:chOff x="0" y="2388810"/>
            <a:chExt cx="9144000" cy="183000"/>
          </a:xfrm>
        </p:grpSpPr>
        <p:sp>
          <p:nvSpPr>
            <p:cNvPr id="13" name="Google Shape;13;p2"/>
            <p:cNvSpPr/>
            <p:nvPr/>
          </p:nvSpPr>
          <p:spPr>
            <a:xfrm>
              <a:off x="0" y="2388810"/>
              <a:ext cx="914400" cy="1830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" name="Google Shape;14;p2"/>
            <p:cNvSpPr/>
            <p:nvPr/>
          </p:nvSpPr>
          <p:spPr>
            <a:xfrm>
              <a:off x="914400" y="2388810"/>
              <a:ext cx="1828800" cy="1830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" name="Google Shape;15;p2"/>
            <p:cNvSpPr/>
            <p:nvPr/>
          </p:nvSpPr>
          <p:spPr>
            <a:xfrm>
              <a:off x="2743200" y="2388810"/>
              <a:ext cx="6400800" cy="183000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3"/>
          <p:cNvSpPr txBox="1"/>
          <p:nvPr>
            <p:ph type="title"/>
          </p:nvPr>
        </p:nvSpPr>
        <p:spPr>
          <a:xfrm>
            <a:off x="0" y="-7"/>
            <a:ext cx="9144000" cy="2386500"/>
          </a:xfrm>
          <a:prstGeom prst="rect">
            <a:avLst/>
          </a:prstGeom>
        </p:spPr>
        <p:txBody>
          <a:bodyPr anchorCtr="0" anchor="b" bIns="274300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grpSp>
        <p:nvGrpSpPr>
          <p:cNvPr id="18" name="Google Shape;18;p3"/>
          <p:cNvGrpSpPr/>
          <p:nvPr/>
        </p:nvGrpSpPr>
        <p:grpSpPr>
          <a:xfrm>
            <a:off x="0" y="2432304"/>
            <a:ext cx="9144000" cy="91500"/>
            <a:chOff x="0" y="2386584"/>
            <a:chExt cx="9144000" cy="91500"/>
          </a:xfrm>
        </p:grpSpPr>
        <p:sp>
          <p:nvSpPr>
            <p:cNvPr id="19" name="Google Shape;19;p3"/>
            <p:cNvSpPr/>
            <p:nvPr/>
          </p:nvSpPr>
          <p:spPr>
            <a:xfrm>
              <a:off x="0" y="2386584"/>
              <a:ext cx="914400" cy="915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0" name="Google Shape;20;p3"/>
            <p:cNvSpPr/>
            <p:nvPr/>
          </p:nvSpPr>
          <p:spPr>
            <a:xfrm>
              <a:off x="914400" y="2386584"/>
              <a:ext cx="1828800" cy="915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1" name="Google Shape;21;p3"/>
            <p:cNvSpPr/>
            <p:nvPr/>
          </p:nvSpPr>
          <p:spPr>
            <a:xfrm>
              <a:off x="2743200" y="2386584"/>
              <a:ext cx="6400800" cy="91500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22" name="Shape 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Google Shape;23;p4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4" name="Google Shape;24;p4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25" name="Google Shape;25;p4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rtl="0">
              <a:buNone/>
              <a:defRPr>
                <a:solidFill>
                  <a:schemeClr val="dk1"/>
                </a:solidFill>
              </a:defRPr>
            </a:lvl1pPr>
            <a:lvl2pPr lvl="1" rtl="0">
              <a:buNone/>
              <a:defRPr>
                <a:solidFill>
                  <a:schemeClr val="dk1"/>
                </a:solidFill>
              </a:defRPr>
            </a:lvl2pPr>
            <a:lvl3pPr lvl="2" rtl="0">
              <a:buNone/>
              <a:defRPr>
                <a:solidFill>
                  <a:schemeClr val="dk1"/>
                </a:solidFill>
              </a:defRPr>
            </a:lvl3pPr>
            <a:lvl4pPr lvl="3" rtl="0">
              <a:buNone/>
              <a:defRPr>
                <a:solidFill>
                  <a:schemeClr val="dk1"/>
                </a:solidFill>
              </a:defRPr>
            </a:lvl4pPr>
            <a:lvl5pPr lvl="4" rtl="0">
              <a:buNone/>
              <a:defRPr>
                <a:solidFill>
                  <a:schemeClr val="dk1"/>
                </a:solidFill>
              </a:defRPr>
            </a:lvl5pPr>
            <a:lvl6pPr lvl="5" rtl="0">
              <a:buNone/>
              <a:defRPr>
                <a:solidFill>
                  <a:schemeClr val="dk1"/>
                </a:solidFill>
              </a:defRPr>
            </a:lvl6pPr>
            <a:lvl7pPr lvl="6" rtl="0">
              <a:buNone/>
              <a:defRPr>
                <a:solidFill>
                  <a:schemeClr val="dk1"/>
                </a:solidFill>
              </a:defRPr>
            </a:lvl7pPr>
            <a:lvl8pPr lvl="7" rtl="0">
              <a:buNone/>
              <a:defRPr>
                <a:solidFill>
                  <a:schemeClr val="dk1"/>
                </a:solidFill>
              </a:defRPr>
            </a:lvl8pPr>
            <a:lvl9pPr lvl="8" rtl="0">
              <a:buNone/>
              <a:defRPr>
                <a:solidFill>
                  <a:schemeClr val="dk1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2"/>
              </a:rPr>
              <a:t>https://oss.cs.fau.de</a:t>
            </a:r>
            <a:r>
              <a:rPr b="0" lang="en" sz="900">
                <a:solidFill>
                  <a:schemeClr val="dk2"/>
                </a:solidFill>
              </a:rPr>
              <a:t> </a:t>
            </a:r>
            <a:endParaRPr b="0" sz="900">
              <a:solidFill>
                <a:schemeClr val="dk2"/>
              </a:solidFill>
            </a:endParaRPr>
          </a:p>
        </p:txBody>
      </p:sp>
      <p:grpSp>
        <p:nvGrpSpPr>
          <p:cNvPr id="26" name="Google Shape;26;p4"/>
          <p:cNvGrpSpPr/>
          <p:nvPr/>
        </p:nvGrpSpPr>
        <p:grpSpPr>
          <a:xfrm>
            <a:off x="0" y="685800"/>
            <a:ext cx="9144000" cy="91500"/>
            <a:chOff x="0" y="2386584"/>
            <a:chExt cx="9144000" cy="91500"/>
          </a:xfrm>
        </p:grpSpPr>
        <p:sp>
          <p:nvSpPr>
            <p:cNvPr id="27" name="Google Shape;27;p4"/>
            <p:cNvSpPr/>
            <p:nvPr/>
          </p:nvSpPr>
          <p:spPr>
            <a:xfrm>
              <a:off x="0" y="2386584"/>
              <a:ext cx="914400" cy="915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8" name="Google Shape;28;p4"/>
            <p:cNvSpPr/>
            <p:nvPr/>
          </p:nvSpPr>
          <p:spPr>
            <a:xfrm>
              <a:off x="914400" y="2386584"/>
              <a:ext cx="1828800" cy="915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9" name="Google Shape;29;p4"/>
            <p:cNvSpPr/>
            <p:nvPr/>
          </p:nvSpPr>
          <p:spPr>
            <a:xfrm>
              <a:off x="2743200" y="2386584"/>
              <a:ext cx="6400800" cy="91500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5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  <a:ln>
            <a:noFill/>
          </a:ln>
        </p:spPr>
        <p:txBody>
          <a:bodyPr anchorCtr="0" anchor="ctr" bIns="0" lIns="27430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32" name="Google Shape;32;p5"/>
          <p:cNvSpPr txBox="1"/>
          <p:nvPr>
            <p:ph idx="1" type="body"/>
          </p:nvPr>
        </p:nvSpPr>
        <p:spPr>
          <a:xfrm>
            <a:off x="274320" y="914400"/>
            <a:ext cx="4114800" cy="4114800"/>
          </a:xfrm>
          <a:prstGeom prst="rect">
            <a:avLst/>
          </a:prstGeom>
        </p:spPr>
        <p:txBody>
          <a:bodyPr anchorCtr="0" anchor="t" bIns="91425" lIns="0" spcFirstLastPara="1" rIns="91425" wrap="square" tIns="0">
            <a:no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33" name="Google Shape;33;p5"/>
          <p:cNvSpPr txBox="1"/>
          <p:nvPr>
            <p:ph idx="2" type="body"/>
          </p:nvPr>
        </p:nvSpPr>
        <p:spPr>
          <a:xfrm>
            <a:off x="4846320" y="914400"/>
            <a:ext cx="41148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34" name="Google Shape;34;p5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>
              <a:buNone/>
              <a:defRPr>
                <a:solidFill>
                  <a:schemeClr val="dk1"/>
                </a:solidFill>
              </a:defRPr>
            </a:lvl1pPr>
            <a:lvl2pPr lvl="1">
              <a:buNone/>
              <a:defRPr>
                <a:solidFill>
                  <a:schemeClr val="dk1"/>
                </a:solidFill>
              </a:defRPr>
            </a:lvl2pPr>
            <a:lvl3pPr lvl="2">
              <a:buNone/>
              <a:defRPr>
                <a:solidFill>
                  <a:schemeClr val="dk1"/>
                </a:solidFill>
              </a:defRPr>
            </a:lvl3pPr>
            <a:lvl4pPr lvl="3">
              <a:buNone/>
              <a:defRPr>
                <a:solidFill>
                  <a:schemeClr val="dk1"/>
                </a:solidFill>
              </a:defRPr>
            </a:lvl4pPr>
            <a:lvl5pPr lvl="4">
              <a:buNone/>
              <a:defRPr>
                <a:solidFill>
                  <a:schemeClr val="dk1"/>
                </a:solidFill>
              </a:defRPr>
            </a:lvl5pPr>
            <a:lvl6pPr lvl="5">
              <a:buNone/>
              <a:defRPr>
                <a:solidFill>
                  <a:schemeClr val="dk1"/>
                </a:solidFill>
              </a:defRPr>
            </a:lvl6pPr>
            <a:lvl7pPr lvl="6">
              <a:buNone/>
              <a:defRPr>
                <a:solidFill>
                  <a:schemeClr val="dk1"/>
                </a:solidFill>
              </a:defRPr>
            </a:lvl7pPr>
            <a:lvl8pPr lvl="7">
              <a:buNone/>
              <a:defRPr>
                <a:solidFill>
                  <a:schemeClr val="dk1"/>
                </a:solidFill>
              </a:defRPr>
            </a:lvl8pPr>
            <a:lvl9pPr lvl="8">
              <a:buNone/>
              <a:defRPr>
                <a:solidFill>
                  <a:schemeClr val="dk1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0" lang="en" sz="900" u="sng">
                <a:solidFill>
                  <a:schemeClr val="hlink"/>
                </a:solidFill>
                <a:hlinkClick r:id="rId2"/>
              </a:rPr>
              <a:t>https://oss.cs.fau.de</a:t>
            </a:r>
            <a:endParaRPr>
              <a:solidFill>
                <a:schemeClr val="dk2"/>
              </a:solidFill>
            </a:endParaRPr>
          </a:p>
        </p:txBody>
      </p:sp>
      <p:grpSp>
        <p:nvGrpSpPr>
          <p:cNvPr id="35" name="Google Shape;35;p5"/>
          <p:cNvGrpSpPr/>
          <p:nvPr/>
        </p:nvGrpSpPr>
        <p:grpSpPr>
          <a:xfrm>
            <a:off x="0" y="685800"/>
            <a:ext cx="9144000" cy="91500"/>
            <a:chOff x="0" y="2386584"/>
            <a:chExt cx="9144000" cy="91500"/>
          </a:xfrm>
        </p:grpSpPr>
        <p:sp>
          <p:nvSpPr>
            <p:cNvPr id="36" name="Google Shape;36;p5"/>
            <p:cNvSpPr/>
            <p:nvPr/>
          </p:nvSpPr>
          <p:spPr>
            <a:xfrm>
              <a:off x="0" y="2386584"/>
              <a:ext cx="914400" cy="915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7" name="Google Shape;37;p5"/>
            <p:cNvSpPr/>
            <p:nvPr/>
          </p:nvSpPr>
          <p:spPr>
            <a:xfrm>
              <a:off x="914400" y="2386584"/>
              <a:ext cx="1828800" cy="915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8" name="Google Shape;38;p5"/>
            <p:cNvSpPr/>
            <p:nvPr/>
          </p:nvSpPr>
          <p:spPr>
            <a:xfrm>
              <a:off x="2743200" y="2386584"/>
              <a:ext cx="6400800" cy="91500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39" name="Shape 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Google Shape;40;p6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0" lIns="27430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41" name="Google Shape;41;p6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>
              <a:buNone/>
              <a:defRPr>
                <a:solidFill>
                  <a:schemeClr val="dk1"/>
                </a:solidFill>
              </a:defRPr>
            </a:lvl1pPr>
            <a:lvl2pPr lvl="1">
              <a:buNone/>
              <a:defRPr>
                <a:solidFill>
                  <a:schemeClr val="dk1"/>
                </a:solidFill>
              </a:defRPr>
            </a:lvl2pPr>
            <a:lvl3pPr lvl="2">
              <a:buNone/>
              <a:defRPr>
                <a:solidFill>
                  <a:schemeClr val="dk1"/>
                </a:solidFill>
              </a:defRPr>
            </a:lvl3pPr>
            <a:lvl4pPr lvl="3">
              <a:buNone/>
              <a:defRPr>
                <a:solidFill>
                  <a:schemeClr val="dk1"/>
                </a:solidFill>
              </a:defRPr>
            </a:lvl4pPr>
            <a:lvl5pPr lvl="4">
              <a:buNone/>
              <a:defRPr>
                <a:solidFill>
                  <a:schemeClr val="dk1"/>
                </a:solidFill>
              </a:defRPr>
            </a:lvl5pPr>
            <a:lvl6pPr lvl="5">
              <a:buNone/>
              <a:defRPr>
                <a:solidFill>
                  <a:schemeClr val="dk1"/>
                </a:solidFill>
              </a:defRPr>
            </a:lvl6pPr>
            <a:lvl7pPr lvl="6">
              <a:buNone/>
              <a:defRPr>
                <a:solidFill>
                  <a:schemeClr val="dk1"/>
                </a:solidFill>
              </a:defRPr>
            </a:lvl7pPr>
            <a:lvl8pPr lvl="7">
              <a:buNone/>
              <a:defRPr>
                <a:solidFill>
                  <a:schemeClr val="dk1"/>
                </a:solidFill>
              </a:defRPr>
            </a:lvl8pPr>
            <a:lvl9pPr lvl="8">
              <a:buNone/>
              <a:defRPr>
                <a:solidFill>
                  <a:schemeClr val="dk1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2"/>
              </a:rPr>
              <a:t>https://oss.cs.fau.de</a:t>
            </a:r>
            <a:r>
              <a:rPr b="0" lang="en" sz="900">
                <a:solidFill>
                  <a:schemeClr val="dk2"/>
                </a:solidFill>
              </a:rPr>
              <a:t> </a:t>
            </a:r>
            <a:endParaRPr>
              <a:solidFill>
                <a:schemeClr val="dk2"/>
              </a:solidFill>
            </a:endParaRPr>
          </a:p>
        </p:txBody>
      </p:sp>
      <p:grpSp>
        <p:nvGrpSpPr>
          <p:cNvPr id="42" name="Google Shape;42;p6"/>
          <p:cNvGrpSpPr/>
          <p:nvPr/>
        </p:nvGrpSpPr>
        <p:grpSpPr>
          <a:xfrm>
            <a:off x="0" y="685800"/>
            <a:ext cx="9144000" cy="91500"/>
            <a:chOff x="0" y="2386584"/>
            <a:chExt cx="9144000" cy="91500"/>
          </a:xfrm>
        </p:grpSpPr>
        <p:sp>
          <p:nvSpPr>
            <p:cNvPr id="43" name="Google Shape;43;p6"/>
            <p:cNvSpPr/>
            <p:nvPr/>
          </p:nvSpPr>
          <p:spPr>
            <a:xfrm>
              <a:off x="0" y="2386584"/>
              <a:ext cx="914400" cy="915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4" name="Google Shape;44;p6"/>
            <p:cNvSpPr/>
            <p:nvPr/>
          </p:nvSpPr>
          <p:spPr>
            <a:xfrm>
              <a:off x="914400" y="2386584"/>
              <a:ext cx="1828800" cy="915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5" name="Google Shape;45;p6"/>
            <p:cNvSpPr/>
            <p:nvPr/>
          </p:nvSpPr>
          <p:spPr>
            <a:xfrm>
              <a:off x="2743200" y="2386584"/>
              <a:ext cx="6400800" cy="91500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6" name="Shape 46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hyperlink" Target="https://oss.cs.fau.de" TargetMode="Externa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27430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3429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●"/>
              <a:defRPr sz="1800">
                <a:solidFill>
                  <a:schemeClr val="dk1"/>
                </a:solidFill>
              </a:defRPr>
            </a:lvl1pPr>
            <a:lvl2pPr indent="-3175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○"/>
              <a:defRPr>
                <a:solidFill>
                  <a:schemeClr val="dk1"/>
                </a:solidFill>
              </a:defRPr>
            </a:lvl2pPr>
            <a:lvl3pPr indent="-3175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■"/>
              <a:defRPr>
                <a:solidFill>
                  <a:schemeClr val="dk1"/>
                </a:solidFill>
              </a:defRPr>
            </a:lvl3pPr>
            <a:lvl4pPr indent="-3175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●"/>
              <a:defRPr>
                <a:solidFill>
                  <a:schemeClr val="dk1"/>
                </a:solidFill>
              </a:defRPr>
            </a:lvl4pPr>
            <a:lvl5pPr indent="-3175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○"/>
              <a:defRPr>
                <a:solidFill>
                  <a:schemeClr val="dk1"/>
                </a:solidFill>
              </a:defRPr>
            </a:lvl5pPr>
            <a:lvl6pPr indent="-3175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■"/>
              <a:defRPr>
                <a:solidFill>
                  <a:schemeClr val="dk1"/>
                </a:solidFill>
              </a:defRPr>
            </a:lvl6pPr>
            <a:lvl7pPr indent="-3175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●"/>
              <a:defRPr>
                <a:solidFill>
                  <a:schemeClr val="dk1"/>
                </a:solidFill>
              </a:defRPr>
            </a:lvl7pPr>
            <a:lvl8pPr indent="-3175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○"/>
              <a:defRPr>
                <a:solidFill>
                  <a:schemeClr val="dk1"/>
                </a:solidFill>
              </a:defRPr>
            </a:lvl8pPr>
            <a:lvl9pPr indent="-3175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■"/>
              <a:defRPr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rtl="0" algn="r">
              <a:buNone/>
              <a:defRPr b="1" sz="2400">
                <a:solidFill>
                  <a:schemeClr val="dk2"/>
                </a:solidFill>
              </a:defRPr>
            </a:lvl1pPr>
            <a:lvl2pPr lvl="1" rtl="0" algn="r">
              <a:buNone/>
              <a:defRPr b="1" sz="2400">
                <a:solidFill>
                  <a:schemeClr val="dk2"/>
                </a:solidFill>
              </a:defRPr>
            </a:lvl2pPr>
            <a:lvl3pPr lvl="2" rtl="0" algn="r">
              <a:buNone/>
              <a:defRPr b="1" sz="2400">
                <a:solidFill>
                  <a:schemeClr val="dk2"/>
                </a:solidFill>
              </a:defRPr>
            </a:lvl3pPr>
            <a:lvl4pPr lvl="3" rtl="0" algn="r">
              <a:buNone/>
              <a:defRPr b="1" sz="2400">
                <a:solidFill>
                  <a:schemeClr val="dk2"/>
                </a:solidFill>
              </a:defRPr>
            </a:lvl4pPr>
            <a:lvl5pPr lvl="4" rtl="0" algn="r">
              <a:buNone/>
              <a:defRPr b="1" sz="2400">
                <a:solidFill>
                  <a:schemeClr val="dk2"/>
                </a:solidFill>
              </a:defRPr>
            </a:lvl5pPr>
            <a:lvl6pPr lvl="5" rtl="0" algn="r">
              <a:buNone/>
              <a:defRPr b="1" sz="2400">
                <a:solidFill>
                  <a:schemeClr val="dk2"/>
                </a:solidFill>
              </a:defRPr>
            </a:lvl6pPr>
            <a:lvl7pPr lvl="6" rtl="0" algn="r">
              <a:buNone/>
              <a:defRPr b="1" sz="2400">
                <a:solidFill>
                  <a:schemeClr val="dk2"/>
                </a:solidFill>
              </a:defRPr>
            </a:lvl7pPr>
            <a:lvl8pPr lvl="7" rtl="0" algn="r">
              <a:buNone/>
              <a:defRPr b="1" sz="2400">
                <a:solidFill>
                  <a:schemeClr val="dk2"/>
                </a:solidFill>
              </a:defRPr>
            </a:lvl8pPr>
            <a:lvl9pPr lvl="8" rtl="0" algn="r">
              <a:buNone/>
              <a:defRPr b="1" sz="2400"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1"/>
              </a:rPr>
              <a:t>https://oss.cs.fau.de</a:t>
            </a:r>
            <a:r>
              <a:rPr b="0" lang="en" sz="900"/>
              <a:t> </a:t>
            </a:r>
            <a:endParaRPr b="0" sz="900"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2"/>
    <p:sldLayoutId id="2147483649" r:id="rId3"/>
    <p:sldLayoutId id="2147483650" r:id="rId4"/>
    <p:sldLayoutId id="2147483651" r:id="rId5"/>
    <p:sldLayoutId id="2147483652" r:id="rId6"/>
    <p:sldLayoutId id="2147483653" r:id="rId7"/>
  </p:sldLayoutIdLs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hyperlink" Target="http://creativecommons.org/licenses/by/4.0/" TargetMode="Externa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Relationship Id="rId3" Type="http://schemas.openxmlformats.org/officeDocument/2006/relationships/hyperlink" Target="https://oss.cs.fau.de" TargetMode="Externa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Relationship Id="rId3" Type="http://schemas.openxmlformats.org/officeDocument/2006/relationships/hyperlink" Target="https://oss.cs.fau.de" TargetMode="Externa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hyperlink" Target="https://oss.cs.fau.de" TargetMode="External"/><Relationship Id="rId4" Type="http://schemas.openxmlformats.org/officeDocument/2006/relationships/image" Target="../media/image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hyperlink" Target="https://oss.cs.fau.de" TargetMode="Externa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Relationship Id="rId3" Type="http://schemas.openxmlformats.org/officeDocument/2006/relationships/hyperlink" Target="https://oss.cs.fau.de" TargetMode="Externa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oss.cs.fau.de" TargetMode="External"/><Relationship Id="rId4" Type="http://schemas.openxmlformats.org/officeDocument/2006/relationships/image" Target="../media/image2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Relationship Id="rId3" Type="http://schemas.openxmlformats.org/officeDocument/2006/relationships/hyperlink" Target="https://oss.cs.fau.de" TargetMode="External"/><Relationship Id="rId4" Type="http://schemas.openxmlformats.org/officeDocument/2006/relationships/hyperlink" Target="https://en.wikipedia.org/wiki/Maxwell%27s_equations" TargetMode="External"/><Relationship Id="rId5" Type="http://schemas.openxmlformats.org/officeDocument/2006/relationships/image" Target="../media/image1.png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0.xml"/><Relationship Id="rId3" Type="http://schemas.openxmlformats.org/officeDocument/2006/relationships/hyperlink" Target="https://docs.google.com/document/d/1JPE60ZoqYVrdAve0G_c0qy0g_M7_B_FLhP5qmaQ4mqI/edit?tab=t.0#heading=h.mxlpptrxvs9v" TargetMode="External"/><Relationship Id="rId4" Type="http://schemas.openxmlformats.org/officeDocument/2006/relationships/hyperlink" Target="https://oss.cs.fau.de" TargetMode="External"/><Relationship Id="rId5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Relationship Id="rId3" Type="http://schemas.openxmlformats.org/officeDocument/2006/relationships/hyperlink" Target="https://oss.cs.fau.de" TargetMode="Externa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Relationship Id="rId3" Type="http://schemas.openxmlformats.org/officeDocument/2006/relationships/hyperlink" Target="https://oss.cs.fau.de" TargetMode="External"/><Relationship Id="rId4" Type="http://schemas.openxmlformats.org/officeDocument/2006/relationships/image" Target="../media/image8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Relationship Id="rId3" Type="http://schemas.openxmlformats.org/officeDocument/2006/relationships/hyperlink" Target="https://oss.cs.fau.de" TargetMode="External"/><Relationship Id="rId4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Relationship Id="rId3" Type="http://schemas.openxmlformats.org/officeDocument/2006/relationships/hyperlink" Target="https://oss.cs.fau.de" TargetMode="External"/><Relationship Id="rId4" Type="http://schemas.openxmlformats.org/officeDocument/2006/relationships/hyperlink" Target="https://docs.google.com/document/d/1JPE60ZoqYVrdAve0G_c0qy0g_M7_B_FLhP5qmaQ4mqI/edit?tab=t.0#heading=h.mxlpptrxvs9v" TargetMode="Externa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Relationship Id="rId3" Type="http://schemas.openxmlformats.org/officeDocument/2006/relationships/hyperlink" Target="https://oss.cs.fau.de" TargetMode="Externa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7.xml"/><Relationship Id="rId3" Type="http://schemas.openxmlformats.org/officeDocument/2006/relationships/hyperlink" Target="https://oss.cs.fau.de" TargetMode="External"/><Relationship Id="rId4" Type="http://schemas.openxmlformats.org/officeDocument/2006/relationships/image" Target="../media/image6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8.xml"/><Relationship Id="rId3" Type="http://schemas.openxmlformats.org/officeDocument/2006/relationships/hyperlink" Target="https://oss.cs.fau.de" TargetMode="Externa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Relationship Id="rId3" Type="http://schemas.openxmlformats.org/officeDocument/2006/relationships/hyperlink" Target="https://oss.cs.fau.de" TargetMode="Externa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hyperlink" Target="https://oss.cs.fau.de" TargetMode="Externa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Relationship Id="rId3" Type="http://schemas.openxmlformats.org/officeDocument/2006/relationships/hyperlink" Target="https://oss.cs.fau.de" TargetMode="Externa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oss.cs.fau.de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3.xml"/><Relationship Id="rId3" Type="http://schemas.openxmlformats.org/officeDocument/2006/relationships/hyperlink" Target="https://oss.cs.fau.de" TargetMode="Externa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4.xml"/><Relationship Id="rId3" Type="http://schemas.openxmlformats.org/officeDocument/2006/relationships/hyperlink" Target="https://oss.cs.fau.de" TargetMode="External"/><Relationship Id="rId4" Type="http://schemas.openxmlformats.org/officeDocument/2006/relationships/image" Target="../media/image7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Relationship Id="rId3" Type="http://schemas.openxmlformats.org/officeDocument/2006/relationships/hyperlink" Target="https://oss.cs.fau.de" TargetMode="Externa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hyperlink" Target="https://oss.cs.fau.de" TargetMode="External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hyperlink" Target="https://oss.cs.fau.de" TargetMode="External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9.xml"/><Relationship Id="rId3" Type="http://schemas.openxmlformats.org/officeDocument/2006/relationships/hyperlink" Target="https://oss.cs.fau.de" TargetMode="Externa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Relationship Id="rId3" Type="http://schemas.openxmlformats.org/officeDocument/2006/relationships/hyperlink" Target="https://oss.cs.fau.de" TargetMode="Externa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2.xml"/><Relationship Id="rId3" Type="http://schemas.openxmlformats.org/officeDocument/2006/relationships/hyperlink" Target="https://oss.cs.fau.de" TargetMode="Externa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3.xml"/><Relationship Id="rId3" Type="http://schemas.openxmlformats.org/officeDocument/2006/relationships/hyperlink" Target="https://oss.cs.fau.de" TargetMode="Externa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4.xml"/><Relationship Id="rId3" Type="http://schemas.openxmlformats.org/officeDocument/2006/relationships/hyperlink" Target="https://oss.cs.fau.de" TargetMode="Externa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5.xml"/><Relationship Id="rId3" Type="http://schemas.openxmlformats.org/officeDocument/2006/relationships/hyperlink" Target="https://oss.cs.fau.de" TargetMode="Externa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37.xml"/><Relationship Id="rId3" Type="http://schemas.openxmlformats.org/officeDocument/2006/relationships/hyperlink" Target="https://oss.cs.fau.de" TargetMode="External"/><Relationship Id="rId4" Type="http://schemas.openxmlformats.org/officeDocument/2006/relationships/hyperlink" Target="https://www.nobelprize.org/" TargetMode="External"/><Relationship Id="rId5" Type="http://schemas.openxmlformats.org/officeDocument/2006/relationships/image" Target="../media/image10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38.xml"/><Relationship Id="rId3" Type="http://schemas.openxmlformats.org/officeDocument/2006/relationships/hyperlink" Target="https://oss.cs.fau.de" TargetMode="External"/><Relationship Id="rId4" Type="http://schemas.openxmlformats.org/officeDocument/2006/relationships/hyperlink" Target="https://amturing.acm.org/" TargetMode="External"/><Relationship Id="rId5" Type="http://schemas.openxmlformats.org/officeDocument/2006/relationships/image" Target="../media/image11.png"/></Relationships>
</file>

<file path=ppt/slides/_rels/slide39.xml.rels><?xml version="1.0" encoding="UTF-8" standalone="yes"?><Relationships xmlns="http://schemas.openxmlformats.org/package/2006/relationships"><Relationship Id="rId20" Type="http://schemas.openxmlformats.org/officeDocument/2006/relationships/image" Target="../media/image9.png"/><Relationship Id="rId11" Type="http://schemas.openxmlformats.org/officeDocument/2006/relationships/hyperlink" Target="http://kneubuehl.com/wiki/doku.php?id=start" TargetMode="External"/><Relationship Id="rId10" Type="http://schemas.openxmlformats.org/officeDocument/2006/relationships/hyperlink" Target="http://www.virtopsy.com/index.php/team/current-members/1-michael-j-thali" TargetMode="External"/><Relationship Id="rId13" Type="http://schemas.openxmlformats.org/officeDocument/2006/relationships/hyperlink" Target="http://trmri.org/" TargetMode="External"/><Relationship Id="rId12" Type="http://schemas.openxmlformats.org/officeDocument/2006/relationships/hyperlink" Target="https://dx.doi.org/10.1016/j.jflm.2008.07.013" TargetMode="External"/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9.xml"/><Relationship Id="rId3" Type="http://schemas.openxmlformats.org/officeDocument/2006/relationships/hyperlink" Target="http://www.ncl.ac.uk/biomedicine/contact/profile/catherine.douglas" TargetMode="External"/><Relationship Id="rId4" Type="http://schemas.openxmlformats.org/officeDocument/2006/relationships/hyperlink" Target="http://www.ncl.ac.uk/afrd/staff/profile/peter.rowlinson" TargetMode="External"/><Relationship Id="rId9" Type="http://schemas.openxmlformats.org/officeDocument/2006/relationships/hyperlink" Target="http://remed.charite.de/en/institut/forensic_pathology/forensic_pathology_team/" TargetMode="External"/><Relationship Id="rId15" Type="http://schemas.openxmlformats.org/officeDocument/2006/relationships/hyperlink" Target="https://www.ebbra.com/" TargetMode="External"/><Relationship Id="rId14" Type="http://schemas.openxmlformats.org/officeDocument/2006/relationships/hyperlink" Target="https://www.ebbra.com/" TargetMode="External"/><Relationship Id="rId17" Type="http://schemas.openxmlformats.org/officeDocument/2006/relationships/hyperlink" Target="https://patents.google.com/patent/US7255627B2/en?oq=7255627" TargetMode="External"/><Relationship Id="rId16" Type="http://schemas.openxmlformats.org/officeDocument/2006/relationships/hyperlink" Target="https://www.ebbra.com/" TargetMode="External"/><Relationship Id="rId5" Type="http://schemas.openxmlformats.org/officeDocument/2006/relationships/hyperlink" Target="http://www.ingentaconnect.com/content/berg/anthroz/2009/00000022/00000001/art00006" TargetMode="External"/><Relationship Id="rId19" Type="http://schemas.openxmlformats.org/officeDocument/2006/relationships/hyperlink" Target="https://oss.cs.fau.de" TargetMode="External"/><Relationship Id="rId6" Type="http://schemas.openxmlformats.org/officeDocument/2006/relationships/hyperlink" Target="http://www.ncl.ac.uk/afrd/staff/profile/catherine.douglas" TargetMode="External"/><Relationship Id="rId18" Type="http://schemas.openxmlformats.org/officeDocument/2006/relationships/hyperlink" Target="https://improbable.com/" TargetMode="External"/><Relationship Id="rId7" Type="http://schemas.openxmlformats.org/officeDocument/2006/relationships/hyperlink" Target="http://www.ncl.ac.uk/afrd/staff/profile/peter.rowlinson" TargetMode="External"/><Relationship Id="rId8" Type="http://schemas.openxmlformats.org/officeDocument/2006/relationships/hyperlink" Target="http://www.virtopsy.com/index.php/team/current-members/3-steffen-ross" TargetMode="External"/></Relationships>
</file>

<file path=ppt/slides/_rels/slide4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0.xml"/></Relationships>
</file>

<file path=ppt/slides/_rels/slide4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1.xml"/><Relationship Id="rId3" Type="http://schemas.openxmlformats.org/officeDocument/2006/relationships/hyperlink" Target="https://oss.cs.fau.de" TargetMode="External"/></Relationships>
</file>

<file path=ppt/slides/_rels/slide4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2.xml"/><Relationship Id="rId3" Type="http://schemas.openxmlformats.org/officeDocument/2006/relationships/hyperlink" Target="https://oss.cs.fau.de" TargetMode="External"/></Relationships>
</file>

<file path=ppt/slides/_rels/slide4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3.xml"/><Relationship Id="rId3" Type="http://schemas.openxmlformats.org/officeDocument/2006/relationships/hyperlink" Target="https://oss.cs.fau.de" TargetMode="External"/><Relationship Id="rId4" Type="http://schemas.openxmlformats.org/officeDocument/2006/relationships/hyperlink" Target="https://docs.google.com/document/d/1JPE60ZoqYVrdAve0G_c0qy0g_M7_B_FLhP5qmaQ4mqI/edit?tab=t.0#heading=h.mxlpptrxvs9v" TargetMode="External"/></Relationships>
</file>

<file path=ppt/slides/_rels/slide4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4.xml"/><Relationship Id="rId3" Type="http://schemas.openxmlformats.org/officeDocument/2006/relationships/hyperlink" Target="https://oss.cs.fau.de" TargetMode="External"/></Relationships>
</file>

<file path=ppt/slides/_rels/slide4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5.xml"/><Relationship Id="rId3" Type="http://schemas.openxmlformats.org/officeDocument/2006/relationships/hyperlink" Target="https://oss.cs.fau.de" TargetMode="External"/><Relationship Id="rId4" Type="http://schemas.openxmlformats.org/officeDocument/2006/relationships/hyperlink" Target="https://docs.google.com/document/d/1JPE60ZoqYVrdAve0G_c0qy0g_M7_B_FLhP5qmaQ4mqI/edit?tab=t.0#heading=h.mxlpptrxvs9v" TargetMode="External"/></Relationships>
</file>

<file path=ppt/slides/_rels/slide4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6.xml"/><Relationship Id="rId3" Type="http://schemas.openxmlformats.org/officeDocument/2006/relationships/hyperlink" Target="https://oss.cs.fau.de" TargetMode="External"/><Relationship Id="rId4" Type="http://schemas.openxmlformats.org/officeDocument/2006/relationships/hyperlink" Target="https://docs.google.com/document/d/1JPE60ZoqYVrdAve0G_c0qy0g_M7_B_FLhP5qmaQ4mqI/edit?tab=t.0#heading=h.mxlpptrxvs9v" TargetMode="External"/></Relationships>
</file>

<file path=ppt/slides/_rels/slide4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7.xml"/><Relationship Id="rId3" Type="http://schemas.openxmlformats.org/officeDocument/2006/relationships/hyperlink" Target="https://oss.cs.fau.de" TargetMode="External"/></Relationships>
</file>

<file path=ppt/slides/_rels/slide4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8.xml"/><Relationship Id="rId3" Type="http://schemas.openxmlformats.org/officeDocument/2006/relationships/hyperlink" Target="mailto:dirk.riehle@fau.de" TargetMode="External"/><Relationship Id="rId4" Type="http://schemas.openxmlformats.org/officeDocument/2006/relationships/hyperlink" Target="https://oss.cs.fau.de" TargetMode="External"/><Relationship Id="rId5" Type="http://schemas.openxmlformats.org/officeDocument/2006/relationships/hyperlink" Target="mailto:dirk@riehle.org" TargetMode="External"/><Relationship Id="rId6" Type="http://schemas.openxmlformats.org/officeDocument/2006/relationships/hyperlink" Target="https://dirkriehle.com" TargetMode="External"/><Relationship Id="rId7" Type="http://schemas.openxmlformats.org/officeDocument/2006/relationships/hyperlink" Target="https://twitter.com/dirkriehle" TargetMode="External"/></Relationships>
</file>

<file path=ppt/slides/_rels/slide4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9.xml"/><Relationship Id="rId3" Type="http://schemas.openxmlformats.org/officeDocument/2006/relationships/hyperlink" Target="https://oss.cs.fau.de" TargetMode="External"/><Relationship Id="rId4" Type="http://schemas.openxmlformats.org/officeDocument/2006/relationships/hyperlink" Target="http://creativecommons.org/licenses/by/4.0/" TargetMode="Externa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8"/>
          <p:cNvSpPr txBox="1"/>
          <p:nvPr>
            <p:ph type="ctrTitle"/>
          </p:nvPr>
        </p:nvSpPr>
        <p:spPr>
          <a:xfrm>
            <a:off x="0" y="0"/>
            <a:ext cx="9144000" cy="2388900"/>
          </a:xfrm>
          <a:prstGeom prst="rect">
            <a:avLst/>
          </a:prstGeom>
        </p:spPr>
        <p:txBody>
          <a:bodyPr anchorCtr="0" anchor="b" bIns="274300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What is Science?</a:t>
            </a:r>
            <a:endParaRPr/>
          </a:p>
        </p:txBody>
      </p:sp>
      <p:sp>
        <p:nvSpPr>
          <p:cNvPr id="52" name="Google Shape;52;p8"/>
          <p:cNvSpPr txBox="1"/>
          <p:nvPr>
            <p:ph idx="1" type="subTitle"/>
          </p:nvPr>
        </p:nvSpPr>
        <p:spPr>
          <a:xfrm>
            <a:off x="0" y="2569475"/>
            <a:ext cx="9144000" cy="2574000"/>
          </a:xfrm>
          <a:prstGeom prst="rect">
            <a:avLst/>
          </a:prstGeom>
        </p:spPr>
        <p:txBody>
          <a:bodyPr anchorCtr="0" anchor="t" bIns="91425" lIns="91425" spcFirstLastPara="1" rIns="91425" wrap="square" tIns="27430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Dirk Riehle, FAU Erlangen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/>
              <a:t>NYT B01</a:t>
            </a:r>
            <a:endParaRPr b="1"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/>
              <a:t>Licensed under </a:t>
            </a:r>
            <a:r>
              <a:rPr lang="en" sz="1800" u="sng">
                <a:solidFill>
                  <a:schemeClr val="hlink"/>
                </a:solidFill>
                <a:hlinkClick r:id="rId3"/>
              </a:rPr>
              <a:t>CC BY 4.0 International</a:t>
            </a:r>
            <a:endParaRPr sz="180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6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Google Shape;57;p9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Agenda</a:t>
            </a:r>
            <a:endParaRPr/>
          </a:p>
        </p:txBody>
      </p:sp>
      <p:sp>
        <p:nvSpPr>
          <p:cNvPr id="58" name="Google Shape;58;p9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AutoNum type="arabicPeriod"/>
            </a:pPr>
            <a:r>
              <a:rPr lang="en"/>
              <a:t>What is science?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AutoNum type="arabicPeriod"/>
            </a:pPr>
            <a:r>
              <a:rPr lang="en"/>
              <a:t>Theory building and validation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AutoNum type="arabicPeriod"/>
            </a:pPr>
            <a:r>
              <a:rPr lang="en"/>
              <a:t>Science as a social system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AutoNum type="arabicPeriod"/>
            </a:pPr>
            <a:r>
              <a:rPr lang="en"/>
              <a:t>Programs and projects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AutoNum type="arabicPeriod"/>
            </a:pPr>
            <a:r>
              <a:rPr lang="en"/>
              <a:t>Science and society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AutoNum type="arabicPeriod"/>
            </a:pPr>
            <a:r>
              <a:rPr lang="en"/>
              <a:t>Research ethics</a:t>
            </a:r>
            <a:endParaRPr/>
          </a:p>
        </p:txBody>
      </p:sp>
      <p:sp>
        <p:nvSpPr>
          <p:cNvPr id="59" name="Google Shape;59;p9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https://oss.cs.fau.de</a:t>
            </a:r>
            <a:r>
              <a:rPr b="0" lang="en" sz="900">
                <a:solidFill>
                  <a:schemeClr val="dk2"/>
                </a:solidFill>
              </a:rPr>
              <a:t> </a:t>
            </a:r>
            <a:endParaRPr b="0" sz="900"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10"/>
          <p:cNvSpPr txBox="1"/>
          <p:nvPr>
            <p:ph type="title"/>
          </p:nvPr>
        </p:nvSpPr>
        <p:spPr>
          <a:xfrm>
            <a:off x="0" y="-7"/>
            <a:ext cx="9144000" cy="2386500"/>
          </a:xfrm>
          <a:prstGeom prst="rect">
            <a:avLst/>
          </a:prstGeom>
        </p:spPr>
        <p:txBody>
          <a:bodyPr anchorCtr="0" anchor="b" bIns="274300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1. What is Science?</a:t>
            </a:r>
            <a:endParaRPr sz="32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11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Definition of Science (Working Definition, Recap)</a:t>
            </a:r>
            <a:endParaRPr/>
          </a:p>
        </p:txBody>
      </p:sp>
      <p:sp>
        <p:nvSpPr>
          <p:cNvPr id="70" name="Google Shape;70;p11"/>
          <p:cNvSpPr txBox="1"/>
          <p:nvPr>
            <p:ph idx="1" type="body"/>
          </p:nvPr>
        </p:nvSpPr>
        <p:spPr>
          <a:xfrm>
            <a:off x="914400" y="914400"/>
            <a:ext cx="7315200" cy="36576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1200"/>
              </a:spcAft>
              <a:buNone/>
            </a:pPr>
            <a:r>
              <a:rPr b="1" lang="en" sz="3200">
                <a:solidFill>
                  <a:schemeClr val="accent5"/>
                </a:solidFill>
              </a:rPr>
              <a:t>Science</a:t>
            </a:r>
            <a:r>
              <a:rPr lang="en" sz="3200"/>
              <a:t> is the </a:t>
            </a:r>
            <a:r>
              <a:rPr b="1" lang="en" sz="3200"/>
              <a:t>process of acquiring knowledge</a:t>
            </a:r>
            <a:r>
              <a:rPr lang="en" sz="3200"/>
              <a:t> for </a:t>
            </a:r>
            <a:r>
              <a:rPr b="1" lang="en" sz="3200"/>
              <a:t>correct prediction and reliable outcome.</a:t>
            </a:r>
            <a:r>
              <a:rPr lang="en" sz="3200"/>
              <a:t> [DR]</a:t>
            </a:r>
            <a:endParaRPr sz="3200"/>
          </a:p>
        </p:txBody>
      </p:sp>
      <p:sp>
        <p:nvSpPr>
          <p:cNvPr id="71" name="Google Shape;71;p11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https://oss.cs.fau.de</a:t>
            </a:r>
            <a:r>
              <a:rPr b="0" lang="en" sz="900">
                <a:solidFill>
                  <a:schemeClr val="dk2"/>
                </a:solidFill>
              </a:rPr>
              <a:t> </a:t>
            </a:r>
            <a:endParaRPr b="0" sz="900"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5" name="Shape 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Google Shape;76;p12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The Logic and Process of Science</a:t>
            </a:r>
            <a:endParaRPr/>
          </a:p>
        </p:txBody>
      </p:sp>
      <p:sp>
        <p:nvSpPr>
          <p:cNvPr id="77" name="Google Shape;77;p12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https://oss.cs.fau.de</a:t>
            </a:r>
            <a:r>
              <a:rPr b="0" lang="en" sz="900">
                <a:solidFill>
                  <a:schemeClr val="dk2"/>
                </a:solidFill>
              </a:rPr>
              <a:t> </a:t>
            </a:r>
            <a:endParaRPr b="0" sz="900">
              <a:solidFill>
                <a:schemeClr val="dk2"/>
              </a:solidFill>
            </a:endParaRPr>
          </a:p>
        </p:txBody>
      </p:sp>
      <p:pic>
        <p:nvPicPr>
          <p:cNvPr id="78" name="Google Shape;78;p12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731520"/>
            <a:ext cx="9144001" cy="39319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2" name="Shape 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" name="Google Shape;83;p13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Epistemological</a:t>
            </a:r>
            <a:r>
              <a:rPr lang="en"/>
              <a:t> Stances</a:t>
            </a:r>
            <a:endParaRPr/>
          </a:p>
        </p:txBody>
      </p:sp>
      <p:sp>
        <p:nvSpPr>
          <p:cNvPr id="84" name="Google Shape;84;p13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/>
              <a:t>Objectivism </a:t>
            </a:r>
            <a:r>
              <a:rPr lang="en"/>
              <a:t>(truth is independent of the observer and can be known)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AutoNum type="arabicPeriod"/>
            </a:pPr>
            <a:r>
              <a:rPr b="1" lang="en">
                <a:solidFill>
                  <a:schemeClr val="accent5"/>
                </a:solidFill>
              </a:rPr>
              <a:t>Positivism / empiricism</a:t>
            </a:r>
            <a:r>
              <a:rPr b="1" lang="en"/>
              <a:t> </a:t>
            </a:r>
            <a:r>
              <a:rPr lang="en"/>
              <a:t>(truth can be determined and </a:t>
            </a:r>
            <a:r>
              <a:rPr lang="en"/>
              <a:t>verified</a:t>
            </a:r>
            <a:r>
              <a:rPr lang="en"/>
              <a:t> through observation)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AutoNum type="arabicPeriod"/>
            </a:pPr>
            <a:r>
              <a:rPr b="1" lang="en"/>
              <a:t>Rationalism</a:t>
            </a:r>
            <a:r>
              <a:rPr lang="en"/>
              <a:t> (some truths don’t follow from observation but rather logical thought)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rPr b="1" lang="en"/>
              <a:t>Constructivism</a:t>
            </a:r>
            <a:r>
              <a:rPr lang="en"/>
              <a:t> (truth depends on the observer and is socially negotiated)</a:t>
            </a:r>
            <a:endParaRPr/>
          </a:p>
        </p:txBody>
      </p:sp>
      <p:sp>
        <p:nvSpPr>
          <p:cNvPr id="85" name="Google Shape;85;p13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https://oss.cs.fau.de</a:t>
            </a:r>
            <a:r>
              <a:rPr b="0" lang="en" sz="900">
                <a:solidFill>
                  <a:schemeClr val="dk2"/>
                </a:solidFill>
              </a:rPr>
              <a:t> </a:t>
            </a:r>
            <a:endParaRPr b="0" sz="900"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9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Google Shape;90;p14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 scientific </a:t>
            </a:r>
            <a:r>
              <a:rPr b="1" lang="en"/>
              <a:t>theory</a:t>
            </a:r>
            <a:r>
              <a:rPr lang="en"/>
              <a:t> is a model / framework / equation / …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That can be used to create </a:t>
            </a:r>
            <a:r>
              <a:rPr b="1" lang="en"/>
              <a:t>hypotheses</a:t>
            </a:r>
            <a:endParaRPr b="1"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A scientific </a:t>
            </a:r>
            <a:r>
              <a:rPr b="1" lang="en"/>
              <a:t>hypothesis</a:t>
            </a:r>
            <a:r>
              <a:rPr lang="en"/>
              <a:t> is a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Testable true/false statement about </a:t>
            </a:r>
            <a:r>
              <a:rPr b="1" lang="en"/>
              <a:t>reality</a:t>
            </a:r>
            <a:endParaRPr b="1"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"/>
              <a:t>In the smallest case, a (generalized) hypothesis is a theory</a:t>
            </a:r>
            <a:endParaRPr/>
          </a:p>
        </p:txBody>
      </p:sp>
      <p:sp>
        <p:nvSpPr>
          <p:cNvPr id="91" name="Google Shape;91;p14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Theory and Reality</a:t>
            </a:r>
            <a:endParaRPr/>
          </a:p>
        </p:txBody>
      </p:sp>
      <p:sp>
        <p:nvSpPr>
          <p:cNvPr id="92" name="Google Shape;92;p14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https://oss.cs.fau.de</a:t>
            </a:r>
            <a:r>
              <a:rPr b="0" lang="en" sz="900">
                <a:solidFill>
                  <a:schemeClr val="dk2"/>
                </a:solidFill>
              </a:rPr>
              <a:t> </a:t>
            </a:r>
            <a:endParaRPr b="0" sz="900"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6" name="Shape 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Google Shape;97;p15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The Minimal Theory</a:t>
            </a:r>
            <a:endParaRPr/>
          </a:p>
        </p:txBody>
      </p:sp>
      <p:sp>
        <p:nvSpPr>
          <p:cNvPr id="98" name="Google Shape;98;p15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https://oss.cs.fau.de</a:t>
            </a:r>
            <a:r>
              <a:rPr b="0" lang="en" sz="900">
                <a:solidFill>
                  <a:schemeClr val="dk2"/>
                </a:solidFill>
              </a:rPr>
              <a:t> </a:t>
            </a:r>
            <a:endParaRPr b="0" sz="900">
              <a:solidFill>
                <a:schemeClr val="dk2"/>
              </a:solidFill>
            </a:endParaRPr>
          </a:p>
        </p:txBody>
      </p:sp>
      <p:pic>
        <p:nvPicPr>
          <p:cNvPr id="99" name="Google Shape;99;p15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731520"/>
            <a:ext cx="9144001" cy="392334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16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Maxwell’s Equations of (Classic) Electromagnetism</a:t>
            </a:r>
            <a:r>
              <a:rPr lang="en"/>
              <a:t> [1]</a:t>
            </a:r>
            <a:endParaRPr/>
          </a:p>
        </p:txBody>
      </p:sp>
      <p:sp>
        <p:nvSpPr>
          <p:cNvPr id="105" name="Google Shape;105;p16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https://oss.cs.fau.de</a:t>
            </a:r>
            <a:r>
              <a:rPr b="0" lang="en" sz="900">
                <a:solidFill>
                  <a:schemeClr val="dk2"/>
                </a:solidFill>
              </a:rPr>
              <a:t> </a:t>
            </a:r>
            <a:endParaRPr b="0" sz="900">
              <a:solidFill>
                <a:schemeClr val="dk2"/>
              </a:solidFill>
            </a:endParaRPr>
          </a:p>
        </p:txBody>
      </p:sp>
      <p:sp>
        <p:nvSpPr>
          <p:cNvPr id="106" name="Google Shape;106;p16"/>
          <p:cNvSpPr txBox="1"/>
          <p:nvPr/>
        </p:nvSpPr>
        <p:spPr>
          <a:xfrm>
            <a:off x="0" y="4233672"/>
            <a:ext cx="7315200" cy="9144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[1] See </a:t>
            </a:r>
            <a:r>
              <a:rPr lang="en" u="sng">
                <a:solidFill>
                  <a:schemeClr val="hlink"/>
                </a:solidFill>
                <a:hlinkClick r:id="rId4"/>
              </a:rPr>
              <a:t>https://en.wikipedia.org/wiki/Maxwell%27s_equations</a:t>
            </a:r>
            <a:r>
              <a:rPr lang="en"/>
              <a:t> </a:t>
            </a:r>
            <a:endParaRPr/>
          </a:p>
        </p:txBody>
      </p:sp>
      <p:pic>
        <p:nvPicPr>
          <p:cNvPr id="107" name="Google Shape;107;p16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274320" y="914400"/>
            <a:ext cx="8595359" cy="266456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17"/>
          <p:cNvSpPr txBox="1"/>
          <p:nvPr>
            <p:ph idx="1" type="body"/>
          </p:nvPr>
        </p:nvSpPr>
        <p:spPr>
          <a:xfrm>
            <a:off x="274320" y="914400"/>
            <a:ext cx="4114800" cy="4114800"/>
          </a:xfrm>
          <a:prstGeom prst="rect">
            <a:avLst/>
          </a:prstGeom>
        </p:spPr>
        <p:txBody>
          <a:bodyPr anchorCtr="0" anchor="t" bIns="91425" lIns="0" spcFirstLastPara="1" rIns="91425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H1: Social motives </a:t>
            </a:r>
            <a:r>
              <a:rPr lang="en"/>
              <a:t>→</a:t>
            </a:r>
            <a:r>
              <a:rPr lang="en"/>
              <a:t> SVC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H2: Hedonistic motives </a:t>
            </a:r>
            <a:r>
              <a:rPr lang="en"/>
              <a:t>→</a:t>
            </a:r>
            <a:r>
              <a:rPr lang="en"/>
              <a:t> SVC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H3: Moral motives </a:t>
            </a:r>
            <a:r>
              <a:rPr lang="en"/>
              <a:t>→ SVC</a:t>
            </a:r>
            <a:endParaRPr/>
          </a:p>
        </p:txBody>
      </p:sp>
      <p:sp>
        <p:nvSpPr>
          <p:cNvPr id="113" name="Google Shape;113;p17"/>
          <p:cNvSpPr txBox="1"/>
          <p:nvPr/>
        </p:nvSpPr>
        <p:spPr>
          <a:xfrm>
            <a:off x="0" y="4233672"/>
            <a:ext cx="7315200" cy="9144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[1] See </a:t>
            </a:r>
            <a:r>
              <a:rPr lang="en" u="sng">
                <a:solidFill>
                  <a:schemeClr val="hlink"/>
                </a:solidFill>
                <a:hlinkClick r:id="rId3"/>
              </a:rPr>
              <a:t>Trinkenreich et al. (2023)</a:t>
            </a:r>
            <a:r>
              <a:rPr lang="en"/>
              <a:t>: Do I belong?</a:t>
            </a:r>
            <a:endParaRPr/>
          </a:p>
        </p:txBody>
      </p:sp>
      <p:sp>
        <p:nvSpPr>
          <p:cNvPr id="114" name="Google Shape;114;p17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0" lIns="27430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Structural Equation Model of Sense of Virtual Community [1]</a:t>
            </a:r>
            <a:endParaRPr/>
          </a:p>
        </p:txBody>
      </p:sp>
      <p:sp>
        <p:nvSpPr>
          <p:cNvPr id="115" name="Google Shape;115;p17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0" lang="en" sz="900" u="sng">
                <a:solidFill>
                  <a:schemeClr val="hlink"/>
                </a:solidFill>
                <a:hlinkClick r:id="rId4"/>
              </a:rPr>
              <a:t>https://oss.cs.fau.de</a:t>
            </a:r>
            <a:endParaRPr>
              <a:solidFill>
                <a:schemeClr val="dk2"/>
              </a:solidFill>
            </a:endParaRPr>
          </a:p>
        </p:txBody>
      </p:sp>
      <p:pic>
        <p:nvPicPr>
          <p:cNvPr id="116" name="Google Shape;116;p17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914395" y="1824950"/>
            <a:ext cx="7315199" cy="2459153"/>
          </a:xfrm>
          <a:prstGeom prst="rect">
            <a:avLst/>
          </a:prstGeom>
          <a:noFill/>
          <a:ln>
            <a:noFill/>
          </a:ln>
        </p:spPr>
      </p:pic>
      <p:sp>
        <p:nvSpPr>
          <p:cNvPr id="117" name="Google Shape;117;p17"/>
          <p:cNvSpPr txBox="1"/>
          <p:nvPr>
            <p:ph idx="2" type="body"/>
          </p:nvPr>
        </p:nvSpPr>
        <p:spPr>
          <a:xfrm>
            <a:off x="4005426" y="914400"/>
            <a:ext cx="49557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H4abc: Power distance x (</a:t>
            </a:r>
            <a:r>
              <a:rPr lang="en"/>
              <a:t>H1, H2, H3 → SVC)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H5abc: Is paid for work x (H1, H2, H3 → SVC)</a:t>
            </a:r>
            <a:endParaRPr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1" name="Shape 1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" name="Google Shape;122;p18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Classification of Sciences (by Subject)</a:t>
            </a:r>
            <a:endParaRPr/>
          </a:p>
        </p:txBody>
      </p:sp>
      <p:sp>
        <p:nvSpPr>
          <p:cNvPr id="123" name="Google Shape;123;p18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/>
              <a:t>Formal Sciences</a:t>
            </a:r>
            <a:endParaRPr b="1"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Mathematics, …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b="1" lang="en"/>
              <a:t>Natural Sciences</a:t>
            </a:r>
            <a:endParaRPr b="1"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Physics, chemistry, biology, …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b="1" lang="en"/>
              <a:t>Social Sciences</a:t>
            </a:r>
            <a:endParaRPr b="1"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Psychology, sociology, political science, …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b="1" lang="en"/>
              <a:t>Applied Sciences</a:t>
            </a:r>
            <a:endParaRPr b="1"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Mechanical engineering, computer science, information systems, ...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18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https://oss.cs.fau.de</a:t>
            </a:r>
            <a:r>
              <a:rPr b="0" lang="en" sz="900">
                <a:solidFill>
                  <a:schemeClr val="dk2"/>
                </a:solidFill>
              </a:rPr>
              <a:t> </a:t>
            </a:r>
            <a:endParaRPr b="0" sz="900">
              <a:solidFill>
                <a:schemeClr val="dk2"/>
              </a:solidFill>
            </a:endParaRPr>
          </a:p>
        </p:txBody>
      </p:sp>
      <p:cxnSp>
        <p:nvCxnSpPr>
          <p:cNvPr id="125" name="Google Shape;125;p18"/>
          <p:cNvCxnSpPr/>
          <p:nvPr/>
        </p:nvCxnSpPr>
        <p:spPr>
          <a:xfrm>
            <a:off x="274320" y="3621024"/>
            <a:ext cx="8595360" cy="0"/>
          </a:xfrm>
          <a:prstGeom prst="straightConnector1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126" name="Google Shape;126;p18"/>
          <p:cNvSpPr txBox="1"/>
          <p:nvPr/>
        </p:nvSpPr>
        <p:spPr>
          <a:xfrm>
            <a:off x="4572000" y="3163825"/>
            <a:ext cx="3886500" cy="914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More likely to take an analytical approach</a:t>
            </a:r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More likely to take a design science approach</a:t>
            </a:r>
            <a:endParaRPr/>
          </a:p>
        </p:txBody>
      </p:sp>
      <p:cxnSp>
        <p:nvCxnSpPr>
          <p:cNvPr id="127" name="Google Shape;127;p18"/>
          <p:cNvCxnSpPr/>
          <p:nvPr/>
        </p:nvCxnSpPr>
        <p:spPr>
          <a:xfrm>
            <a:off x="274320" y="1737355"/>
            <a:ext cx="8595600" cy="0"/>
          </a:xfrm>
          <a:prstGeom prst="straightConnector1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128" name="Google Shape;128;p18"/>
          <p:cNvSpPr txBox="1"/>
          <p:nvPr/>
        </p:nvSpPr>
        <p:spPr>
          <a:xfrm>
            <a:off x="4572000" y="1280150"/>
            <a:ext cx="3886500" cy="914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Takes a formal approach</a:t>
            </a:r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Takes an empirical approach</a:t>
            </a:r>
            <a:endParaRPr/>
          </a:p>
        </p:txBody>
      </p:sp>
      <p:sp>
        <p:nvSpPr>
          <p:cNvPr id="129" name="Google Shape;129;p18"/>
          <p:cNvSpPr/>
          <p:nvPr/>
        </p:nvSpPr>
        <p:spPr>
          <a:xfrm>
            <a:off x="8562675" y="1371650"/>
            <a:ext cx="274200" cy="731400"/>
          </a:xfrm>
          <a:prstGeom prst="upDownArrow">
            <a:avLst>
              <a:gd fmla="val 50000" name="adj1"/>
              <a:gd fmla="val 50000" name="adj2"/>
            </a:avLst>
          </a:prstGeom>
          <a:solidFill>
            <a:schemeClr val="accent5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0" name="Google Shape;130;p18"/>
          <p:cNvSpPr/>
          <p:nvPr/>
        </p:nvSpPr>
        <p:spPr>
          <a:xfrm>
            <a:off x="8562675" y="3255325"/>
            <a:ext cx="274200" cy="731400"/>
          </a:xfrm>
          <a:prstGeom prst="upDownArrow">
            <a:avLst>
              <a:gd fmla="val 50000" name="adj1"/>
              <a:gd fmla="val 50000" name="adj2"/>
            </a:avLst>
          </a:prstGeom>
          <a:solidFill>
            <a:schemeClr val="accent5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" name="Google Shape;135;p19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Solving a Problem vs. Building a Theory</a:t>
            </a:r>
            <a:endParaRPr/>
          </a:p>
        </p:txBody>
      </p:sp>
      <p:sp>
        <p:nvSpPr>
          <p:cNvPr id="136" name="Google Shape;136;p19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https://oss.cs.fau.de</a:t>
            </a:r>
            <a:r>
              <a:rPr b="0" lang="en" sz="900">
                <a:solidFill>
                  <a:schemeClr val="dk2"/>
                </a:solidFill>
              </a:rPr>
              <a:t> </a:t>
            </a:r>
            <a:endParaRPr b="0" sz="900">
              <a:solidFill>
                <a:schemeClr val="dk2"/>
              </a:solidFill>
            </a:endParaRPr>
          </a:p>
        </p:txBody>
      </p:sp>
      <p:pic>
        <p:nvPicPr>
          <p:cNvPr id="137" name="Google Shape;137;p19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731520"/>
            <a:ext cx="9144001" cy="39319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0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Using a Theory to Solve a Problem</a:t>
            </a:r>
            <a:endParaRPr/>
          </a:p>
        </p:txBody>
      </p:sp>
      <p:sp>
        <p:nvSpPr>
          <p:cNvPr id="143" name="Google Shape;143;p20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https://oss.cs.fau.de</a:t>
            </a:r>
            <a:r>
              <a:rPr b="0" lang="en" sz="900">
                <a:solidFill>
                  <a:schemeClr val="dk2"/>
                </a:solidFill>
              </a:rPr>
              <a:t> </a:t>
            </a:r>
            <a:endParaRPr b="0" sz="900">
              <a:solidFill>
                <a:schemeClr val="dk2"/>
              </a:solidFill>
            </a:endParaRPr>
          </a:p>
        </p:txBody>
      </p:sp>
      <p:pic>
        <p:nvPicPr>
          <p:cNvPr id="144" name="Google Shape;144;p20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731520"/>
            <a:ext cx="9144001" cy="39319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8" name="Shape 1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Google Shape;149;p21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Science vs. Engineering [1]</a:t>
            </a:r>
            <a:endParaRPr/>
          </a:p>
        </p:txBody>
      </p:sp>
      <p:sp>
        <p:nvSpPr>
          <p:cNvPr id="150" name="Google Shape;150;p21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/>
              <a:t>Science</a:t>
            </a:r>
            <a:r>
              <a:rPr lang="en"/>
              <a:t> is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As defined before (“build to learn”, design science research)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b="1" lang="en"/>
              <a:t>Engineering</a:t>
            </a:r>
            <a:r>
              <a:rPr lang="en"/>
              <a:t> is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The application of scientific principles (“learn to build”)</a:t>
            </a:r>
            <a:endParaRPr/>
          </a:p>
        </p:txBody>
      </p:sp>
      <p:sp>
        <p:nvSpPr>
          <p:cNvPr id="151" name="Google Shape;151;p21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https://oss.cs.fau.de</a:t>
            </a:r>
            <a:r>
              <a:rPr b="0" lang="en" sz="900">
                <a:solidFill>
                  <a:schemeClr val="dk2"/>
                </a:solidFill>
              </a:rPr>
              <a:t> </a:t>
            </a:r>
            <a:endParaRPr b="0" sz="900">
              <a:solidFill>
                <a:schemeClr val="dk2"/>
              </a:solidFill>
            </a:endParaRPr>
          </a:p>
        </p:txBody>
      </p:sp>
      <p:sp>
        <p:nvSpPr>
          <p:cNvPr id="152" name="Google Shape;152;p21"/>
          <p:cNvSpPr txBox="1"/>
          <p:nvPr/>
        </p:nvSpPr>
        <p:spPr>
          <a:xfrm>
            <a:off x="0" y="4233672"/>
            <a:ext cx="7315200" cy="9144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[1] See </a:t>
            </a:r>
            <a:r>
              <a:rPr lang="en" u="sng">
                <a:solidFill>
                  <a:schemeClr val="hlink"/>
                </a:solidFill>
                <a:hlinkClick r:id="rId4"/>
              </a:rPr>
              <a:t>Brooks (1996)</a:t>
            </a:r>
            <a:r>
              <a:rPr lang="en"/>
              <a:t>: The computer scientist as toolsmith II.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2"/>
          <p:cNvSpPr txBox="1"/>
          <p:nvPr>
            <p:ph type="title"/>
          </p:nvPr>
        </p:nvSpPr>
        <p:spPr>
          <a:xfrm>
            <a:off x="0" y="-7"/>
            <a:ext cx="9144000" cy="2386500"/>
          </a:xfrm>
          <a:prstGeom prst="rect">
            <a:avLst/>
          </a:prstGeom>
        </p:spPr>
        <p:txBody>
          <a:bodyPr anchorCtr="0" anchor="b" bIns="274300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2. Theory Building and Validation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1" name="Shape 1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2" name="Google Shape;162;p23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Theory Building and Validation</a:t>
            </a:r>
            <a:endParaRPr/>
          </a:p>
        </p:txBody>
      </p:sp>
      <p:sp>
        <p:nvSpPr>
          <p:cNvPr id="163" name="Google Shape;163;p23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/>
              <a:t>Theory building</a:t>
            </a:r>
            <a:r>
              <a:rPr lang="en"/>
              <a:t> is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The process of creating and revising (building out) a theory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Initial creation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Subsequent evaluation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Continued revision and evaluation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b="1" lang="en"/>
              <a:t>Theory validation</a:t>
            </a:r>
            <a:r>
              <a:rPr lang="en"/>
              <a:t> is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The process of validating a theory by testing its hypotheses</a:t>
            </a:r>
            <a:endParaRPr/>
          </a:p>
        </p:txBody>
      </p:sp>
      <p:sp>
        <p:nvSpPr>
          <p:cNvPr id="164" name="Google Shape;164;p23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https://oss.cs.fau.de</a:t>
            </a:r>
            <a:r>
              <a:rPr b="0" lang="en" sz="900">
                <a:solidFill>
                  <a:schemeClr val="dk2"/>
                </a:solidFill>
              </a:rPr>
              <a:t> </a:t>
            </a:r>
            <a:endParaRPr b="0" sz="900"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8" name="Shape 1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" name="Google Shape;169;p24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Interaction of Theory Building and Validation [1]</a:t>
            </a:r>
            <a:endParaRPr/>
          </a:p>
        </p:txBody>
      </p:sp>
      <p:sp>
        <p:nvSpPr>
          <p:cNvPr id="170" name="Google Shape;170;p24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https://oss.cs.fau.de</a:t>
            </a:r>
            <a:r>
              <a:rPr b="0" lang="en" sz="900">
                <a:solidFill>
                  <a:schemeClr val="dk2"/>
                </a:solidFill>
              </a:rPr>
              <a:t> </a:t>
            </a:r>
            <a:endParaRPr b="0" sz="900">
              <a:solidFill>
                <a:schemeClr val="dk2"/>
              </a:solidFill>
            </a:endParaRPr>
          </a:p>
        </p:txBody>
      </p:sp>
      <p:sp>
        <p:nvSpPr>
          <p:cNvPr id="171" name="Google Shape;171;p24"/>
          <p:cNvSpPr txBox="1"/>
          <p:nvPr/>
        </p:nvSpPr>
        <p:spPr>
          <a:xfrm>
            <a:off x="0" y="4233672"/>
            <a:ext cx="7315200" cy="9144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[1] Not drawn to scale or effort involved</a:t>
            </a:r>
            <a:endParaRPr/>
          </a:p>
        </p:txBody>
      </p:sp>
      <p:pic>
        <p:nvPicPr>
          <p:cNvPr id="172" name="Google Shape;172;p24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731520"/>
            <a:ext cx="9144001" cy="39251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Theory Evaluation vs. Validation [DR]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/>
              <a:t>Theory evaluation</a:t>
            </a:r>
            <a:r>
              <a:rPr lang="en"/>
              <a:t> is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The assessment of a theory for the purposes of revising it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b="1" lang="en"/>
              <a:t>Theory validation</a:t>
            </a:r>
            <a:r>
              <a:rPr lang="en"/>
              <a:t> is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The testing of hypotheses</a:t>
            </a:r>
            <a:r>
              <a:rPr lang="en"/>
              <a:t> to confirm or refute a theory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"/>
              <a:t>Many researchers (sloppily) use these terms interchangeably</a:t>
            </a:r>
            <a:endParaRPr/>
          </a:p>
        </p:txBody>
      </p:sp>
      <p:sp>
        <p:nvSpPr>
          <p:cNvPr id="179" name="Google Shape;179;p25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https://oss.cs.fau.de</a:t>
            </a:r>
            <a:r>
              <a:rPr b="0" lang="en" sz="900">
                <a:solidFill>
                  <a:schemeClr val="dk2"/>
                </a:solidFill>
              </a:rPr>
              <a:t> </a:t>
            </a:r>
            <a:endParaRPr b="0" sz="900"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6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Exploratory and Confirmatory Research</a:t>
            </a:r>
            <a:endParaRPr/>
          </a:p>
        </p:txBody>
      </p:sp>
      <p:sp>
        <p:nvSpPr>
          <p:cNvPr id="185" name="Google Shape;185;p26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/>
              <a:t>Exploratory research</a:t>
            </a:r>
            <a:r>
              <a:rPr lang="en"/>
              <a:t> is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Theory building research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b="1" lang="en"/>
              <a:t>Confirmatory research </a:t>
            </a:r>
            <a:r>
              <a:rPr lang="en"/>
              <a:t>is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Theory validation research</a:t>
            </a:r>
            <a:endParaRPr/>
          </a:p>
        </p:txBody>
      </p:sp>
      <p:sp>
        <p:nvSpPr>
          <p:cNvPr id="186" name="Google Shape;186;p26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https://oss.cs.fau.de</a:t>
            </a:r>
            <a:r>
              <a:rPr b="0" lang="en" sz="900">
                <a:solidFill>
                  <a:schemeClr val="dk2"/>
                </a:solidFill>
              </a:rPr>
              <a:t> </a:t>
            </a:r>
            <a:endParaRPr b="0" sz="900"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7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Inductive vs. Deductive Research</a:t>
            </a:r>
            <a:endParaRPr/>
          </a:p>
        </p:txBody>
      </p:sp>
      <p:sp>
        <p:nvSpPr>
          <p:cNvPr id="192" name="Google Shape;192;p27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/>
              <a:t>Inductive research </a:t>
            </a:r>
            <a:r>
              <a:rPr lang="en"/>
              <a:t>is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Research that finds patterns in data to derive a theory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b="1" lang="en"/>
              <a:t>Deductive research </a:t>
            </a:r>
            <a:r>
              <a:rPr lang="en"/>
              <a:t>is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Research that creates and tests hypotheses from theory</a:t>
            </a:r>
            <a:endParaRPr/>
          </a:p>
        </p:txBody>
      </p:sp>
      <p:sp>
        <p:nvSpPr>
          <p:cNvPr id="193" name="Google Shape;193;p27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https://oss.cs.fau.de</a:t>
            </a:r>
            <a:r>
              <a:rPr b="0" lang="en" sz="900">
                <a:solidFill>
                  <a:schemeClr val="dk2"/>
                </a:solidFill>
              </a:rPr>
              <a:t> </a:t>
            </a:r>
            <a:endParaRPr b="0" sz="900"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8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Qualitative vs. Quantitative Research</a:t>
            </a:r>
            <a:endParaRPr/>
          </a:p>
        </p:txBody>
      </p:sp>
      <p:sp>
        <p:nvSpPr>
          <p:cNvPr id="199" name="Google Shape;199;p28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/>
              <a:t>Qualitative research</a:t>
            </a:r>
            <a:r>
              <a:rPr lang="en"/>
              <a:t> is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Research that works with </a:t>
            </a:r>
            <a:r>
              <a:rPr b="1" lang="en"/>
              <a:t>qualitative data </a:t>
            </a:r>
            <a:r>
              <a:rPr lang="en"/>
              <a:t>which is</a:t>
            </a:r>
            <a:endParaRPr/>
          </a:p>
          <a:p>
            <a:pPr indent="-323850" lvl="1" marL="914400" rtl="0" algn="l">
              <a:spcBef>
                <a:spcPts val="0"/>
              </a:spcBef>
              <a:spcAft>
                <a:spcPts val="0"/>
              </a:spcAft>
              <a:buSzPts val="1500"/>
              <a:buChar char="○"/>
            </a:pPr>
            <a:r>
              <a:rPr lang="en" sz="1500"/>
              <a:t>Data collected for characterization using qualitative insight</a:t>
            </a:r>
            <a:endParaRPr sz="1500"/>
          </a:p>
          <a:p>
            <a:pPr indent="-323850" lvl="1" marL="914400" rtl="0" algn="l">
              <a:spcBef>
                <a:spcPts val="0"/>
              </a:spcBef>
              <a:spcAft>
                <a:spcPts val="0"/>
              </a:spcAft>
              <a:buSzPts val="1500"/>
              <a:buChar char="○"/>
            </a:pPr>
            <a:r>
              <a:rPr lang="en" sz="1500"/>
              <a:t>Not easily measured and counted</a:t>
            </a:r>
            <a:endParaRPr sz="1500"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b="1" lang="en"/>
              <a:t>Quantitative</a:t>
            </a:r>
            <a:r>
              <a:rPr b="1" lang="en"/>
              <a:t> research</a:t>
            </a:r>
            <a:r>
              <a:rPr lang="en"/>
              <a:t> is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Research that works with </a:t>
            </a:r>
            <a:r>
              <a:rPr b="1" lang="en"/>
              <a:t>quantitative data</a:t>
            </a:r>
            <a:r>
              <a:rPr lang="en"/>
              <a:t> which is</a:t>
            </a:r>
            <a:endParaRPr/>
          </a:p>
          <a:p>
            <a:pPr indent="-323850" lvl="1" marL="914400" rtl="0" algn="l">
              <a:spcBef>
                <a:spcPts val="0"/>
              </a:spcBef>
              <a:spcAft>
                <a:spcPts val="0"/>
              </a:spcAft>
              <a:buSzPts val="1500"/>
              <a:buChar char="○"/>
            </a:pPr>
            <a:r>
              <a:rPr lang="en" sz="1500"/>
              <a:t>Data collected for generalization </a:t>
            </a:r>
            <a:r>
              <a:rPr lang="en" sz="1500"/>
              <a:t>through</a:t>
            </a:r>
            <a:r>
              <a:rPr lang="en" sz="1500"/>
              <a:t> statistical analysis</a:t>
            </a:r>
            <a:endParaRPr sz="1500"/>
          </a:p>
          <a:p>
            <a:pPr indent="-323850" lvl="1" marL="914400" rtl="0" algn="l">
              <a:spcBef>
                <a:spcPts val="0"/>
              </a:spcBef>
              <a:spcAft>
                <a:spcPts val="0"/>
              </a:spcAft>
              <a:buSzPts val="1500"/>
              <a:buChar char="○"/>
            </a:pPr>
            <a:r>
              <a:rPr lang="en" sz="1500"/>
              <a:t>Numerical in some way</a:t>
            </a:r>
            <a:endParaRPr sz="1500"/>
          </a:p>
        </p:txBody>
      </p:sp>
      <p:sp>
        <p:nvSpPr>
          <p:cNvPr id="200" name="Google Shape;200;p28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https://oss.cs.fau.de</a:t>
            </a:r>
            <a:r>
              <a:rPr b="0" lang="en" sz="900">
                <a:solidFill>
                  <a:schemeClr val="dk2"/>
                </a:solidFill>
              </a:rPr>
              <a:t> </a:t>
            </a:r>
            <a:endParaRPr b="0" sz="900"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9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Terminology Alignment</a:t>
            </a:r>
            <a:endParaRPr/>
          </a:p>
        </p:txBody>
      </p:sp>
      <p:sp>
        <p:nvSpPr>
          <p:cNvPr id="206" name="Google Shape;206;p29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https://oss.cs.fau.de</a:t>
            </a:r>
            <a:r>
              <a:rPr b="0" lang="en" sz="900">
                <a:solidFill>
                  <a:schemeClr val="dk2"/>
                </a:solidFill>
              </a:rPr>
              <a:t> </a:t>
            </a:r>
            <a:endParaRPr b="0" sz="900">
              <a:solidFill>
                <a:schemeClr val="dk2"/>
              </a:solidFill>
            </a:endParaRPr>
          </a:p>
        </p:txBody>
      </p:sp>
      <p:graphicFrame>
        <p:nvGraphicFramePr>
          <p:cNvPr id="207" name="Google Shape;207;p29"/>
          <p:cNvGraphicFramePr/>
          <p:nvPr/>
        </p:nvGraphicFramePr>
        <p:xfrm>
          <a:off x="274320" y="9144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{1D0D3B27-48E7-414E-A840-DF4C97E417E6}</a:tableStyleId>
              </a:tblPr>
              <a:tblGrid>
                <a:gridCol w="4297675"/>
                <a:gridCol w="4297675"/>
              </a:tblGrid>
              <a:tr h="731525"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>
                          <a:solidFill>
                            <a:schemeClr val="lt1"/>
                          </a:solidFill>
                        </a:rPr>
                        <a:t>Theory building</a:t>
                      </a:r>
                      <a:endParaRPr b="1">
                        <a:solidFill>
                          <a:schemeClr val="lt1"/>
                        </a:solidFill>
                      </a:endParaRPr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dk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>
                          <a:solidFill>
                            <a:schemeClr val="lt1"/>
                          </a:solidFill>
                        </a:rPr>
                        <a:t>Theory validation</a:t>
                      </a:r>
                      <a:endParaRPr b="1">
                        <a:solidFill>
                          <a:schemeClr val="lt1"/>
                        </a:solidFill>
                      </a:endParaRPr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dk2"/>
                    </a:solidFill>
                  </a:tcPr>
                </a:tc>
              </a:tr>
              <a:tr h="731525"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Exploratory</a:t>
                      </a:r>
                      <a:endParaRPr/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Confirmatory</a:t>
                      </a:r>
                      <a:endParaRPr/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731525"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Inductive</a:t>
                      </a:r>
                      <a:endParaRPr/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Deductive</a:t>
                      </a:r>
                      <a:endParaRPr/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1"/>
                    </a:solidFill>
                  </a:tcPr>
                </a:tc>
              </a:tr>
              <a:tr h="731525"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Qualitative</a:t>
                      </a:r>
                      <a:endParaRPr/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Quantitative</a:t>
                      </a:r>
                      <a:endParaRPr/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1" name="Shape 2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2" name="Google Shape;212;p30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Process of Theory Building and Validation</a:t>
            </a:r>
            <a:endParaRPr/>
          </a:p>
        </p:txBody>
      </p:sp>
      <p:sp>
        <p:nvSpPr>
          <p:cNvPr id="213" name="Google Shape;213;p30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The process is almost always incremental and iterative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In science, there are at least three major scopes of iterations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AutoNum type="arabicPeriod"/>
            </a:pPr>
            <a:r>
              <a:rPr lang="en"/>
              <a:t>While building out a single theory on a subject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AutoNum type="arabicPeriod"/>
            </a:pPr>
            <a:r>
              <a:rPr lang="en"/>
              <a:t>While building out a </a:t>
            </a:r>
            <a:r>
              <a:rPr lang="en"/>
              <a:t>paradigm through interrelated theories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AutoNum type="arabicPeriod"/>
            </a:pPr>
            <a:r>
              <a:rPr lang="en"/>
              <a:t>While replacing an old paradigm with a new one</a:t>
            </a:r>
            <a:endParaRPr/>
          </a:p>
        </p:txBody>
      </p:sp>
      <p:sp>
        <p:nvSpPr>
          <p:cNvPr id="214" name="Google Shape;214;p30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https://oss.cs.fau.de</a:t>
            </a:r>
            <a:r>
              <a:rPr b="0" lang="en" sz="900">
                <a:solidFill>
                  <a:schemeClr val="dk2"/>
                </a:solidFill>
              </a:rPr>
              <a:t> </a:t>
            </a:r>
            <a:endParaRPr b="0" sz="900"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31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Rigor vs. Relevance</a:t>
            </a:r>
            <a:endParaRPr/>
          </a:p>
        </p:txBody>
      </p:sp>
      <p:sp>
        <p:nvSpPr>
          <p:cNvPr id="220" name="Google Shape;220;p31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https://oss.cs.fau.de</a:t>
            </a:r>
            <a:r>
              <a:rPr b="0" lang="en" sz="900">
                <a:solidFill>
                  <a:schemeClr val="dk2"/>
                </a:solidFill>
              </a:rPr>
              <a:t> </a:t>
            </a:r>
            <a:endParaRPr b="0" sz="900">
              <a:solidFill>
                <a:schemeClr val="dk2"/>
              </a:solidFill>
            </a:endParaRPr>
          </a:p>
        </p:txBody>
      </p:sp>
      <p:pic>
        <p:nvPicPr>
          <p:cNvPr id="221" name="Google Shape;221;p31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731520"/>
            <a:ext cx="9144001" cy="39319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0" y="-7"/>
            <a:ext cx="9144000" cy="2386500"/>
          </a:xfrm>
          <a:prstGeom prst="rect">
            <a:avLst/>
          </a:prstGeom>
        </p:spPr>
        <p:txBody>
          <a:bodyPr anchorCtr="0" anchor="b" bIns="274300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3. Science as a Social System</a:t>
            </a:r>
            <a:endParaRPr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3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Scientific Communication</a:t>
            </a:r>
            <a:endParaRPr/>
          </a:p>
        </p:txBody>
      </p:sp>
      <p:sp>
        <p:nvSpPr>
          <p:cNvPr id="232" name="Google Shape;232;p33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 </a:t>
            </a:r>
            <a:r>
              <a:rPr b="1" lang="en"/>
              <a:t>research paper</a:t>
            </a:r>
            <a:r>
              <a:rPr lang="en"/>
              <a:t> is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A (written) article published in an accredited publication venue like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Academic journals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Conference </a:t>
            </a:r>
            <a:r>
              <a:rPr lang="en"/>
              <a:t>proceedings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Special events / outlets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Other forms of scientific communication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Research grant proposals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Opinions, letters to the editor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Public and private peer reviews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  <p:sp>
        <p:nvSpPr>
          <p:cNvPr id="233" name="Google Shape;233;p33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https://oss.cs.fau.de</a:t>
            </a:r>
            <a:r>
              <a:rPr b="0" lang="en" sz="900">
                <a:solidFill>
                  <a:schemeClr val="dk2"/>
                </a:solidFill>
              </a:rPr>
              <a:t> </a:t>
            </a:r>
            <a:endParaRPr b="0" sz="900"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7" name="Shape 2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8" name="Google Shape;238;p34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Scientific Quality Assurance (Peer Review)</a:t>
            </a:r>
            <a:endParaRPr/>
          </a:p>
        </p:txBody>
      </p:sp>
      <p:sp>
        <p:nvSpPr>
          <p:cNvPr id="239" name="Google Shape;239;p34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 </a:t>
            </a:r>
            <a:r>
              <a:rPr b="1" lang="en"/>
              <a:t>peer review</a:t>
            </a:r>
            <a:r>
              <a:rPr lang="en"/>
              <a:t> is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The quality assessment of scientific communication by a peer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Where a peer is another scientist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A </a:t>
            </a:r>
            <a:r>
              <a:rPr b="1" lang="en"/>
              <a:t>review process</a:t>
            </a:r>
            <a:r>
              <a:rPr lang="en"/>
              <a:t> is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The overall </a:t>
            </a:r>
            <a:r>
              <a:rPr lang="en"/>
              <a:t>quality assessment of some scientific writing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Based on (several) peer reviews and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Editorial / committee deliberation </a:t>
            </a:r>
            <a:endParaRPr/>
          </a:p>
        </p:txBody>
      </p:sp>
      <p:sp>
        <p:nvSpPr>
          <p:cNvPr id="240" name="Google Shape;240;p34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https://oss.cs.fau.de</a:t>
            </a:r>
            <a:r>
              <a:rPr b="0" lang="en" sz="900">
                <a:solidFill>
                  <a:schemeClr val="dk2"/>
                </a:solidFill>
              </a:rPr>
              <a:t> </a:t>
            </a:r>
            <a:endParaRPr b="0" sz="900"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35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Scientific Quality Assurance (Test of Time)</a:t>
            </a:r>
            <a:endParaRPr/>
          </a:p>
        </p:txBody>
      </p:sp>
      <p:sp>
        <p:nvSpPr>
          <p:cNvPr id="246" name="Google Shape;246;p35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The number of </a:t>
            </a:r>
            <a:r>
              <a:rPr b="1" lang="en"/>
              <a:t>paper citations</a:t>
            </a:r>
            <a:r>
              <a:rPr lang="en"/>
              <a:t> is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The count of other research papers referencing your work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A key metric in assessing impact (not necessarily quality)</a:t>
            </a:r>
            <a:endParaRPr/>
          </a:p>
        </p:txBody>
      </p:sp>
      <p:sp>
        <p:nvSpPr>
          <p:cNvPr id="247" name="Google Shape;247;p35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https://oss.cs.fau.de</a:t>
            </a:r>
            <a:r>
              <a:rPr b="0" lang="en" sz="900">
                <a:solidFill>
                  <a:schemeClr val="dk2"/>
                </a:solidFill>
              </a:rPr>
              <a:t> </a:t>
            </a:r>
            <a:endParaRPr b="0" sz="900"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36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Who Can be a Researcher / Scientist?</a:t>
            </a:r>
            <a:endParaRPr/>
          </a:p>
        </p:txBody>
      </p:sp>
      <p:sp>
        <p:nvSpPr>
          <p:cNvPr id="253" name="Google Shape;253;p36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Everyone</a:t>
            </a:r>
            <a:r>
              <a:rPr lang="en"/>
              <a:t>.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We are all peers</a:t>
            </a:r>
            <a:r>
              <a:rPr lang="en"/>
              <a:t>.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"/>
              <a:t>Some are more peer than others</a:t>
            </a:r>
            <a:r>
              <a:rPr lang="en"/>
              <a:t>.</a:t>
            </a:r>
            <a:endParaRPr/>
          </a:p>
        </p:txBody>
      </p:sp>
      <p:sp>
        <p:nvSpPr>
          <p:cNvPr id="254" name="Google Shape;254;p36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https://oss.cs.fau.de</a:t>
            </a:r>
            <a:r>
              <a:rPr b="0" lang="en" sz="900">
                <a:solidFill>
                  <a:schemeClr val="dk2"/>
                </a:solidFill>
              </a:rPr>
              <a:t> </a:t>
            </a:r>
            <a:endParaRPr b="0" sz="900"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8" name="Shape 2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9" name="Google Shape;259;p37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Current Challenges to Engineering Research</a:t>
            </a:r>
            <a:endParaRPr/>
          </a:p>
        </p:txBody>
      </p:sp>
      <p:sp>
        <p:nvSpPr>
          <p:cNvPr id="260" name="Google Shape;260;p37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No empiricism at all, just seat of the pants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Receding in general, but alive and kicking in corners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Eminence-based research rather than evidence-based research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“Everyone knows this” (actual quote)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Losing relevance and innovation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Purely analytical research vs. solving societal problems</a:t>
            </a:r>
            <a:endParaRPr/>
          </a:p>
        </p:txBody>
      </p:sp>
      <p:sp>
        <p:nvSpPr>
          <p:cNvPr id="261" name="Google Shape;261;p37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https://oss.cs.fau.de</a:t>
            </a:r>
            <a:r>
              <a:rPr b="0" lang="en" sz="900">
                <a:solidFill>
                  <a:schemeClr val="dk2"/>
                </a:solidFill>
              </a:rPr>
              <a:t> </a:t>
            </a:r>
            <a:endParaRPr b="0" sz="900"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65" name="Shape 2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6" name="Google Shape;266;p38"/>
          <p:cNvSpPr txBox="1"/>
          <p:nvPr>
            <p:ph type="title"/>
          </p:nvPr>
        </p:nvSpPr>
        <p:spPr>
          <a:xfrm>
            <a:off x="0" y="-7"/>
            <a:ext cx="9144000" cy="2386500"/>
          </a:xfrm>
          <a:prstGeom prst="rect">
            <a:avLst/>
          </a:prstGeom>
        </p:spPr>
        <p:txBody>
          <a:bodyPr anchorCtr="0" anchor="b" bIns="274300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4. Programs and Projects </a:t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9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Program and Project Hierarchy</a:t>
            </a:r>
            <a:endParaRPr/>
          </a:p>
        </p:txBody>
      </p:sp>
      <p:sp>
        <p:nvSpPr>
          <p:cNvPr id="272" name="Google Shape;272;p39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https://oss.cs.fau.de</a:t>
            </a:r>
            <a:r>
              <a:rPr b="0" lang="en" sz="900">
                <a:solidFill>
                  <a:schemeClr val="dk2"/>
                </a:solidFill>
              </a:rPr>
              <a:t> </a:t>
            </a:r>
            <a:endParaRPr b="0" sz="900">
              <a:solidFill>
                <a:schemeClr val="dk2"/>
              </a:solidFill>
            </a:endParaRPr>
          </a:p>
        </p:txBody>
      </p:sp>
      <p:graphicFrame>
        <p:nvGraphicFramePr>
          <p:cNvPr id="273" name="Google Shape;273;p39"/>
          <p:cNvGraphicFramePr/>
          <p:nvPr/>
        </p:nvGraphicFramePr>
        <p:xfrm>
          <a:off x="274325" y="9144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{1D0D3B27-48E7-414E-A840-DF4C97E417E6}</a:tableStyleId>
              </a:tblPr>
              <a:tblGrid>
                <a:gridCol w="1689175"/>
                <a:gridCol w="1689175"/>
                <a:gridCol w="5216950"/>
              </a:tblGrid>
              <a:tr h="731525"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>
                          <a:solidFill>
                            <a:schemeClr val="lt1"/>
                          </a:solidFill>
                        </a:rPr>
                        <a:t>Role</a:t>
                      </a:r>
                      <a:endParaRPr b="1">
                        <a:solidFill>
                          <a:schemeClr val="lt1"/>
                        </a:solidFill>
                      </a:endParaRPr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dk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>
                          <a:solidFill>
                            <a:schemeClr val="lt1"/>
                          </a:solidFill>
                        </a:rPr>
                        <a:t>Level</a:t>
                      </a:r>
                      <a:endParaRPr b="1">
                        <a:solidFill>
                          <a:schemeClr val="lt1"/>
                        </a:solidFill>
                      </a:endParaRPr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dk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>
                          <a:solidFill>
                            <a:schemeClr val="lt1"/>
                          </a:solidFill>
                        </a:rPr>
                        <a:t>Purpose</a:t>
                      </a:r>
                      <a:endParaRPr b="1">
                        <a:solidFill>
                          <a:schemeClr val="lt1"/>
                        </a:solidFill>
                      </a:endParaRPr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dk2"/>
                    </a:solidFill>
                  </a:tcPr>
                </a:tc>
              </a:tr>
              <a:tr h="731525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solidFill>
                            <a:schemeClr val="dk1"/>
                          </a:solidFill>
                        </a:rPr>
                        <a:t>Sponsor</a:t>
                      </a:r>
                      <a:endParaRPr>
                        <a:solidFill>
                          <a:schemeClr val="dk1"/>
                        </a:solidFill>
                      </a:endParaRPr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solidFill>
                            <a:schemeClr val="dk1"/>
                          </a:solidFill>
                        </a:rPr>
                        <a:t>Theme</a:t>
                      </a:r>
                      <a:endParaRPr>
                        <a:solidFill>
                          <a:schemeClr val="dk1"/>
                        </a:solidFill>
                      </a:endParaRPr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-317500" lvl="0" marL="45720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Char char="●"/>
                      </a:pPr>
                      <a:r>
                        <a:rPr lang="en">
                          <a:solidFill>
                            <a:schemeClr val="dk1"/>
                          </a:solidFill>
                        </a:rPr>
                        <a:t>Defines a research theme</a:t>
                      </a:r>
                      <a:endParaRPr>
                        <a:solidFill>
                          <a:schemeClr val="dk1"/>
                        </a:solidFill>
                      </a:endParaRPr>
                    </a:p>
                    <a:p>
                      <a:pPr indent="-317500" lvl="0" marL="45720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Char char="●"/>
                      </a:pPr>
                      <a:r>
                        <a:rPr lang="en">
                          <a:solidFill>
                            <a:schemeClr val="dk1"/>
                          </a:solidFill>
                        </a:rPr>
                        <a:t>Funds programs within the theme</a:t>
                      </a:r>
                      <a:endParaRPr>
                        <a:solidFill>
                          <a:schemeClr val="dk1"/>
                        </a:solidFill>
                      </a:endParaRPr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731525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solidFill>
                            <a:schemeClr val="dk1"/>
                          </a:solidFill>
                        </a:rPr>
                        <a:t>Program</a:t>
                      </a:r>
                      <a:endParaRPr>
                        <a:solidFill>
                          <a:schemeClr val="dk1"/>
                        </a:solidFill>
                      </a:endParaRPr>
                    </a:p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solidFill>
                            <a:schemeClr val="dk1"/>
                          </a:solidFill>
                        </a:rPr>
                        <a:t>manager</a:t>
                      </a:r>
                      <a:endParaRPr>
                        <a:solidFill>
                          <a:schemeClr val="dk1"/>
                        </a:solidFill>
                      </a:endParaRPr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solidFill>
                            <a:schemeClr val="dk1"/>
                          </a:solidFill>
                        </a:rPr>
                        <a:t>Program</a:t>
                      </a:r>
                      <a:endParaRPr>
                        <a:solidFill>
                          <a:schemeClr val="dk1"/>
                        </a:solidFill>
                      </a:endParaRPr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-317500" lvl="0" marL="45720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Char char="●"/>
                      </a:pPr>
                      <a:r>
                        <a:rPr lang="en">
                          <a:solidFill>
                            <a:schemeClr val="dk1"/>
                          </a:solidFill>
                        </a:rPr>
                        <a:t>Applies for managing a program</a:t>
                      </a:r>
                      <a:endParaRPr>
                        <a:solidFill>
                          <a:schemeClr val="dk1"/>
                        </a:solidFill>
                      </a:endParaRPr>
                    </a:p>
                    <a:p>
                      <a:pPr indent="-317500" lvl="0" marL="45720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Char char="●"/>
                      </a:pPr>
                      <a:r>
                        <a:rPr lang="en">
                          <a:solidFill>
                            <a:schemeClr val="dk1"/>
                          </a:solidFill>
                        </a:rPr>
                        <a:t>If chosen, manages the program</a:t>
                      </a:r>
                      <a:endParaRPr>
                        <a:solidFill>
                          <a:schemeClr val="dk1"/>
                        </a:solidFill>
                      </a:endParaRPr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1"/>
                    </a:solidFill>
                  </a:tcPr>
                </a:tc>
              </a:tr>
              <a:tr h="731525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solidFill>
                            <a:schemeClr val="dk1"/>
                          </a:solidFill>
                        </a:rPr>
                        <a:t>Principal investigator</a:t>
                      </a:r>
                      <a:endParaRPr>
                        <a:solidFill>
                          <a:schemeClr val="dk1"/>
                        </a:solidFill>
                      </a:endParaRPr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solidFill>
                            <a:schemeClr val="dk1"/>
                          </a:solidFill>
                        </a:rPr>
                        <a:t>Projects</a:t>
                      </a:r>
                      <a:endParaRPr>
                        <a:solidFill>
                          <a:schemeClr val="dk1"/>
                        </a:solidFill>
                      </a:endParaRPr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-317500" lvl="0" marL="45720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Char char="●"/>
                      </a:pPr>
                      <a:r>
                        <a:rPr lang="en">
                          <a:solidFill>
                            <a:schemeClr val="dk1"/>
                          </a:solidFill>
                        </a:rPr>
                        <a:t>Applies for a project within a program</a:t>
                      </a:r>
                      <a:endParaRPr>
                        <a:solidFill>
                          <a:schemeClr val="dk1"/>
                        </a:solidFill>
                      </a:endParaRPr>
                    </a:p>
                    <a:p>
                      <a:pPr indent="-317500" lvl="0" marL="45720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Char char="●"/>
                      </a:pPr>
                      <a:r>
                        <a:rPr lang="en">
                          <a:solidFill>
                            <a:schemeClr val="dk1"/>
                          </a:solidFill>
                        </a:rPr>
                        <a:t>If accepted, carries out the project</a:t>
                      </a:r>
                      <a:endParaRPr>
                        <a:solidFill>
                          <a:schemeClr val="dk1"/>
                        </a:solidFill>
                      </a:endParaRPr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7" name="Shape 2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8" name="Google Shape;278;p40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Example Parties</a:t>
            </a:r>
            <a:endParaRPr/>
          </a:p>
        </p:txBody>
      </p:sp>
      <p:sp>
        <p:nvSpPr>
          <p:cNvPr id="279" name="Google Shape;279;p40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https://oss.cs.fau.de</a:t>
            </a:r>
            <a:r>
              <a:rPr b="0" lang="en" sz="900">
                <a:solidFill>
                  <a:schemeClr val="dk2"/>
                </a:solidFill>
              </a:rPr>
              <a:t> </a:t>
            </a:r>
            <a:endParaRPr b="0" sz="900">
              <a:solidFill>
                <a:schemeClr val="dk2"/>
              </a:solidFill>
            </a:endParaRPr>
          </a:p>
        </p:txBody>
      </p:sp>
      <p:graphicFrame>
        <p:nvGraphicFramePr>
          <p:cNvPr id="280" name="Google Shape;280;p40"/>
          <p:cNvGraphicFramePr/>
          <p:nvPr/>
        </p:nvGraphicFramePr>
        <p:xfrm>
          <a:off x="274325" y="9144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{1D0D3B27-48E7-414E-A840-DF4C97E417E6}</a:tableStyleId>
              </a:tblPr>
              <a:tblGrid>
                <a:gridCol w="2932275"/>
                <a:gridCol w="5663075"/>
              </a:tblGrid>
              <a:tr h="731525"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>
                          <a:solidFill>
                            <a:schemeClr val="lt1"/>
                          </a:solidFill>
                        </a:rPr>
                        <a:t>Role</a:t>
                      </a:r>
                      <a:endParaRPr b="1">
                        <a:solidFill>
                          <a:schemeClr val="lt1"/>
                        </a:solidFill>
                      </a:endParaRPr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dk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>
                          <a:solidFill>
                            <a:schemeClr val="lt1"/>
                          </a:solidFill>
                        </a:rPr>
                        <a:t>Example</a:t>
                      </a:r>
                      <a:endParaRPr b="1">
                        <a:solidFill>
                          <a:schemeClr val="lt1"/>
                        </a:solidFill>
                      </a:endParaRPr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dk2"/>
                    </a:solidFill>
                  </a:tcPr>
                </a:tc>
              </a:tr>
              <a:tr h="731525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solidFill>
                            <a:schemeClr val="dk1"/>
                          </a:solidFill>
                        </a:rPr>
                        <a:t>Sponsor</a:t>
                      </a:r>
                      <a:endParaRPr>
                        <a:solidFill>
                          <a:schemeClr val="dk1"/>
                        </a:solidFill>
                      </a:endParaRPr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DFG, BMBF, BMWK, …</a:t>
                      </a:r>
                      <a:endParaRPr/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731525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solidFill>
                            <a:schemeClr val="dk1"/>
                          </a:solidFill>
                        </a:rPr>
                        <a:t>Program manager</a:t>
                      </a:r>
                      <a:endParaRPr>
                        <a:solidFill>
                          <a:schemeClr val="dk1"/>
                        </a:solidFill>
                      </a:endParaRPr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DFG, DLR, VDI/VDE</a:t>
                      </a:r>
                      <a:endParaRPr/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1"/>
                    </a:solidFill>
                  </a:tcPr>
                </a:tc>
              </a:tr>
              <a:tr h="731525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solidFill>
                            <a:schemeClr val="dk1"/>
                          </a:solidFill>
                        </a:rPr>
                        <a:t>Principal investigator</a:t>
                      </a:r>
                      <a:endParaRPr>
                        <a:solidFill>
                          <a:schemeClr val="dk1"/>
                        </a:solidFill>
                      </a:endParaRPr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Any scientist</a:t>
                      </a:r>
                      <a:endParaRPr/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1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Example Theme, Program, and Projects</a:t>
            </a:r>
            <a:endParaRPr/>
          </a:p>
        </p:txBody>
      </p:sp>
      <p:sp>
        <p:nvSpPr>
          <p:cNvPr id="286" name="Google Shape;286;p41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https://oss.cs.fau.de</a:t>
            </a:r>
            <a:r>
              <a:rPr b="0" lang="en" sz="900">
                <a:solidFill>
                  <a:schemeClr val="dk2"/>
                </a:solidFill>
              </a:rPr>
              <a:t> </a:t>
            </a:r>
            <a:endParaRPr b="0" sz="900">
              <a:solidFill>
                <a:schemeClr val="dk2"/>
              </a:solidFill>
            </a:endParaRPr>
          </a:p>
        </p:txBody>
      </p:sp>
      <p:graphicFrame>
        <p:nvGraphicFramePr>
          <p:cNvPr id="287" name="Google Shape;287;p41"/>
          <p:cNvGraphicFramePr/>
          <p:nvPr/>
        </p:nvGraphicFramePr>
        <p:xfrm>
          <a:off x="274325" y="9144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{1D0D3B27-48E7-414E-A840-DF4C97E417E6}</a:tableStyleId>
              </a:tblPr>
              <a:tblGrid>
                <a:gridCol w="2932275"/>
                <a:gridCol w="5663075"/>
              </a:tblGrid>
              <a:tr h="731525"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>
                          <a:solidFill>
                            <a:schemeClr val="lt1"/>
                          </a:solidFill>
                        </a:rPr>
                        <a:t>Level</a:t>
                      </a:r>
                      <a:endParaRPr b="1">
                        <a:solidFill>
                          <a:schemeClr val="lt1"/>
                        </a:solidFill>
                      </a:endParaRPr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dk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>
                          <a:solidFill>
                            <a:schemeClr val="lt1"/>
                          </a:solidFill>
                        </a:rPr>
                        <a:t>Example</a:t>
                      </a:r>
                      <a:endParaRPr b="1">
                        <a:solidFill>
                          <a:schemeClr val="lt1"/>
                        </a:solidFill>
                      </a:endParaRPr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dk2"/>
                    </a:solidFill>
                  </a:tcPr>
                </a:tc>
              </a:tr>
              <a:tr h="731525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solidFill>
                            <a:schemeClr val="dk1"/>
                          </a:solidFill>
                        </a:rPr>
                        <a:t>Theme</a:t>
                      </a:r>
                      <a:endParaRPr>
                        <a:solidFill>
                          <a:schemeClr val="dk1"/>
                        </a:solidFill>
                      </a:endParaRPr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-317500" lvl="0" marL="45720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Char char="●"/>
                      </a:pPr>
                      <a:r>
                        <a:rPr lang="en">
                          <a:solidFill>
                            <a:schemeClr val="dk1"/>
                          </a:solidFill>
                        </a:rPr>
                        <a:t>Innovation in software engineering</a:t>
                      </a:r>
                      <a:endParaRPr/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731525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solidFill>
                            <a:schemeClr val="dk1"/>
                          </a:solidFill>
                        </a:rPr>
                        <a:t>Program</a:t>
                      </a:r>
                      <a:endParaRPr>
                        <a:solidFill>
                          <a:schemeClr val="dk1"/>
                        </a:solidFill>
                      </a:endParaRPr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-317500" lvl="0" marL="45720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Char char="●"/>
                      </a:pPr>
                      <a:r>
                        <a:rPr lang="en">
                          <a:solidFill>
                            <a:schemeClr val="dk1"/>
                          </a:solidFill>
                        </a:rPr>
                        <a:t>Improving programmer productivity</a:t>
                      </a:r>
                      <a:endParaRPr/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1"/>
                    </a:solidFill>
                  </a:tcPr>
                </a:tc>
              </a:tr>
              <a:tr h="731525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solidFill>
                            <a:schemeClr val="dk1"/>
                          </a:solidFill>
                        </a:rPr>
                        <a:t>Projects</a:t>
                      </a:r>
                      <a:endParaRPr>
                        <a:solidFill>
                          <a:schemeClr val="dk1"/>
                        </a:solidFill>
                      </a:endParaRPr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-317500" lvl="0" marL="45720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Char char="●"/>
                      </a:pPr>
                      <a:r>
                        <a:rPr lang="en">
                          <a:solidFill>
                            <a:schemeClr val="dk1"/>
                          </a:solidFill>
                        </a:rPr>
                        <a:t>How to use chat AIs for code generation?</a:t>
                      </a:r>
                      <a:endParaRPr>
                        <a:solidFill>
                          <a:schemeClr val="dk1"/>
                        </a:solidFill>
                      </a:endParaRPr>
                    </a:p>
                    <a:p>
                      <a:pPr indent="-317500" lvl="0" marL="45720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Char char="●"/>
                      </a:pPr>
                      <a:r>
                        <a:rPr lang="en">
                          <a:solidFill>
                            <a:schemeClr val="dk1"/>
                          </a:solidFill>
                        </a:rPr>
                        <a:t>Is static typing superior to dynamic typing?</a:t>
                      </a:r>
                      <a:endParaRPr/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1" name="Shape 2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2" name="Google Shape;292;p42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The Role of Students in Research Projects</a:t>
            </a:r>
            <a:endParaRPr/>
          </a:p>
        </p:txBody>
      </p:sp>
      <p:sp>
        <p:nvSpPr>
          <p:cNvPr id="293" name="Google Shape;293;p42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https://oss.cs.fau.de</a:t>
            </a:r>
            <a:r>
              <a:rPr b="0" lang="en" sz="900">
                <a:solidFill>
                  <a:schemeClr val="dk2"/>
                </a:solidFill>
              </a:rPr>
              <a:t> </a:t>
            </a:r>
            <a:endParaRPr b="0" sz="900">
              <a:solidFill>
                <a:schemeClr val="dk2"/>
              </a:solidFill>
            </a:endParaRPr>
          </a:p>
        </p:txBody>
      </p:sp>
      <p:graphicFrame>
        <p:nvGraphicFramePr>
          <p:cNvPr id="294" name="Google Shape;294;p42"/>
          <p:cNvGraphicFramePr/>
          <p:nvPr/>
        </p:nvGraphicFramePr>
        <p:xfrm>
          <a:off x="274325" y="9144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{1D0D3B27-48E7-414E-A840-DF4C97E417E6}</a:tableStyleId>
              </a:tblPr>
              <a:tblGrid>
                <a:gridCol w="2932275"/>
                <a:gridCol w="5663075"/>
              </a:tblGrid>
              <a:tr h="731525"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>
                          <a:solidFill>
                            <a:schemeClr val="lt1"/>
                          </a:solidFill>
                        </a:rPr>
                        <a:t>Role</a:t>
                      </a:r>
                      <a:endParaRPr b="1">
                        <a:solidFill>
                          <a:schemeClr val="lt1"/>
                        </a:solidFill>
                      </a:endParaRPr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dk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>
                          <a:solidFill>
                            <a:schemeClr val="lt1"/>
                          </a:solidFill>
                        </a:rPr>
                        <a:t>Responsibility</a:t>
                      </a:r>
                      <a:endParaRPr b="1">
                        <a:solidFill>
                          <a:schemeClr val="lt1"/>
                        </a:solidFill>
                      </a:endParaRPr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dk2"/>
                    </a:solidFill>
                  </a:tcPr>
                </a:tc>
              </a:tr>
              <a:tr h="731525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solidFill>
                            <a:schemeClr val="dk1"/>
                          </a:solidFill>
                        </a:rPr>
                        <a:t>Principal investigator</a:t>
                      </a:r>
                      <a:endParaRPr>
                        <a:solidFill>
                          <a:schemeClr val="dk1"/>
                        </a:solidFill>
                      </a:endParaRPr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-317500" lvl="0" marL="45720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Char char="●"/>
                      </a:pPr>
                      <a:r>
                        <a:rPr lang="en">
                          <a:solidFill>
                            <a:schemeClr val="dk1"/>
                          </a:solidFill>
                        </a:rPr>
                        <a:t>Project / research agenda</a:t>
                      </a:r>
                      <a:endParaRPr/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731525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solidFill>
                            <a:schemeClr val="dk1"/>
                          </a:solidFill>
                        </a:rPr>
                        <a:t>Graduate researcher</a:t>
                      </a:r>
                      <a:endParaRPr>
                        <a:solidFill>
                          <a:schemeClr val="dk1"/>
                        </a:solidFill>
                      </a:endParaRPr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-317500" lvl="0" marL="45720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Char char="●"/>
                      </a:pPr>
                      <a:r>
                        <a:rPr lang="en">
                          <a:solidFill>
                            <a:schemeClr val="dk1"/>
                          </a:solidFill>
                        </a:rPr>
                        <a:t>Major component in project</a:t>
                      </a:r>
                      <a:endParaRPr/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1"/>
                    </a:solidFill>
                  </a:tcPr>
                </a:tc>
              </a:tr>
              <a:tr h="731525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solidFill>
                            <a:schemeClr val="dk1"/>
                          </a:solidFill>
                        </a:rPr>
                        <a:t>Final thesis student</a:t>
                      </a:r>
                      <a:endParaRPr>
                        <a:solidFill>
                          <a:schemeClr val="dk1"/>
                        </a:solidFill>
                      </a:endParaRPr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-317500" lvl="0" marL="45720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Char char="●"/>
                      </a:pPr>
                      <a:r>
                        <a:rPr lang="en">
                          <a:solidFill>
                            <a:schemeClr val="dk1"/>
                          </a:solidFill>
                        </a:rPr>
                        <a:t>Contribution to major component</a:t>
                      </a:r>
                      <a:endParaRPr/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8" name="Shape 2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9" name="Google Shape;299;p43"/>
          <p:cNvSpPr txBox="1"/>
          <p:nvPr>
            <p:ph type="title"/>
          </p:nvPr>
        </p:nvSpPr>
        <p:spPr>
          <a:xfrm>
            <a:off x="0" y="-7"/>
            <a:ext cx="9144000" cy="2386500"/>
          </a:xfrm>
          <a:prstGeom prst="rect">
            <a:avLst/>
          </a:prstGeom>
        </p:spPr>
        <p:txBody>
          <a:bodyPr anchorCtr="0" anchor="b" bIns="274300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5. Science and Society</a:t>
            </a:r>
            <a:endParaRPr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4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0" lIns="27430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The Nobel Prize [1] in Chemistry (2020)</a:t>
            </a:r>
            <a:endParaRPr/>
          </a:p>
        </p:txBody>
      </p:sp>
      <p:sp>
        <p:nvSpPr>
          <p:cNvPr id="305" name="Google Shape;305;p44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https://oss.cs.fau.de</a:t>
            </a:r>
            <a:r>
              <a:rPr b="0" lang="en" sz="900">
                <a:solidFill>
                  <a:schemeClr val="dk2"/>
                </a:solidFill>
              </a:rPr>
              <a:t> </a:t>
            </a:r>
            <a:endParaRPr>
              <a:solidFill>
                <a:schemeClr val="dk2"/>
              </a:solidFill>
            </a:endParaRPr>
          </a:p>
        </p:txBody>
      </p:sp>
      <p:sp>
        <p:nvSpPr>
          <p:cNvPr id="306" name="Google Shape;306;p44"/>
          <p:cNvSpPr txBox="1"/>
          <p:nvPr/>
        </p:nvSpPr>
        <p:spPr>
          <a:xfrm>
            <a:off x="0" y="4233672"/>
            <a:ext cx="7315200" cy="9144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[1] See </a:t>
            </a:r>
            <a:r>
              <a:rPr lang="en" u="sng">
                <a:solidFill>
                  <a:schemeClr val="hlink"/>
                </a:solidFill>
                <a:hlinkClick r:id="rId4"/>
              </a:rPr>
              <a:t>https://www.nobelprize.org/</a:t>
            </a:r>
            <a:r>
              <a:rPr lang="en"/>
              <a:t> </a:t>
            </a:r>
            <a:endParaRPr/>
          </a:p>
        </p:txBody>
      </p:sp>
      <p:pic>
        <p:nvPicPr>
          <p:cNvPr id="307" name="Google Shape;307;p44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743331" y="914400"/>
            <a:ext cx="7657338" cy="3657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1" name="Shape 3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2" name="Google Shape;312;p45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0" lIns="27430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The ACM’s A.M. Turing Award [1] (1999)</a:t>
            </a:r>
            <a:endParaRPr/>
          </a:p>
        </p:txBody>
      </p:sp>
      <p:sp>
        <p:nvSpPr>
          <p:cNvPr id="313" name="Google Shape;313;p45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https://oss.cs.fau.de</a:t>
            </a:r>
            <a:r>
              <a:rPr b="0" lang="en" sz="900">
                <a:solidFill>
                  <a:schemeClr val="dk2"/>
                </a:solidFill>
              </a:rPr>
              <a:t> </a:t>
            </a:r>
            <a:endParaRPr>
              <a:solidFill>
                <a:schemeClr val="dk2"/>
              </a:solidFill>
            </a:endParaRPr>
          </a:p>
        </p:txBody>
      </p:sp>
      <p:sp>
        <p:nvSpPr>
          <p:cNvPr id="314" name="Google Shape;314;p45"/>
          <p:cNvSpPr txBox="1"/>
          <p:nvPr/>
        </p:nvSpPr>
        <p:spPr>
          <a:xfrm>
            <a:off x="0" y="4229100"/>
            <a:ext cx="7315200" cy="9144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[1] See </a:t>
            </a:r>
            <a:r>
              <a:rPr lang="en" u="sng">
                <a:solidFill>
                  <a:schemeClr val="hlink"/>
                </a:solidFill>
                <a:hlinkClick r:id="rId4"/>
              </a:rPr>
              <a:t>https://amturing.acm.org/</a:t>
            </a:r>
            <a:r>
              <a:rPr lang="en"/>
              <a:t> </a:t>
            </a:r>
            <a:endParaRPr/>
          </a:p>
        </p:txBody>
      </p:sp>
      <p:pic>
        <p:nvPicPr>
          <p:cNvPr id="315" name="Google Shape;315;p45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274320" y="914400"/>
            <a:ext cx="8595359" cy="343814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20" name="Google Shape;320;p46"/>
          <p:cNvGraphicFramePr/>
          <p:nvPr/>
        </p:nvGraphicFramePr>
        <p:xfrm>
          <a:off x="274320" y="82296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{1D0D3B27-48E7-414E-A840-DF4C97E417E6}</a:tableStyleId>
              </a:tblPr>
              <a:tblGrid>
                <a:gridCol w="8595350"/>
              </a:tblGrid>
              <a:tr h="1224925"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" sz="1100">
                          <a:solidFill>
                            <a:srgbClr val="212121"/>
                          </a:solidFill>
                        </a:rPr>
                        <a:t>VETERINARY MEDICINE PRIZE: </a:t>
                      </a:r>
                      <a:r>
                        <a:rPr lang="en" sz="1100" u="sng">
                          <a:solidFill>
                            <a:schemeClr val="hlink"/>
                          </a:solidFill>
                          <a:hlinkClick r:id="rId3"/>
                        </a:rPr>
                        <a:t>Catherine Douglas</a:t>
                      </a:r>
                      <a:r>
                        <a:rPr lang="en" sz="1100">
                          <a:solidFill>
                            <a:srgbClr val="212121"/>
                          </a:solidFill>
                        </a:rPr>
                        <a:t> and </a:t>
                      </a:r>
                      <a:r>
                        <a:rPr lang="en" sz="1100" u="sng">
                          <a:solidFill>
                            <a:schemeClr val="hlink"/>
                          </a:solidFill>
                          <a:hlinkClick r:id="rId4"/>
                        </a:rPr>
                        <a:t>Peter Rowlinson</a:t>
                      </a:r>
                      <a:r>
                        <a:rPr lang="en" sz="1100">
                          <a:solidFill>
                            <a:srgbClr val="212121"/>
                          </a:solidFill>
                        </a:rPr>
                        <a:t> of Newcastle University, Newcastle-Upon-Tyne, UK, </a:t>
                      </a:r>
                      <a:r>
                        <a:rPr b="1" lang="en" sz="1100">
                          <a:solidFill>
                            <a:srgbClr val="212121"/>
                          </a:solidFill>
                        </a:rPr>
                        <a:t>for showing that cows who have names give more milk than cows that are nameless.</a:t>
                      </a:r>
                      <a:endParaRPr b="1" sz="1100">
                        <a:solidFill>
                          <a:srgbClr val="212121"/>
                        </a:solidFill>
                      </a:endParaRPr>
                    </a:p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" sz="1100">
                          <a:solidFill>
                            <a:srgbClr val="212121"/>
                          </a:solidFill>
                        </a:rPr>
                        <a:t>REFERENCE: “</a:t>
                      </a:r>
                      <a:r>
                        <a:rPr lang="en" sz="1100" u="sng">
                          <a:solidFill>
                            <a:schemeClr val="hlink"/>
                          </a:solidFill>
                          <a:hlinkClick r:id="rId5"/>
                        </a:rPr>
                        <a:t>Exploring Stock Managers’ Perceptions of the Human-Animal Relationship on Dairy Farms and an Association with Milk Production</a:t>
                      </a:r>
                      <a:r>
                        <a:rPr lang="en" sz="1100">
                          <a:solidFill>
                            <a:srgbClr val="212121"/>
                          </a:solidFill>
                        </a:rPr>
                        <a:t>,” </a:t>
                      </a:r>
                      <a:r>
                        <a:rPr lang="en" sz="1100" u="sng">
                          <a:solidFill>
                            <a:schemeClr val="hlink"/>
                          </a:solidFill>
                          <a:hlinkClick r:id="rId6"/>
                        </a:rPr>
                        <a:t>Catherine Bertenshaw [Douglas]</a:t>
                      </a:r>
                      <a:r>
                        <a:rPr lang="en" sz="1100">
                          <a:solidFill>
                            <a:srgbClr val="212121"/>
                          </a:solidFill>
                        </a:rPr>
                        <a:t> and </a:t>
                      </a:r>
                      <a:r>
                        <a:rPr lang="en" sz="1100" u="sng">
                          <a:solidFill>
                            <a:schemeClr val="hlink"/>
                          </a:solidFill>
                          <a:hlinkClick r:id="rId7"/>
                        </a:rPr>
                        <a:t>Peter Rowlinson</a:t>
                      </a:r>
                      <a:r>
                        <a:rPr lang="en" sz="1100">
                          <a:solidFill>
                            <a:srgbClr val="212121"/>
                          </a:solidFill>
                        </a:rPr>
                        <a:t>, Anthrozoos, vol. 22, no. 1, March 2009, pp. 59-69. DOI: 10.2752/175303708X390473.</a:t>
                      </a:r>
                      <a:endParaRPr sz="1100">
                        <a:solidFill>
                          <a:srgbClr val="212121"/>
                        </a:solidFill>
                      </a:endParaRPr>
                    </a:p>
                  </a:txBody>
                  <a:tcPr marT="91425" marB="91425" marR="91425" marL="91425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1422075"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" sz="1100">
                          <a:solidFill>
                            <a:srgbClr val="212121"/>
                          </a:solidFill>
                        </a:rPr>
                        <a:t>PEACE PRIZE: Stephan Bolliger, </a:t>
                      </a:r>
                      <a:r>
                        <a:rPr lang="en" sz="1100" u="sng">
                          <a:solidFill>
                            <a:schemeClr val="hlink"/>
                          </a:solidFill>
                          <a:hlinkClick r:id="rId8"/>
                        </a:rPr>
                        <a:t>Steffen Ross</a:t>
                      </a:r>
                      <a:r>
                        <a:rPr lang="en" sz="1100">
                          <a:solidFill>
                            <a:srgbClr val="212121"/>
                          </a:solidFill>
                        </a:rPr>
                        <a:t>, </a:t>
                      </a:r>
                      <a:r>
                        <a:rPr lang="en" sz="1100" u="sng">
                          <a:solidFill>
                            <a:schemeClr val="hlink"/>
                          </a:solidFill>
                          <a:hlinkClick r:id="rId9"/>
                        </a:rPr>
                        <a:t>Lars Oesterhelweg</a:t>
                      </a:r>
                      <a:r>
                        <a:rPr lang="en" sz="1100">
                          <a:solidFill>
                            <a:srgbClr val="212121"/>
                          </a:solidFill>
                        </a:rPr>
                        <a:t>, </a:t>
                      </a:r>
                      <a:r>
                        <a:rPr lang="en" sz="1100" u="sng">
                          <a:solidFill>
                            <a:schemeClr val="hlink"/>
                          </a:solidFill>
                          <a:hlinkClick r:id="rId10"/>
                        </a:rPr>
                        <a:t>Michael Thali</a:t>
                      </a:r>
                      <a:r>
                        <a:rPr lang="en" sz="1100">
                          <a:solidFill>
                            <a:srgbClr val="212121"/>
                          </a:solidFill>
                        </a:rPr>
                        <a:t> and </a:t>
                      </a:r>
                      <a:r>
                        <a:rPr lang="en" sz="1100" u="sng">
                          <a:solidFill>
                            <a:schemeClr val="hlink"/>
                          </a:solidFill>
                          <a:hlinkClick r:id="rId11"/>
                        </a:rPr>
                        <a:t>Beat Kneubuehl</a:t>
                      </a:r>
                      <a:r>
                        <a:rPr lang="en" sz="1100">
                          <a:solidFill>
                            <a:srgbClr val="212121"/>
                          </a:solidFill>
                        </a:rPr>
                        <a:t> of the University of Bern, Switzerland, </a:t>
                      </a:r>
                      <a:r>
                        <a:rPr b="1" lang="en" sz="1100">
                          <a:solidFill>
                            <a:srgbClr val="212121"/>
                          </a:solidFill>
                        </a:rPr>
                        <a:t>for determining — by experiment — whether it is better to be smashed over the head with a full bottle of beer or with an empty bottle.</a:t>
                      </a:r>
                      <a:endParaRPr b="1" sz="1100">
                        <a:solidFill>
                          <a:srgbClr val="212121"/>
                        </a:solidFill>
                      </a:endParaRPr>
                    </a:p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" sz="1100">
                          <a:solidFill>
                            <a:srgbClr val="212121"/>
                          </a:solidFill>
                        </a:rPr>
                        <a:t>REFERENCE: “</a:t>
                      </a:r>
                      <a:r>
                        <a:rPr lang="en" sz="1100" u="sng">
                          <a:solidFill>
                            <a:schemeClr val="hlink"/>
                          </a:solidFill>
                          <a:hlinkClick r:id="rId12"/>
                        </a:rPr>
                        <a:t>Are Full or Empty Beer Bottles Sturdier and Does Their Fracture-Threshold Suffice to Break the Human Skull?</a:t>
                      </a:r>
                      <a:r>
                        <a:rPr lang="en" sz="1100">
                          <a:solidFill>
                            <a:srgbClr val="212121"/>
                          </a:solidFill>
                        </a:rPr>
                        <a:t>” Stephan A. Bolliger, Steffen Ross, Lars Oesterhelweg, Michael J. Thali and Beat P. Kneubuehl, Journal of Forensic and Legal Medicine, vol. 16, no. 3, April 2009, pp. 138-42. DOI:10.1016/j.jflm.2008.07.013.</a:t>
                      </a:r>
                      <a:endParaRPr sz="1100">
                        <a:solidFill>
                          <a:srgbClr val="212121"/>
                        </a:solidFill>
                      </a:endParaRPr>
                    </a:p>
                  </a:txBody>
                  <a:tcPr marT="91425" marB="91425" marR="91425" marL="91425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1"/>
                    </a:solidFill>
                  </a:tcPr>
                </a:tc>
              </a:tr>
              <a:tr h="1422075"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" sz="1100">
                          <a:solidFill>
                            <a:srgbClr val="212121"/>
                          </a:solidFill>
                        </a:rPr>
                        <a:t>PUBLIC HEALTH PRIZE: </a:t>
                      </a:r>
                      <a:r>
                        <a:rPr lang="en" sz="1100" u="sng">
                          <a:solidFill>
                            <a:schemeClr val="hlink"/>
                          </a:solidFill>
                          <a:hlinkClick r:id="rId13"/>
                        </a:rPr>
                        <a:t>Elena N. Bodnar</a:t>
                      </a:r>
                      <a:r>
                        <a:rPr lang="en" sz="1100">
                          <a:solidFill>
                            <a:srgbClr val="212121"/>
                          </a:solidFill>
                        </a:rPr>
                        <a:t>, Raphael C. Lee, and Sandra Marijan of</a:t>
                      </a:r>
                      <a:br>
                        <a:rPr lang="en" sz="1100">
                          <a:solidFill>
                            <a:srgbClr val="212121"/>
                          </a:solidFill>
                        </a:rPr>
                      </a:br>
                      <a:r>
                        <a:rPr lang="en" sz="1100">
                          <a:solidFill>
                            <a:srgbClr val="212121"/>
                          </a:solidFill>
                        </a:rPr>
                        <a:t>Chicago, Illinois, USA, </a:t>
                      </a:r>
                      <a:r>
                        <a:rPr b="1" lang="en" sz="1100">
                          <a:solidFill>
                            <a:srgbClr val="212121"/>
                          </a:solidFill>
                        </a:rPr>
                        <a:t>for inventing a </a:t>
                      </a:r>
                      <a:r>
                        <a:rPr b="1" lang="en" sz="1100" u="sng">
                          <a:solidFill>
                            <a:schemeClr val="hlink"/>
                          </a:solidFill>
                          <a:hlinkClick r:id="rId14"/>
                        </a:rPr>
                        <a:t>brassiere that, in an emergency, can be</a:t>
                      </a:r>
                      <a:br>
                        <a:rPr b="1" lang="en" sz="1100" u="sng">
                          <a:solidFill>
                            <a:schemeClr val="hlink"/>
                          </a:solidFill>
                          <a:hlinkClick r:id="rId15"/>
                        </a:rPr>
                      </a:br>
                      <a:r>
                        <a:rPr b="1" lang="en" sz="1100" u="sng">
                          <a:solidFill>
                            <a:schemeClr val="hlink"/>
                          </a:solidFill>
                          <a:hlinkClick r:id="rId16"/>
                        </a:rPr>
                        <a:t>quickly converted into a pair of protective face masks</a:t>
                      </a:r>
                      <a:r>
                        <a:rPr b="1" lang="en" sz="1100">
                          <a:solidFill>
                            <a:srgbClr val="212121"/>
                          </a:solidFill>
                        </a:rPr>
                        <a:t>, one for the brassiere</a:t>
                      </a:r>
                      <a:br>
                        <a:rPr b="1" lang="en" sz="1100">
                          <a:solidFill>
                            <a:srgbClr val="212121"/>
                          </a:solidFill>
                        </a:rPr>
                      </a:br>
                      <a:r>
                        <a:rPr b="1" lang="en" sz="1100">
                          <a:solidFill>
                            <a:srgbClr val="212121"/>
                          </a:solidFill>
                        </a:rPr>
                        <a:t>wearer and one to be given to some needy bystander.</a:t>
                      </a:r>
                      <a:endParaRPr b="1" sz="1100">
                        <a:solidFill>
                          <a:srgbClr val="212121"/>
                        </a:solidFill>
                      </a:endParaRPr>
                    </a:p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" sz="1100">
                          <a:solidFill>
                            <a:srgbClr val="212121"/>
                          </a:solidFill>
                        </a:rPr>
                        <a:t>REFERENCE: U.S. patent # 725562</a:t>
                      </a:r>
                      <a:r>
                        <a:rPr lang="en" sz="1100"/>
                        <a:t>7, granted August 14, 2007 for</a:t>
                      </a:r>
                      <a:r>
                        <a:rPr lang="en" sz="1100">
                          <a:solidFill>
                            <a:srgbClr val="212121"/>
                          </a:solidFill>
                        </a:rPr>
                        <a:t> a</a:t>
                      </a:r>
                      <a:br>
                        <a:rPr lang="en" sz="1100">
                          <a:solidFill>
                            <a:srgbClr val="212121"/>
                          </a:solidFill>
                        </a:rPr>
                      </a:br>
                      <a:r>
                        <a:rPr lang="en" sz="1100">
                          <a:solidFill>
                            <a:srgbClr val="212121"/>
                          </a:solidFill>
                        </a:rPr>
                        <a:t>“</a:t>
                      </a:r>
                      <a:r>
                        <a:rPr lang="en" sz="1100" u="sng">
                          <a:solidFill>
                            <a:schemeClr val="hlink"/>
                          </a:solidFill>
                          <a:hlinkClick r:id="rId17"/>
                        </a:rPr>
                        <a:t>Garment Device Convertible to One or More Facemasks</a:t>
                      </a:r>
                      <a:r>
                        <a:rPr lang="en" sz="1100">
                          <a:solidFill>
                            <a:srgbClr val="212121"/>
                          </a:solidFill>
                        </a:rPr>
                        <a:t>.”</a:t>
                      </a:r>
                      <a:endParaRPr sz="1100">
                        <a:solidFill>
                          <a:srgbClr val="212121"/>
                        </a:solidFill>
                      </a:endParaRPr>
                    </a:p>
                  </a:txBody>
                  <a:tcPr marT="91425" marB="91425" marR="91425" marL="91425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</a:tbl>
          </a:graphicData>
        </a:graphic>
      </p:graphicFrame>
      <p:sp>
        <p:nvSpPr>
          <p:cNvPr id="321" name="Google Shape;321;p46"/>
          <p:cNvSpPr txBox="1"/>
          <p:nvPr/>
        </p:nvSpPr>
        <p:spPr>
          <a:xfrm>
            <a:off x="0" y="4233672"/>
            <a:ext cx="7315200" cy="9144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[1] See </a:t>
            </a:r>
            <a:r>
              <a:rPr lang="en" u="sng">
                <a:solidFill>
                  <a:schemeClr val="hlink"/>
                </a:solidFill>
                <a:hlinkClick r:id="rId18"/>
              </a:rPr>
              <a:t>https://improbable.com/</a:t>
            </a:r>
            <a:r>
              <a:rPr lang="en"/>
              <a:t> </a:t>
            </a:r>
            <a:endParaRPr/>
          </a:p>
        </p:txBody>
      </p:sp>
      <p:sp>
        <p:nvSpPr>
          <p:cNvPr id="322" name="Google Shape;322;p46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The 2009 Ig Nobel Prizes [1]</a:t>
            </a:r>
            <a:endParaRPr/>
          </a:p>
        </p:txBody>
      </p:sp>
      <p:sp>
        <p:nvSpPr>
          <p:cNvPr id="323" name="Google Shape;323;p46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19"/>
              </a:rPr>
              <a:t>https://oss.cs.fau.de</a:t>
            </a:r>
            <a:r>
              <a:rPr b="0" lang="en" sz="900">
                <a:solidFill>
                  <a:schemeClr val="dk2"/>
                </a:solidFill>
              </a:rPr>
              <a:t> </a:t>
            </a:r>
            <a:endParaRPr b="0" sz="900">
              <a:solidFill>
                <a:schemeClr val="dk2"/>
              </a:solidFill>
            </a:endParaRPr>
          </a:p>
        </p:txBody>
      </p:sp>
      <p:pic>
        <p:nvPicPr>
          <p:cNvPr id="324" name="Google Shape;324;p46"/>
          <p:cNvPicPr preferRelativeResize="0"/>
          <p:nvPr/>
        </p:nvPicPr>
        <p:blipFill>
          <a:blip r:embed="rId20">
            <a:alphaModFix/>
          </a:blip>
          <a:stretch>
            <a:fillRect/>
          </a:stretch>
        </p:blipFill>
        <p:spPr>
          <a:xfrm>
            <a:off x="5806440" y="3163824"/>
            <a:ext cx="2509500" cy="16697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47"/>
          <p:cNvSpPr txBox="1"/>
          <p:nvPr>
            <p:ph type="title"/>
          </p:nvPr>
        </p:nvSpPr>
        <p:spPr>
          <a:xfrm>
            <a:off x="0" y="-7"/>
            <a:ext cx="9144000" cy="2386500"/>
          </a:xfrm>
          <a:prstGeom prst="rect">
            <a:avLst/>
          </a:prstGeom>
        </p:spPr>
        <p:txBody>
          <a:bodyPr anchorCtr="0" anchor="b" bIns="274300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6. Research Ethics</a:t>
            </a:r>
            <a:endParaRPr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Research, the Researcher, and Ethics</a:t>
            </a:r>
            <a:endParaRPr/>
          </a:p>
        </p:txBody>
      </p:sp>
      <p:sp>
        <p:nvSpPr>
          <p:cNvPr id="335" name="Google Shape;335;p48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https://oss.cs.fau.de</a:t>
            </a:r>
            <a:r>
              <a:rPr b="0" lang="en" sz="900">
                <a:solidFill>
                  <a:schemeClr val="dk2"/>
                </a:solidFill>
              </a:rPr>
              <a:t> </a:t>
            </a:r>
            <a:endParaRPr b="0" sz="900">
              <a:solidFill>
                <a:schemeClr val="dk2"/>
              </a:solidFill>
            </a:endParaRPr>
          </a:p>
        </p:txBody>
      </p:sp>
      <p:sp>
        <p:nvSpPr>
          <p:cNvPr id="336" name="Google Shape;336;p48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Your ethics as well as ethical standards provide criteria of what and what not to do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"/>
              <a:t>You are your own agent and cannot delegate (or hide from) responsibility</a:t>
            </a:r>
            <a:endParaRPr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Escalation Levels of Responsibility</a:t>
            </a:r>
            <a:endParaRPr/>
          </a:p>
        </p:txBody>
      </p:sp>
      <p:sp>
        <p:nvSpPr>
          <p:cNvPr id="342" name="Google Shape;342;p49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https://oss.cs.fau.de</a:t>
            </a:r>
            <a:r>
              <a:rPr b="0" lang="en" sz="900">
                <a:solidFill>
                  <a:schemeClr val="dk2"/>
                </a:solidFill>
              </a:rPr>
              <a:t> </a:t>
            </a:r>
            <a:endParaRPr b="0" sz="900">
              <a:solidFill>
                <a:schemeClr val="dk2"/>
              </a:solidFill>
            </a:endParaRPr>
          </a:p>
        </p:txBody>
      </p:sp>
      <p:graphicFrame>
        <p:nvGraphicFramePr>
          <p:cNvPr id="343" name="Google Shape;343;p49"/>
          <p:cNvGraphicFramePr/>
          <p:nvPr/>
        </p:nvGraphicFramePr>
        <p:xfrm>
          <a:off x="274320" y="9144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{1D0D3B27-48E7-414E-A840-DF4C97E417E6}</a:tableStyleId>
              </a:tblPr>
              <a:tblGrid>
                <a:gridCol w="2468925"/>
                <a:gridCol w="1531600"/>
                <a:gridCol w="1531600"/>
                <a:gridCol w="1531600"/>
                <a:gridCol w="1531600"/>
              </a:tblGrid>
              <a:tr h="731500"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>
                          <a:solidFill>
                            <a:schemeClr val="lt1"/>
                          </a:solidFill>
                        </a:rPr>
                        <a:t>Party</a:t>
                      </a:r>
                      <a:endParaRPr b="1">
                        <a:solidFill>
                          <a:schemeClr val="lt1"/>
                        </a:solidFill>
                      </a:endParaRPr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dk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>
                          <a:solidFill>
                            <a:schemeClr val="lt1"/>
                          </a:solidFill>
                        </a:rPr>
                        <a:t>Country</a:t>
                      </a:r>
                      <a:endParaRPr b="1">
                        <a:solidFill>
                          <a:schemeClr val="lt1"/>
                        </a:solidFill>
                      </a:endParaRPr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dk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>
                          <a:solidFill>
                            <a:schemeClr val="lt1"/>
                          </a:solidFill>
                        </a:rPr>
                        <a:t>Program sponsor</a:t>
                      </a:r>
                      <a:endParaRPr b="1">
                        <a:solidFill>
                          <a:schemeClr val="lt1"/>
                        </a:solidFill>
                      </a:endParaRPr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dk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>
                          <a:solidFill>
                            <a:schemeClr val="lt1"/>
                          </a:solidFill>
                        </a:rPr>
                        <a:t>Principal investigator</a:t>
                      </a:r>
                      <a:endParaRPr b="1">
                        <a:solidFill>
                          <a:schemeClr val="lt1"/>
                        </a:solidFill>
                      </a:endParaRPr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dk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>
                          <a:solidFill>
                            <a:schemeClr val="lt1"/>
                          </a:solidFill>
                        </a:rPr>
                        <a:t>Individual researcher</a:t>
                      </a:r>
                      <a:endParaRPr b="1">
                        <a:solidFill>
                          <a:schemeClr val="lt1"/>
                        </a:solidFill>
                      </a:endParaRPr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dk2"/>
                    </a:solidFill>
                  </a:tcPr>
                </a:tc>
              </a:tr>
              <a:tr h="73150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Laws</a:t>
                      </a:r>
                      <a:endParaRPr/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/>
                        <a:t>x</a:t>
                      </a:r>
                      <a:endParaRPr b="1"/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/>
                        <a:t>x</a:t>
                      </a:r>
                      <a:endParaRPr b="1"/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/>
                        <a:t>x</a:t>
                      </a:r>
                      <a:endParaRPr b="1"/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/>
                        <a:t>x</a:t>
                      </a:r>
                      <a:endParaRPr b="1"/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73150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Ethical standards</a:t>
                      </a:r>
                      <a:endParaRPr/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b="1"/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/>
                        <a:t>x</a:t>
                      </a:r>
                      <a:endParaRPr b="1"/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/>
                        <a:t>x</a:t>
                      </a:r>
                      <a:endParaRPr b="1"/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/>
                        <a:t>x</a:t>
                      </a:r>
                      <a:endParaRPr b="1"/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1"/>
                    </a:solidFill>
                  </a:tcPr>
                </a:tc>
              </a:tr>
              <a:tr h="73150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Project obligations</a:t>
                      </a:r>
                      <a:endParaRPr/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/>
                        <a:t>x</a:t>
                      </a:r>
                      <a:endParaRPr b="1"/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/>
                        <a:t>x</a:t>
                      </a:r>
                      <a:endParaRPr b="1"/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73150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Personal value system</a:t>
                      </a:r>
                      <a:endParaRPr/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b="1"/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b="1"/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b="1"/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/>
                        <a:t>x</a:t>
                      </a:r>
                      <a:endParaRPr b="1"/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1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>
            <p:ph idx="1" type="body"/>
          </p:nvPr>
        </p:nvSpPr>
        <p:spPr>
          <a:xfrm>
            <a:off x="274320" y="914400"/>
            <a:ext cx="4114800" cy="4114800"/>
          </a:xfrm>
          <a:prstGeom prst="rect">
            <a:avLst/>
          </a:prstGeom>
        </p:spPr>
        <p:txBody>
          <a:bodyPr anchorCtr="0" anchor="t" bIns="91425" lIns="0" spcFirstLastPara="1" rIns="91425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/>
              <a:t>Informed consent </a:t>
            </a:r>
            <a:r>
              <a:rPr lang="en"/>
              <a:t>is given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When a participant received all relevant information and explicitly agreed to participate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(Sufficient) </a:t>
            </a:r>
            <a:r>
              <a:rPr b="1" lang="en"/>
              <a:t>confidentiality</a:t>
            </a:r>
            <a:r>
              <a:rPr lang="en"/>
              <a:t> is given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When participants remain anonymous and data confidential to the extent possible  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  <p:sp>
        <p:nvSpPr>
          <p:cNvPr id="349" name="Google Shape;349;p50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0" lIns="27430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Ethical Conduct in Software Engineering Research [1]</a:t>
            </a:r>
            <a:endParaRPr/>
          </a:p>
        </p:txBody>
      </p:sp>
      <p:sp>
        <p:nvSpPr>
          <p:cNvPr id="350" name="Google Shape;350;p50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https://oss.cs.fau.de</a:t>
            </a:r>
            <a:endParaRPr>
              <a:solidFill>
                <a:schemeClr val="dk2"/>
              </a:solidFill>
            </a:endParaRPr>
          </a:p>
        </p:txBody>
      </p:sp>
      <p:sp>
        <p:nvSpPr>
          <p:cNvPr id="351" name="Google Shape;351;p50"/>
          <p:cNvSpPr txBox="1"/>
          <p:nvPr>
            <p:ph idx="2" type="body"/>
          </p:nvPr>
        </p:nvSpPr>
        <p:spPr>
          <a:xfrm>
            <a:off x="4846320" y="914400"/>
            <a:ext cx="41148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/>
              <a:t>Scientific value </a:t>
            </a:r>
            <a:r>
              <a:rPr lang="en"/>
              <a:t>is given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When relative to other work the combined rigor and relevance outweighs the competition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b="1" lang="en"/>
              <a:t>Beneficence</a:t>
            </a:r>
            <a:r>
              <a:rPr lang="en"/>
              <a:t> is given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When the expected gains far outweigh any harms that might result from the research</a:t>
            </a:r>
            <a:endParaRPr/>
          </a:p>
        </p:txBody>
      </p:sp>
      <p:sp>
        <p:nvSpPr>
          <p:cNvPr id="352" name="Google Shape;352;p50"/>
          <p:cNvSpPr txBox="1"/>
          <p:nvPr/>
        </p:nvSpPr>
        <p:spPr>
          <a:xfrm>
            <a:off x="0" y="4233675"/>
            <a:ext cx="9144000" cy="9144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[1] See </a:t>
            </a:r>
            <a:r>
              <a:rPr lang="en" u="sng">
                <a:solidFill>
                  <a:schemeClr val="hlink"/>
                </a:solidFill>
                <a:hlinkClick r:id="rId4"/>
              </a:rPr>
              <a:t>Singer &amp; Vinson (2002)</a:t>
            </a:r>
            <a:r>
              <a:rPr lang="en"/>
              <a:t>: Ethical issues in empirical studies of software engineering.</a:t>
            </a:r>
            <a:endParaRPr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56" name="Shape 3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7" name="Google Shape;357;p51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How Do You Assess These Experiments?</a:t>
            </a:r>
            <a:endParaRPr/>
          </a:p>
        </p:txBody>
      </p:sp>
      <p:sp>
        <p:nvSpPr>
          <p:cNvPr id="358" name="Google Shape;358;p51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Buggy kernel patches (U Missouri, 2021) [1]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The ice cream sadist (Harvard, 2004) [2]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r/ChangeMyView (U Zurich, 2025) [3]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  <p:sp>
        <p:nvSpPr>
          <p:cNvPr id="359" name="Google Shape;359;p51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https://oss.cs.fau.de</a:t>
            </a:r>
            <a:r>
              <a:rPr b="0" lang="en" sz="900">
                <a:solidFill>
                  <a:schemeClr val="dk2"/>
                </a:solidFill>
              </a:rPr>
              <a:t> </a:t>
            </a:r>
            <a:endParaRPr b="0" sz="900">
              <a:solidFill>
                <a:schemeClr val="dk2"/>
              </a:solidFill>
            </a:endParaRPr>
          </a:p>
        </p:txBody>
      </p:sp>
      <p:sp>
        <p:nvSpPr>
          <p:cNvPr id="360" name="Google Shape;360;p51"/>
          <p:cNvSpPr txBox="1"/>
          <p:nvPr/>
        </p:nvSpPr>
        <p:spPr>
          <a:xfrm>
            <a:off x="0" y="4233675"/>
            <a:ext cx="9144000" cy="914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</a:rPr>
              <a:t>[1] Wu, Q., &amp; Lu, K. Open Source Insecurity: Stealthily Introducing Vulnerabilities via Hypocrite Commits.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</a:rPr>
              <a:t>[2] Daniel T. Gilbert et al. (2004), The Peculiar Longevity of Things Not So Bad.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[3] Can AI Change Your View? Evidence from a Large-Scale Online Field Experiment.</a:t>
            </a:r>
            <a:endParaRPr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64" name="Shape 3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5" name="Google Shape;365;p52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0" lIns="27430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DFG’s Safeguarding Good Scientific Practice [1]</a:t>
            </a:r>
            <a:endParaRPr/>
          </a:p>
        </p:txBody>
      </p:sp>
      <p:sp>
        <p:nvSpPr>
          <p:cNvPr id="366" name="Google Shape;366;p52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https://oss.cs.fau.de</a:t>
            </a:r>
            <a:endParaRPr>
              <a:solidFill>
                <a:schemeClr val="dk2"/>
              </a:solidFill>
            </a:endParaRPr>
          </a:p>
        </p:txBody>
      </p:sp>
      <p:sp>
        <p:nvSpPr>
          <p:cNvPr id="367" name="Google Shape;367;p52"/>
          <p:cNvSpPr txBox="1"/>
          <p:nvPr>
            <p:ph idx="1" type="body"/>
          </p:nvPr>
        </p:nvSpPr>
        <p:spPr>
          <a:xfrm>
            <a:off x="274326" y="914400"/>
            <a:ext cx="4572000" cy="4114800"/>
          </a:xfrm>
          <a:prstGeom prst="rect">
            <a:avLst/>
          </a:prstGeom>
        </p:spPr>
        <p:txBody>
          <a:bodyPr anchorCtr="0" anchor="t" bIns="91425" lIns="0" spcFirstLastPara="1" rIns="91425" wrap="square" tIns="0">
            <a:normAutofit/>
          </a:bodyPr>
          <a:lstStyle/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AutoNum type="arabicPeriod"/>
            </a:pPr>
            <a:r>
              <a:rPr lang="en"/>
              <a:t>Good scientific practice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AutoNum type="arabicPeriod"/>
            </a:pPr>
            <a:r>
              <a:rPr lang="en"/>
              <a:t>Institutional rules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AutoNum type="arabicPeriod"/>
            </a:pPr>
            <a:r>
              <a:rPr lang="en"/>
              <a:t>Organization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AutoNum type="arabicPeriod"/>
            </a:pPr>
            <a:r>
              <a:rPr lang="en"/>
              <a:t>Young scientists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AutoNum type="arabicPeriod"/>
            </a:pPr>
            <a:r>
              <a:rPr lang="en"/>
              <a:t>Impartial counselors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AutoNum type="arabicPeriod"/>
            </a:pPr>
            <a:r>
              <a:rPr lang="en"/>
              <a:t>Performance evaluation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AutoNum type="arabicPeriod"/>
            </a:pPr>
            <a:r>
              <a:rPr lang="en"/>
              <a:t>Data handling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AutoNum type="arabicPeriod"/>
            </a:pPr>
            <a:r>
              <a:rPr lang="en"/>
              <a:t>Procedure for suspected misconduct</a:t>
            </a:r>
            <a:endParaRPr/>
          </a:p>
        </p:txBody>
      </p:sp>
      <p:sp>
        <p:nvSpPr>
          <p:cNvPr id="368" name="Google Shape;368;p52"/>
          <p:cNvSpPr txBox="1"/>
          <p:nvPr>
            <p:ph idx="2" type="body"/>
          </p:nvPr>
        </p:nvSpPr>
        <p:spPr>
          <a:xfrm>
            <a:off x="4846320" y="914400"/>
            <a:ext cx="41148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AutoNum type="arabicPeriod" startAt="9"/>
            </a:pPr>
            <a:r>
              <a:rPr lang="en"/>
              <a:t>Cooperation of institutes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AutoNum type="arabicPeriod" startAt="9"/>
            </a:pPr>
            <a:r>
              <a:rPr lang="en"/>
              <a:t>Learned societies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AutoNum type="arabicPeriod" startAt="9"/>
            </a:pPr>
            <a:r>
              <a:rPr lang="en"/>
              <a:t>Authorship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AutoNum type="arabicPeriod" startAt="9"/>
            </a:pPr>
            <a:r>
              <a:rPr lang="en"/>
              <a:t>Scientific journals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AutoNum type="arabicPeriod" startAt="9"/>
            </a:pPr>
            <a:r>
              <a:rPr lang="en"/>
              <a:t>Guidelines for research proposals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AutoNum type="arabicPeriod" startAt="9"/>
            </a:pPr>
            <a:r>
              <a:rPr lang="en"/>
              <a:t>Rules for the use of funds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AutoNum type="arabicPeriod" startAt="9"/>
            </a:pPr>
            <a:r>
              <a:rPr lang="en"/>
              <a:t>Reviewers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AutoNum type="arabicPeriod" startAt="9"/>
            </a:pPr>
            <a:r>
              <a:rPr lang="en"/>
              <a:t>Ombudsman for science</a:t>
            </a:r>
            <a:endParaRPr/>
          </a:p>
        </p:txBody>
      </p:sp>
      <p:sp>
        <p:nvSpPr>
          <p:cNvPr id="369" name="Google Shape;369;p52"/>
          <p:cNvSpPr txBox="1"/>
          <p:nvPr/>
        </p:nvSpPr>
        <p:spPr>
          <a:xfrm>
            <a:off x="0" y="4233672"/>
            <a:ext cx="7315200" cy="9144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[1] See </a:t>
            </a:r>
            <a:r>
              <a:rPr lang="en" u="sng">
                <a:solidFill>
                  <a:schemeClr val="hlink"/>
                </a:solidFill>
                <a:hlinkClick r:id="rId4"/>
              </a:rPr>
              <a:t>DFG (2019)</a:t>
            </a:r>
            <a:r>
              <a:rPr lang="en"/>
              <a:t>: Guidelines for safeguarding good research practice: Code of conduct.</a:t>
            </a:r>
            <a:endParaRPr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73" name="Shape 3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4" name="Google Shape;374;p53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MPG’s Rules for Safeguarding Scientific Practice [1]</a:t>
            </a:r>
            <a:endParaRPr/>
          </a:p>
        </p:txBody>
      </p:sp>
      <p:sp>
        <p:nvSpPr>
          <p:cNvPr id="375" name="Google Shape;375;p53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AutoNum type="arabicPeriod"/>
            </a:pPr>
            <a:r>
              <a:rPr lang="en"/>
              <a:t>General principles of scientific practice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AutoNum type="arabicPeriod"/>
            </a:pPr>
            <a:r>
              <a:rPr lang="en"/>
              <a:t>Cooperation and leadership responsibility within working groups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AutoNum type="arabicPeriod"/>
            </a:pPr>
            <a:r>
              <a:rPr lang="en"/>
              <a:t>Guidance to junior scientists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AutoNum type="arabicPeriod"/>
            </a:pPr>
            <a:r>
              <a:rPr lang="en"/>
              <a:t>Securing and storing primary data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AutoNum type="arabicPeriod"/>
            </a:pPr>
            <a:r>
              <a:rPr lang="en"/>
              <a:t>Data protection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AutoNum type="arabicPeriod"/>
            </a:pPr>
            <a:r>
              <a:rPr lang="en"/>
              <a:t>Scientific publications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AutoNum type="arabicPeriod"/>
            </a:pPr>
            <a:r>
              <a:rPr lang="en"/>
              <a:t>Conflicts of interest between science and industry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AutoNum type="arabicPeriod"/>
            </a:pPr>
            <a:r>
              <a:rPr lang="en"/>
              <a:t>Appointing ombudspersons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AutoNum type="arabicPeriod"/>
            </a:pPr>
            <a:r>
              <a:rPr lang="en"/>
              <a:t>Whistleblower protection </a:t>
            </a:r>
            <a:endParaRPr/>
          </a:p>
        </p:txBody>
      </p:sp>
      <p:sp>
        <p:nvSpPr>
          <p:cNvPr id="376" name="Google Shape;376;p53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https://oss.cs.fau.de</a:t>
            </a:r>
            <a:r>
              <a:rPr b="0" lang="en" sz="900">
                <a:solidFill>
                  <a:schemeClr val="dk2"/>
                </a:solidFill>
              </a:rPr>
              <a:t> </a:t>
            </a:r>
            <a:endParaRPr b="0" sz="900">
              <a:solidFill>
                <a:schemeClr val="dk2"/>
              </a:solidFill>
            </a:endParaRPr>
          </a:p>
        </p:txBody>
      </p:sp>
      <p:sp>
        <p:nvSpPr>
          <p:cNvPr id="377" name="Google Shape;377;p53"/>
          <p:cNvSpPr txBox="1"/>
          <p:nvPr/>
        </p:nvSpPr>
        <p:spPr>
          <a:xfrm>
            <a:off x="0" y="4233672"/>
            <a:ext cx="7315200" cy="9144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[1] See </a:t>
            </a:r>
            <a:r>
              <a:rPr lang="en" u="sng">
                <a:solidFill>
                  <a:schemeClr val="hlink"/>
                </a:solidFill>
                <a:hlinkClick r:id="rId4"/>
              </a:rPr>
              <a:t>MPG (2009)</a:t>
            </a:r>
            <a:r>
              <a:rPr lang="en"/>
              <a:t>: Regeln zur Sicherung guter wissenschaftlicher Praxis.</a:t>
            </a:r>
            <a:endParaRPr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81" name="Shape 3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2" name="Google Shape;382;p54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Summary</a:t>
            </a:r>
            <a:endParaRPr/>
          </a:p>
        </p:txBody>
      </p:sp>
      <p:sp>
        <p:nvSpPr>
          <p:cNvPr id="383" name="Google Shape;383;p54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https://oss.cs.fau.de</a:t>
            </a:r>
            <a:r>
              <a:rPr b="0" lang="en" sz="900">
                <a:solidFill>
                  <a:schemeClr val="dk2"/>
                </a:solidFill>
              </a:rPr>
              <a:t> </a:t>
            </a:r>
            <a:endParaRPr b="0" sz="900">
              <a:solidFill>
                <a:schemeClr val="dk2"/>
              </a:solidFill>
            </a:endParaRPr>
          </a:p>
        </p:txBody>
      </p:sp>
      <p:sp>
        <p:nvSpPr>
          <p:cNvPr id="384" name="Google Shape;384;p54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AutoNum type="arabicPeriod"/>
            </a:pPr>
            <a:r>
              <a:rPr lang="en"/>
              <a:t>What is science?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AutoNum type="arabicPeriod"/>
            </a:pPr>
            <a:r>
              <a:rPr lang="en"/>
              <a:t>Theory building and validation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AutoNum type="arabicPeriod"/>
            </a:pPr>
            <a:r>
              <a:rPr lang="en"/>
              <a:t>Science as a social system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AutoNum type="arabicPeriod"/>
            </a:pPr>
            <a:r>
              <a:rPr lang="en"/>
              <a:t>Programs and projects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AutoNum type="arabicPeriod"/>
            </a:pPr>
            <a:r>
              <a:rPr lang="en"/>
              <a:t>Science and society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AutoNum type="arabicPeriod"/>
            </a:pPr>
            <a:r>
              <a:rPr lang="en"/>
              <a:t>Research ethics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88" name="Shape 3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9" name="Google Shape;389;p55"/>
          <p:cNvSpPr txBox="1"/>
          <p:nvPr>
            <p:ph type="ctrTitle"/>
          </p:nvPr>
        </p:nvSpPr>
        <p:spPr>
          <a:xfrm>
            <a:off x="0" y="0"/>
            <a:ext cx="9144000" cy="2388900"/>
          </a:xfrm>
          <a:prstGeom prst="rect">
            <a:avLst/>
          </a:prstGeom>
        </p:spPr>
        <p:txBody>
          <a:bodyPr anchorCtr="0" anchor="b" bIns="274300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Thank you! Any questions?</a:t>
            </a:r>
            <a:endParaRPr/>
          </a:p>
        </p:txBody>
      </p:sp>
      <p:sp>
        <p:nvSpPr>
          <p:cNvPr id="390" name="Google Shape;390;p55"/>
          <p:cNvSpPr txBox="1"/>
          <p:nvPr>
            <p:ph idx="1" type="subTitle"/>
          </p:nvPr>
        </p:nvSpPr>
        <p:spPr>
          <a:xfrm>
            <a:off x="0" y="2569475"/>
            <a:ext cx="9144000" cy="2574000"/>
          </a:xfrm>
          <a:prstGeom prst="rect">
            <a:avLst/>
          </a:prstGeom>
        </p:spPr>
        <p:txBody>
          <a:bodyPr anchorCtr="0" anchor="t" bIns="91425" lIns="91425" spcFirstLastPara="1" rIns="91425" wrap="square" tIns="274300">
            <a:noAutofit/>
          </a:bodyPr>
          <a:lstStyle/>
          <a:p>
            <a:pPr indent="0" lvl="0" marL="0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u="sng">
                <a:solidFill>
                  <a:schemeClr val="hlink"/>
                </a:solidFill>
                <a:hlinkClick r:id="rId3"/>
              </a:rPr>
              <a:t>dirk.riehle@fau.de</a:t>
            </a:r>
            <a:r>
              <a:rPr lang="en"/>
              <a:t> </a:t>
            </a:r>
            <a:r>
              <a:rPr lang="en" sz="2400"/>
              <a:t>–</a:t>
            </a:r>
            <a:r>
              <a:rPr lang="en"/>
              <a:t> </a:t>
            </a:r>
            <a:r>
              <a:rPr lang="en" u="sng">
                <a:solidFill>
                  <a:schemeClr val="hlink"/>
                </a:solidFill>
                <a:hlinkClick r:id="rId4"/>
              </a:rPr>
              <a:t>https://oss.cs.fau.de</a:t>
            </a:r>
            <a:endParaRPr/>
          </a:p>
          <a:p>
            <a:pPr indent="0" lvl="0" marL="0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400" u="sng">
                <a:solidFill>
                  <a:schemeClr val="hlink"/>
                </a:solidFill>
                <a:hlinkClick r:id="rId5"/>
              </a:rPr>
              <a:t>dirk@riehle.org</a:t>
            </a:r>
            <a:r>
              <a:rPr lang="en" sz="2400"/>
              <a:t> – </a:t>
            </a:r>
            <a:r>
              <a:rPr lang="en" sz="2400" u="sng">
                <a:solidFill>
                  <a:schemeClr val="hlink"/>
                </a:solidFill>
                <a:hlinkClick r:id="rId6"/>
              </a:rPr>
              <a:t>https://dirkriehle.com</a:t>
            </a:r>
            <a:r>
              <a:rPr lang="en" sz="2400"/>
              <a:t> – </a:t>
            </a:r>
            <a:r>
              <a:rPr lang="en" sz="2400" u="sng">
                <a:solidFill>
                  <a:schemeClr val="hlink"/>
                </a:solidFill>
                <a:hlinkClick r:id="rId7"/>
              </a:rPr>
              <a:t>@dirkriehle</a:t>
            </a:r>
            <a:endParaRPr sz="2400"/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94" name="Shape 3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5" name="Google Shape;395;p56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Legal Notices</a:t>
            </a:r>
            <a:endParaRPr/>
          </a:p>
        </p:txBody>
      </p:sp>
      <p:sp>
        <p:nvSpPr>
          <p:cNvPr id="396" name="Google Shape;396;p56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https://oss.cs.fau.de</a:t>
            </a:r>
            <a:r>
              <a:rPr b="0" lang="en" sz="900">
                <a:solidFill>
                  <a:schemeClr val="dk2"/>
                </a:solidFill>
              </a:rPr>
              <a:t> </a:t>
            </a:r>
            <a:endParaRPr b="0" sz="900">
              <a:solidFill>
                <a:schemeClr val="dk2"/>
              </a:solidFill>
            </a:endParaRPr>
          </a:p>
        </p:txBody>
      </p:sp>
      <p:sp>
        <p:nvSpPr>
          <p:cNvPr id="397" name="Google Shape;397;p56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License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Licensed under the </a:t>
            </a:r>
            <a:r>
              <a:rPr lang="en" u="sng">
                <a:solidFill>
                  <a:schemeClr val="hlink"/>
                </a:solidFill>
                <a:hlinkClick r:id="rId4"/>
              </a:rPr>
              <a:t>CC BY 4.0 International</a:t>
            </a:r>
            <a:r>
              <a:rPr lang="en"/>
              <a:t> license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Copyright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© 2012-2026 Dirk Riehle, some rights reserved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POSS Slides Template">
  <a:themeElements>
    <a:clrScheme name="Simple Light">
      <a:dk1>
        <a:srgbClr val="000000"/>
      </a:dk1>
      <a:lt1>
        <a:srgbClr val="FFFFFF"/>
      </a:lt1>
      <a:dk2>
        <a:srgbClr val="404040"/>
      </a:dk2>
      <a:lt2>
        <a:srgbClr val="808080"/>
      </a:lt2>
      <a:accent1>
        <a:srgbClr val="D0D0D0"/>
      </a:accent1>
      <a:accent2>
        <a:srgbClr val="4169E1"/>
      </a:accent2>
      <a:accent3>
        <a:srgbClr val="4CAF50"/>
      </a:accent3>
      <a:accent4>
        <a:srgbClr val="FEB612"/>
      </a:accent4>
      <a:accent5>
        <a:srgbClr val="F36838"/>
      </a:accent5>
      <a:accent6>
        <a:srgbClr val="8E44AD"/>
      </a:accent6>
      <a:hlink>
        <a:srgbClr val="1E90FF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
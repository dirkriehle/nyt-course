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8B765E-CCCD-40CA-A58D-B966A8F26E5C}">
  <a:tblStyle styleId="{318B765E-CCCD-40CA-A58D-B966A8F26E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22c2530a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22c2530a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0b1f6a61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10b1f6a61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0b1f6a61c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10b1f6a61c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0b1f6a61c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0b1f6a61c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6c08e60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26c08e60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db5ccdf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db5ccdf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c20d0728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c20d0728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b1f6a61c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b1f6a61c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b1f6a61c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0b1f6a61c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4990fbb6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4990fbb6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b1f6a61c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0b1f6a61c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e740d6d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2e740d6d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b1f6a61c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0b1f6a61c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b1f6a61c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0b1f6a61c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0b1f6a61c9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0b1f6a61c9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0b1f6a61c9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0b1f6a61c9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0b1f6a61c9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0b1f6a61c9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24990fbb6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24990fbb6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25ac54983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25ac5498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25ac54983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25ac54983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f58dc2809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f58dc2809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0b1f6a61c9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0b1f6a61c9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28c488f74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28c488f74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b1f6a61c9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b1f6a61c9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0b1f6a61c9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0b1f6a61c9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0e751f47f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0e751f47f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0db62341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0db62341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0e751f47f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0e751f47f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0b1f6a61c9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0b1f6a61c9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0e751f47f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0e751f47f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0e751f47f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0e751f47f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e751f47f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0e751f47f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0e751f47f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0e751f47f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0b1f6a61c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0b1f6a61c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0b1f6a61c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0b1f6a61c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0b1f6a61c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0b1f6a61c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0b1f6a61c9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0b1f6a61c9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b1f6a61c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b1f6a61c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0b1f6a61c9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0b1f6a61c9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246c69a0e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246c69a0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246c69a0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246c69a0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0e751f47f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0e751f47f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0e751f47f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0e751f47f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0b1f6a61c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0b1f6a61c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39613ad45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39613ad45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39613ad45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39613ad45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en.wikipedia.org/wiki/Maxwell%27s_equations" TargetMode="External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document/d/1JPE60ZoqYVrdAve0G_c0qy0g_M7_B_FLhP5qmaQ4mqI/edit?tab=t.0#heading=h.mxlpptrxvs9v" TargetMode="External"/><Relationship Id="rId4" Type="http://schemas.openxmlformats.org/officeDocument/2006/relationships/hyperlink" Target="http://uni1.de/nyt" TargetMode="External"/><Relationship Id="rId5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uni1.de/ny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docs.google.com/document/d/1JPE60ZoqYVrdAve0G_c0qy0g_M7_B_FLhP5qmaQ4mqI/edit?tab=t.0#heading=h.mxlpptrxvs9v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uni1.de/ny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uni1.de/ny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uni1.de/ny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uni1.de/ny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uni1.de/ny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uni1.de/ny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uni1.de/ny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uni1.de/ny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uni1.de/ny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uni1.de/nyt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uni1.de/nyt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uni1.de/ny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uni1.de/ny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www.nobelprize.org/" TargetMode="External"/><Relationship Id="rId5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amturing.acm.org/" TargetMode="External"/><Relationship Id="rId5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.png"/><Relationship Id="rId11" Type="http://schemas.openxmlformats.org/officeDocument/2006/relationships/hyperlink" Target="http://kneubuehl.com/wiki/doku.php?id=start" TargetMode="External"/><Relationship Id="rId10" Type="http://schemas.openxmlformats.org/officeDocument/2006/relationships/hyperlink" Target="http://www.virtopsy.com/index.php/team/current-members/1-michael-j-thali" TargetMode="External"/><Relationship Id="rId13" Type="http://schemas.openxmlformats.org/officeDocument/2006/relationships/hyperlink" Target="http://trmri.org/" TargetMode="External"/><Relationship Id="rId12" Type="http://schemas.openxmlformats.org/officeDocument/2006/relationships/hyperlink" Target="https://dx.doi.org/10.1016/j.jflm.2008.07.013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www.ncl.ac.uk/biomedicine/contact/profile/catherine.douglas" TargetMode="External"/><Relationship Id="rId4" Type="http://schemas.openxmlformats.org/officeDocument/2006/relationships/hyperlink" Target="http://www.ncl.ac.uk/afrd/staff/profile/peter.rowlinson" TargetMode="External"/><Relationship Id="rId9" Type="http://schemas.openxmlformats.org/officeDocument/2006/relationships/hyperlink" Target="http://remed.charite.de/en/institut/forensic_pathology/forensic_pathology_team/" TargetMode="External"/><Relationship Id="rId15" Type="http://schemas.openxmlformats.org/officeDocument/2006/relationships/hyperlink" Target="https://www.ebbra.com/" TargetMode="External"/><Relationship Id="rId14" Type="http://schemas.openxmlformats.org/officeDocument/2006/relationships/hyperlink" Target="https://www.ebbra.com/" TargetMode="External"/><Relationship Id="rId17" Type="http://schemas.openxmlformats.org/officeDocument/2006/relationships/hyperlink" Target="https://patents.google.com/patent/US7255627B2/en?oq=7255627" TargetMode="External"/><Relationship Id="rId16" Type="http://schemas.openxmlformats.org/officeDocument/2006/relationships/hyperlink" Target="https://www.ebbra.com/" TargetMode="External"/><Relationship Id="rId5" Type="http://schemas.openxmlformats.org/officeDocument/2006/relationships/hyperlink" Target="http://www.ingentaconnect.com/content/berg/anthroz/2009/00000022/00000001/art00006" TargetMode="External"/><Relationship Id="rId19" Type="http://schemas.openxmlformats.org/officeDocument/2006/relationships/hyperlink" Target="http://uni1.de/nyt" TargetMode="External"/><Relationship Id="rId6" Type="http://schemas.openxmlformats.org/officeDocument/2006/relationships/hyperlink" Target="http://www.ncl.ac.uk/afrd/staff/profile/catherine.douglas" TargetMode="External"/><Relationship Id="rId18" Type="http://schemas.openxmlformats.org/officeDocument/2006/relationships/hyperlink" Target="https://improbable.com/" TargetMode="External"/><Relationship Id="rId7" Type="http://schemas.openxmlformats.org/officeDocument/2006/relationships/hyperlink" Target="http://www.ncl.ac.uk/afrd/staff/profile/peter.rowlinson" TargetMode="External"/><Relationship Id="rId8" Type="http://schemas.openxmlformats.org/officeDocument/2006/relationships/hyperlink" Target="http://www.virtopsy.com/index.php/team/current-members/3-steffen-ross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uni1.de/nyt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uni1.de/nyt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docs.google.com/document/d/1JPE60ZoqYVrdAve0G_c0qy0g_M7_B_FLhP5qmaQ4mqI/edit?tab=t.0#heading=h.mxlpptrxvs9v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docs.google.com/document/d/1JPE60ZoqYVrdAve0G_c0qy0g_M7_B_FLhP5qmaQ4mqI/edit?tab=t.0#heading=h.mxlpptrxvs9v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docs.google.com/document/d/1JPE60ZoqYVrdAve0G_c0qy0g_M7_B_FLhP5qmaQ4mqI/edit?tab=t.0#heading=h.mxlpptrxvs9v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://uni1.de/nyt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Science?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B01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is science?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building and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Science as a social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Programs and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Science and society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ethics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What is Science?</a:t>
            </a:r>
            <a:endParaRPr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Science (Working Definition, Recap)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914400" y="914400"/>
            <a:ext cx="7315200" cy="365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chemeClr val="accent5"/>
                </a:solidFill>
              </a:rPr>
              <a:t>Science</a:t>
            </a:r>
            <a:r>
              <a:rPr lang="en" sz="3200"/>
              <a:t> is the </a:t>
            </a:r>
            <a:r>
              <a:rPr b="1" lang="en" sz="3200"/>
              <a:t>process of acquiring knowledge</a:t>
            </a:r>
            <a:r>
              <a:rPr lang="en" sz="3200"/>
              <a:t> for </a:t>
            </a:r>
            <a:r>
              <a:rPr b="1" lang="en" sz="3200"/>
              <a:t>correct prediction and reliable outcome.</a:t>
            </a:r>
            <a:r>
              <a:rPr lang="en" sz="3200"/>
              <a:t> [DR]</a:t>
            </a:r>
            <a:endParaRPr sz="3200"/>
          </a:p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Logic and Process of Science</a:t>
            </a:r>
            <a:endParaRPr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Epistemological</a:t>
            </a:r>
            <a:r>
              <a:rPr lang="en"/>
              <a:t> Stances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Objectivism </a:t>
            </a:r>
            <a:r>
              <a:rPr lang="en"/>
              <a:t>(truth is independent of the observer and can be known)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>
                <a:solidFill>
                  <a:schemeClr val="accent5"/>
                </a:solidFill>
              </a:rPr>
              <a:t>Positivism / empiricism</a:t>
            </a:r>
            <a:r>
              <a:rPr b="1" lang="en"/>
              <a:t> </a:t>
            </a:r>
            <a:r>
              <a:rPr lang="en"/>
              <a:t>(truth can be determined and </a:t>
            </a:r>
            <a:r>
              <a:rPr lang="en"/>
              <a:t>verified</a:t>
            </a:r>
            <a:r>
              <a:rPr lang="en"/>
              <a:t> through observation)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Rationalism</a:t>
            </a:r>
            <a:r>
              <a:rPr lang="en"/>
              <a:t> (some truths don’t follow from observation but rather logical thought)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Constructivism</a:t>
            </a:r>
            <a:r>
              <a:rPr lang="en"/>
              <a:t> (truth depends on the observer and is socially negotiated)</a:t>
            </a:r>
            <a:endParaRPr/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scientific </a:t>
            </a:r>
            <a:r>
              <a:rPr b="1" lang="en"/>
              <a:t>theory</a:t>
            </a:r>
            <a:r>
              <a:rPr lang="en"/>
              <a:t> is a model / framework / equation / …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That can be used to create </a:t>
            </a:r>
            <a:r>
              <a:rPr b="1" lang="en"/>
              <a:t>hypotheses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scientific </a:t>
            </a:r>
            <a:r>
              <a:rPr b="1" lang="en"/>
              <a:t>hypothesis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Testable true/false statement about </a:t>
            </a:r>
            <a:r>
              <a:rPr b="1" lang="en"/>
              <a:t>reality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the smallest case, a (generalized) hypothesis is a theory</a:t>
            </a:r>
            <a:endParaRPr/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Reality</a:t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Minimal Theory</a:t>
            </a:r>
            <a:endParaRPr/>
          </a:p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Maxwell’s Equations of (Classic) Electromagnetism</a:t>
            </a:r>
            <a:r>
              <a:rPr lang="en"/>
              <a:t> [1]</a:t>
            </a:r>
            <a:endParaRPr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92" name="Google Shape;92;p16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https://en.wikipedia.org/wiki/Maxwell%27s_equations</a:t>
            </a:r>
            <a:r>
              <a:rPr lang="en"/>
              <a:t> </a:t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0" y="914400"/>
            <a:ext cx="8595359" cy="2664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H1: Social motives </a:t>
            </a:r>
            <a:r>
              <a:rPr lang="en"/>
              <a:t>→</a:t>
            </a:r>
            <a:r>
              <a:rPr lang="en"/>
              <a:t> SVC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H2: Hedonistic motives </a:t>
            </a:r>
            <a:r>
              <a:rPr lang="en"/>
              <a:t>→</a:t>
            </a:r>
            <a:r>
              <a:rPr lang="en"/>
              <a:t> SVC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H3: Moral motives </a:t>
            </a:r>
            <a:r>
              <a:rPr lang="en"/>
              <a:t>→ SVC</a:t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Trinkenreich et al. (2023)</a:t>
            </a:r>
            <a:r>
              <a:rPr lang="en"/>
              <a:t>: Do I belong?</a:t>
            </a:r>
            <a:endParaRPr/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Equation Model of Sense of Virtual Community [1]</a:t>
            </a:r>
            <a:endParaRPr/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395" y="1824950"/>
            <a:ext cx="7315199" cy="2459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idx="2" type="body"/>
          </p:nvPr>
        </p:nvSpPr>
        <p:spPr>
          <a:xfrm>
            <a:off x="4005426" y="914400"/>
            <a:ext cx="49557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H4abc: Power distance x (</a:t>
            </a:r>
            <a:r>
              <a:rPr lang="en"/>
              <a:t>H1, H2, H3 → SVC)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H5abc: Is paid for work x (H1, H2, H3 → SVC)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Sciences (by Subject)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Formal Sciences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Mathematics,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Natural Sciences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Physics, chemistry, biology,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Social Sciences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Psychology, sociology, political science, 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Applied Sciences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Mechanical engineering, computer science, information systems, 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cxnSp>
        <p:nvCxnSpPr>
          <p:cNvPr id="111" name="Google Shape;111;p18"/>
          <p:cNvCxnSpPr/>
          <p:nvPr/>
        </p:nvCxnSpPr>
        <p:spPr>
          <a:xfrm>
            <a:off x="274320" y="3621024"/>
            <a:ext cx="859536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8"/>
          <p:cNvSpPr txBox="1"/>
          <p:nvPr/>
        </p:nvSpPr>
        <p:spPr>
          <a:xfrm>
            <a:off x="4572000" y="3163825"/>
            <a:ext cx="3886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likely to take an analytical approach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likely to take a design science approach</a:t>
            </a:r>
            <a:endParaRPr/>
          </a:p>
        </p:txBody>
      </p:sp>
      <p:cxnSp>
        <p:nvCxnSpPr>
          <p:cNvPr id="113" name="Google Shape;113;p18"/>
          <p:cNvCxnSpPr/>
          <p:nvPr/>
        </p:nvCxnSpPr>
        <p:spPr>
          <a:xfrm>
            <a:off x="274320" y="1737355"/>
            <a:ext cx="85956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8"/>
          <p:cNvSpPr txBox="1"/>
          <p:nvPr/>
        </p:nvSpPr>
        <p:spPr>
          <a:xfrm>
            <a:off x="4572000" y="1280150"/>
            <a:ext cx="3886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Takes a formal approach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Takes an empirical approach</a:t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8562675" y="1371650"/>
            <a:ext cx="274200" cy="7314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8562675" y="3255325"/>
            <a:ext cx="274200" cy="7314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Solving a Problem vs. Building a Theory</a:t>
            </a:r>
            <a:endParaRPr/>
          </a:p>
        </p:txBody>
      </p:sp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Theory to Solve a Problem</a:t>
            </a:r>
            <a:endParaRPr/>
          </a:p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vs. Engineering [1]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Science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defined before (“build to learn”, design science research)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Engineering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application of scientific principles (“learn to build”)</a:t>
            </a:r>
            <a:endParaRPr/>
          </a:p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38" name="Google Shape;138;p21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Brooks (1996)</a:t>
            </a:r>
            <a:r>
              <a:rPr lang="en"/>
              <a:t>: The computer scientist as toolsmith II.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Theory Building and Validation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Building and Validation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Theory building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process of creating and revising (building out) a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Initial creation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Subsequent evaluation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Continued revision and evaluation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Theory validation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process of validating a theory by testing its hypotheses</a:t>
            </a:r>
            <a:endParaRPr/>
          </a:p>
        </p:txBody>
      </p:sp>
      <p:sp>
        <p:nvSpPr>
          <p:cNvPr id="150" name="Google Shape;150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of Theory Building and Validation [1]</a:t>
            </a:r>
            <a:endParaRPr/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57" name="Google Shape;157;p2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Not drawn to scale or effort involved</a:t>
            </a:r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Evaluation vs. Validation [DR]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Theory evaluation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assessment of a theory for the purposes of revising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Theory validation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testing of hypotheses</a:t>
            </a:r>
            <a:r>
              <a:rPr lang="en"/>
              <a:t> to confirm or refute a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Many researchers (sloppily) use these terms interchangeably</a:t>
            </a:r>
            <a:endParaRPr/>
          </a:p>
        </p:txBody>
      </p:sp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and Confirmatory Research</a:t>
            </a:r>
            <a:endParaRPr/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Exploratory research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Theory building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Confirmatory research </a:t>
            </a:r>
            <a:r>
              <a:rPr lang="en"/>
              <a:t>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Theory validation research</a:t>
            </a:r>
            <a:endParaRPr/>
          </a:p>
        </p:txBody>
      </p:sp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Inductive vs. Deductive Research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Inductive research </a:t>
            </a:r>
            <a:r>
              <a:rPr lang="en"/>
              <a:t>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that finds patterns in data to derive a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Deductive research </a:t>
            </a:r>
            <a:r>
              <a:rPr lang="en"/>
              <a:t>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that creates and tests hypotheses from theory</a:t>
            </a:r>
            <a:endParaRPr/>
          </a:p>
        </p:txBody>
      </p:sp>
      <p:sp>
        <p:nvSpPr>
          <p:cNvPr id="179" name="Google Shape;179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vs. Quantitative Research</a:t>
            </a:r>
            <a:endParaRPr/>
          </a:p>
        </p:txBody>
      </p:sp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Qualitative research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that works with </a:t>
            </a:r>
            <a:r>
              <a:rPr b="1" lang="en"/>
              <a:t>qualitative data </a:t>
            </a:r>
            <a:r>
              <a:rPr lang="en"/>
              <a:t>which is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Data collected for characterization using qualitative insight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Not easily measured and counted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Quantitative</a:t>
            </a:r>
            <a:r>
              <a:rPr b="1" lang="en"/>
              <a:t> research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that works with </a:t>
            </a:r>
            <a:r>
              <a:rPr b="1" lang="en"/>
              <a:t>quantitative data</a:t>
            </a:r>
            <a:r>
              <a:rPr lang="en"/>
              <a:t> which is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Data collected for generalization </a:t>
            </a:r>
            <a:r>
              <a:rPr lang="en" sz="1500"/>
              <a:t>through</a:t>
            </a:r>
            <a:r>
              <a:rPr lang="en" sz="1500"/>
              <a:t> statistical analysis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Numerical in some way</a:t>
            </a:r>
            <a:endParaRPr sz="1500"/>
          </a:p>
        </p:txBody>
      </p:sp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 Alignment</a:t>
            </a:r>
            <a:endParaRPr/>
          </a:p>
        </p:txBody>
      </p:sp>
      <p:sp>
        <p:nvSpPr>
          <p:cNvPr id="192" name="Google Shape;192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193" name="Google Shape;193;p29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{318B765E-CCCD-40CA-A58D-B966A8F26E5C}</a:tableStyleId>
              </a:tblPr>
              <a:tblGrid>
                <a:gridCol w="4297675"/>
                <a:gridCol w="4297675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Theory building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Theory validation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Exploratory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Confirmatory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Inductive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Deductive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Qualitative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Quantitative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of Theory Building and Validation</a:t>
            </a:r>
            <a:endParaRPr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process is almost always incremental and iterative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science, there are at least three major scopes of iterations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While building out a single theory on a subject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While building out a </a:t>
            </a:r>
            <a:r>
              <a:rPr lang="en"/>
              <a:t>paradigm through interrelated theories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While replacing an old paradigm with a new one</a:t>
            </a:r>
            <a:endParaRPr/>
          </a:p>
        </p:txBody>
      </p:sp>
      <p:sp>
        <p:nvSpPr>
          <p:cNvPr id="200" name="Google Shape;200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Rigor vs. Relevance</a:t>
            </a:r>
            <a:endParaRPr/>
          </a:p>
        </p:txBody>
      </p:sp>
      <p:sp>
        <p:nvSpPr>
          <p:cNvPr id="206" name="Google Shape;206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07" name="Google Shape;20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Science as a Social System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Scientific Communication</a:t>
            </a:r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research paper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(written) article published in an accredited publication venue like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Academic journals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Conference </a:t>
            </a:r>
            <a:r>
              <a:rPr lang="en"/>
              <a:t>proceedings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Special events / outlets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Other forms of scientific communication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grant proposals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Opinions, letters to the editor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 and private peer reviews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Scientific Quality Assurance (Peer Review)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peer review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quality assessment of scientific communication by a peer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a peer is another scientist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review process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overall </a:t>
            </a:r>
            <a:r>
              <a:rPr lang="en"/>
              <a:t>quality assessment of some scientific writing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Based on (several) peer reviews and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Editorial / committee deliberation </a:t>
            </a:r>
            <a:endParaRPr/>
          </a:p>
        </p:txBody>
      </p:sp>
      <p:sp>
        <p:nvSpPr>
          <p:cNvPr id="226" name="Google Shape;226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Scientific Quality Assurance (Test of Time)</a:t>
            </a:r>
            <a:endParaRPr/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 of </a:t>
            </a:r>
            <a:r>
              <a:rPr b="1" lang="en"/>
              <a:t>paper citations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count of other research papers referencing your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key metric in assessing impact (not necessarily quality)</a:t>
            </a:r>
            <a:endParaRPr/>
          </a:p>
        </p:txBody>
      </p:sp>
      <p:sp>
        <p:nvSpPr>
          <p:cNvPr id="233" name="Google Shape;233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Can be a Researcher / Scientist?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Everyone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are all peers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Some are more peer than others</a:t>
            </a:r>
            <a:r>
              <a:rPr lang="en"/>
              <a:t>.</a:t>
            </a:r>
            <a:endParaRPr/>
          </a:p>
        </p:txBody>
      </p:sp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Programs and Projects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and Project Hierarchy</a:t>
            </a:r>
            <a:endParaRPr/>
          </a:p>
        </p:txBody>
      </p:sp>
      <p:sp>
        <p:nvSpPr>
          <p:cNvPr id="251" name="Google Shape;251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52" name="Google Shape;252;p38"/>
          <p:cNvGraphicFramePr/>
          <p:nvPr/>
        </p:nvGraphicFramePr>
        <p:xfrm>
          <a:off x="274325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{318B765E-CCCD-40CA-A58D-B966A8F26E5C}</a:tableStyleId>
              </a:tblPr>
              <a:tblGrid>
                <a:gridCol w="1689175"/>
                <a:gridCol w="1689175"/>
                <a:gridCol w="5216950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Role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Level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Purpose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Sponsor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Defines a research theme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Funds programs within the theme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Program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manager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Program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Applies for managing a program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If chosen, manages the program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Principal investigator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Projects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Applies for a project within a program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If accepted, carries out the project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Parties</a:t>
            </a:r>
            <a:endParaRPr/>
          </a:p>
        </p:txBody>
      </p:sp>
      <p:sp>
        <p:nvSpPr>
          <p:cNvPr id="258" name="Google Shape;258;p3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59" name="Google Shape;259;p39"/>
          <p:cNvGraphicFramePr/>
          <p:nvPr/>
        </p:nvGraphicFramePr>
        <p:xfrm>
          <a:off x="274325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{318B765E-CCCD-40CA-A58D-B966A8F26E5C}</a:tableStyleId>
              </a:tblPr>
              <a:tblGrid>
                <a:gridCol w="2932275"/>
                <a:gridCol w="5663075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Role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Sponsor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DFG, BMBF, BMWK, …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Program manager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DFG, DLR, VDI/VDE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Principal investigator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 scientist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Theme, Program, and Projects</a:t>
            </a:r>
            <a:endParaRPr/>
          </a:p>
        </p:txBody>
      </p:sp>
      <p:sp>
        <p:nvSpPr>
          <p:cNvPr id="265" name="Google Shape;265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66" name="Google Shape;266;p40"/>
          <p:cNvGraphicFramePr/>
          <p:nvPr/>
        </p:nvGraphicFramePr>
        <p:xfrm>
          <a:off x="274325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{318B765E-CCCD-40CA-A58D-B966A8F26E5C}</a:tableStyleId>
              </a:tblPr>
              <a:tblGrid>
                <a:gridCol w="2932275"/>
                <a:gridCol w="5663075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Level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Example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Theme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Innovation in software engineering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Program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Improving programmer productivity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Projects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How to use chat AIs for code generation?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Is static typing superior to dynamic typing?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Role of Students in Research Projects</a:t>
            </a:r>
            <a:endParaRPr/>
          </a:p>
        </p:txBody>
      </p:sp>
      <p:sp>
        <p:nvSpPr>
          <p:cNvPr id="272" name="Google Shape;272;p4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73" name="Google Shape;273;p41"/>
          <p:cNvGraphicFramePr/>
          <p:nvPr/>
        </p:nvGraphicFramePr>
        <p:xfrm>
          <a:off x="274325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{318B765E-CCCD-40CA-A58D-B966A8F26E5C}</a:tableStyleId>
              </a:tblPr>
              <a:tblGrid>
                <a:gridCol w="2932275"/>
                <a:gridCol w="5663075"/>
              </a:tblGrid>
              <a:tr h="7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Role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Responsibility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Principal investigator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Project / research agenda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Graduate researcher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Major component in project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Final thesis student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●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Contribution to major component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Science and Society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Nobel Prize [1] in Chemistry (2020)</a:t>
            </a:r>
            <a:endParaRPr/>
          </a:p>
        </p:txBody>
      </p:sp>
      <p:sp>
        <p:nvSpPr>
          <p:cNvPr id="284" name="Google Shape;284;p4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85" name="Google Shape;285;p4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https://www.nobelprize.org/</a:t>
            </a:r>
            <a:r>
              <a:rPr lang="en"/>
              <a:t> </a:t>
            </a:r>
            <a:endParaRPr/>
          </a:p>
        </p:txBody>
      </p:sp>
      <p:pic>
        <p:nvPicPr>
          <p:cNvPr id="286" name="Google Shape;28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331" y="914400"/>
            <a:ext cx="7657338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ACM’s A.M. Turing Award [1] (1999)</a:t>
            </a:r>
            <a:endParaRPr/>
          </a:p>
        </p:txBody>
      </p:sp>
      <p:sp>
        <p:nvSpPr>
          <p:cNvPr id="292" name="Google Shape;292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93" name="Google Shape;293;p44"/>
          <p:cNvSpPr txBox="1"/>
          <p:nvPr/>
        </p:nvSpPr>
        <p:spPr>
          <a:xfrm>
            <a:off x="0" y="42291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https://amturing.acm.org/</a:t>
            </a:r>
            <a:r>
              <a:rPr lang="en"/>
              <a:t> </a:t>
            </a:r>
            <a:endParaRPr/>
          </a:p>
        </p:txBody>
      </p:sp>
      <p:pic>
        <p:nvPicPr>
          <p:cNvPr id="294" name="Google Shape;29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0" y="914400"/>
            <a:ext cx="8595359" cy="3438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45"/>
          <p:cNvGraphicFramePr/>
          <p:nvPr/>
        </p:nvGraphicFramePr>
        <p:xfrm>
          <a:off x="274320" y="8229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{318B765E-CCCD-40CA-A58D-B966A8F26E5C}</a:tableStyleId>
              </a:tblPr>
              <a:tblGrid>
                <a:gridCol w="8595350"/>
              </a:tblGrid>
              <a:tr h="1224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VETERINARY MEDICINE PRIZE: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3"/>
                        </a:rPr>
                        <a:t>Catherine Douglas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 and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4"/>
                        </a:rPr>
                        <a:t>Peter Rowlinson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 of Newcastle University, Newcastle-Upon-Tyne, UK, </a:t>
                      </a:r>
                      <a:r>
                        <a:rPr b="1" lang="en" sz="1100">
                          <a:solidFill>
                            <a:srgbClr val="212121"/>
                          </a:solidFill>
                        </a:rPr>
                        <a:t>for showing that cows who have names give more milk than cows that are nameless.</a:t>
                      </a:r>
                      <a:endParaRPr b="1" sz="1100">
                        <a:solidFill>
                          <a:srgbClr val="21212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REFERENCE: “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5"/>
                        </a:rPr>
                        <a:t>Exploring Stock Managers’ Perceptions of the Human-Animal Relationship on Dairy Farms and an Association with Milk Production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,”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6"/>
                        </a:rPr>
                        <a:t>Catherine Bertenshaw [Douglas]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 and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7"/>
                        </a:rPr>
                        <a:t>Peter Rowlinson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, Anthrozoos, vol. 22, no. 1, March 2009, pp. 59-69. DOI: 10.2752/175303708X390473.</a:t>
                      </a:r>
                      <a:endParaRPr sz="1100">
                        <a:solidFill>
                          <a:srgbClr val="21212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2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PEACE PRIZE: Stephan Bolliger,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8"/>
                        </a:rPr>
                        <a:t>Steffen Ross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,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9"/>
                        </a:rPr>
                        <a:t>Lars Oesterhelweg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,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10"/>
                        </a:rPr>
                        <a:t>Michael Thali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 and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11"/>
                        </a:rPr>
                        <a:t>Beat Kneubuehl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 of the University of Bern, Switzerland, </a:t>
                      </a:r>
                      <a:r>
                        <a:rPr b="1" lang="en" sz="1100">
                          <a:solidFill>
                            <a:srgbClr val="212121"/>
                          </a:solidFill>
                        </a:rPr>
                        <a:t>for determining — by experiment — whether it is better to be smashed over the head with a full bottle of beer or with an empty bottle.</a:t>
                      </a:r>
                      <a:endParaRPr b="1" sz="1100">
                        <a:solidFill>
                          <a:srgbClr val="21212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REFERENCE: “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12"/>
                        </a:rPr>
                        <a:t>Are Full or Empty Beer Bottles Sturdier and Does Their Fracture-Threshold Suffice to Break the Human Skull?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” Stephan A. Bolliger, Steffen Ross, Lars Oesterhelweg, Michael J. Thali and Beat P. Kneubuehl, Journal of Forensic and Legal Medicine, vol. 16, no. 3, April 2009, pp. 138-42. DOI:10.1016/j.jflm.2008.07.013.</a:t>
                      </a:r>
                      <a:endParaRPr sz="1100">
                        <a:solidFill>
                          <a:srgbClr val="21212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1422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PUBLIC HEALTH PRIZE: 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13"/>
                        </a:rPr>
                        <a:t>Elena N. Bodnar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, Raphael C. Lee, and Sandra Marijan of</a:t>
                      </a:r>
                      <a:br>
                        <a:rPr lang="en" sz="1100">
                          <a:solidFill>
                            <a:srgbClr val="212121"/>
                          </a:solidFill>
                        </a:rPr>
                      </a:b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Chicago, Illinois, USA, </a:t>
                      </a:r>
                      <a:r>
                        <a:rPr b="1" lang="en" sz="1100">
                          <a:solidFill>
                            <a:srgbClr val="212121"/>
                          </a:solidFill>
                        </a:rPr>
                        <a:t>for inventing a 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14"/>
                        </a:rPr>
                        <a:t>brassiere that, in an emergency, can be</a:t>
                      </a:r>
                      <a:br>
                        <a:rPr b="1" lang="en" sz="1100" u="sng">
                          <a:solidFill>
                            <a:schemeClr val="hlink"/>
                          </a:solidFill>
                          <a:hlinkClick r:id="rId15"/>
                        </a:rPr>
                      </a:br>
                      <a:r>
                        <a:rPr b="1" lang="en" sz="1100" u="sng">
                          <a:solidFill>
                            <a:schemeClr val="hlink"/>
                          </a:solidFill>
                          <a:hlinkClick r:id="rId16"/>
                        </a:rPr>
                        <a:t>quickly converted into a pair of protective face masks</a:t>
                      </a:r>
                      <a:r>
                        <a:rPr b="1" lang="en" sz="1100">
                          <a:solidFill>
                            <a:srgbClr val="212121"/>
                          </a:solidFill>
                        </a:rPr>
                        <a:t>, one for the brassiere</a:t>
                      </a:r>
                      <a:br>
                        <a:rPr b="1" lang="en" sz="1100">
                          <a:solidFill>
                            <a:srgbClr val="212121"/>
                          </a:solidFill>
                        </a:rPr>
                      </a:br>
                      <a:r>
                        <a:rPr b="1" lang="en" sz="1100">
                          <a:solidFill>
                            <a:srgbClr val="212121"/>
                          </a:solidFill>
                        </a:rPr>
                        <a:t>wearer and one to be given to some needy bystander.</a:t>
                      </a:r>
                      <a:endParaRPr b="1" sz="1100">
                        <a:solidFill>
                          <a:srgbClr val="21212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REFERENCE: U.S. patent # 725562</a:t>
                      </a:r>
                      <a:r>
                        <a:rPr lang="en" sz="1100"/>
                        <a:t>7, granted August 14, 2007 for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 a</a:t>
                      </a:r>
                      <a:br>
                        <a:rPr lang="en" sz="1100">
                          <a:solidFill>
                            <a:srgbClr val="212121"/>
                          </a:solidFill>
                        </a:rPr>
                      </a:b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“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hlinkClick r:id="rId17"/>
                        </a:rPr>
                        <a:t>Garment Device Convertible to One or More Facemasks</a:t>
                      </a:r>
                      <a:r>
                        <a:rPr lang="en" sz="1100">
                          <a:solidFill>
                            <a:srgbClr val="212121"/>
                          </a:solidFill>
                        </a:rPr>
                        <a:t>.”</a:t>
                      </a:r>
                      <a:endParaRPr sz="1100">
                        <a:solidFill>
                          <a:srgbClr val="21212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45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18"/>
              </a:rPr>
              <a:t>https://improbable.com/</a:t>
            </a:r>
            <a:r>
              <a:rPr lang="en"/>
              <a:t> </a:t>
            </a:r>
            <a:endParaRPr/>
          </a:p>
        </p:txBody>
      </p:sp>
      <p:sp>
        <p:nvSpPr>
          <p:cNvPr id="301" name="Google Shape;301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2009 Ig Nobel Prizes [1]</a:t>
            </a:r>
            <a:endParaRPr/>
          </a:p>
        </p:txBody>
      </p:sp>
      <p:sp>
        <p:nvSpPr>
          <p:cNvPr id="302" name="Google Shape;302;p4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9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03" name="Google Shape;303;p4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806440" y="3163824"/>
            <a:ext cx="2509500" cy="16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Research Ethics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Research, the Researcher, and Ethics</a:t>
            </a:r>
            <a:endParaRPr/>
          </a:p>
        </p:txBody>
      </p:sp>
      <p:sp>
        <p:nvSpPr>
          <p:cNvPr id="314" name="Google Shape;314;p4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15" name="Google Shape;315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ethics as well as ethical standards provide criteria of what and what not to 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are your own agent and cannot delegate (or hide from) responsibility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Escalation Levels of Responsibility</a:t>
            </a:r>
            <a:endParaRPr/>
          </a:p>
        </p:txBody>
      </p:sp>
      <p:sp>
        <p:nvSpPr>
          <p:cNvPr id="321" name="Google Shape;321;p4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322" name="Google Shape;322;p48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{318B765E-CCCD-40CA-A58D-B966A8F26E5C}</a:tableStyleId>
              </a:tblPr>
              <a:tblGrid>
                <a:gridCol w="2468925"/>
                <a:gridCol w="1531600"/>
                <a:gridCol w="1531600"/>
                <a:gridCol w="1531600"/>
                <a:gridCol w="1531600"/>
              </a:tblGrid>
              <a:tr h="731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Party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Country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Program sponsor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Principal investigator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Individual researcher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Laws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Ethical standards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Project obligations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Personal value system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Informed consent </a:t>
            </a:r>
            <a:r>
              <a:rPr lang="en"/>
              <a:t>is given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 participant received all relevant information and explicitly agreed to participate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(Sufficient) </a:t>
            </a:r>
            <a:r>
              <a:rPr b="1" lang="en"/>
              <a:t>confidentiality</a:t>
            </a:r>
            <a:r>
              <a:rPr lang="en"/>
              <a:t> is given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participants remain anonymous and data confidential to the extent possible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Conduct in Software Engineering Research [1]</a:t>
            </a:r>
            <a:endParaRPr/>
          </a:p>
        </p:txBody>
      </p:sp>
      <p:sp>
        <p:nvSpPr>
          <p:cNvPr id="329" name="Google Shape;329;p4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30" name="Google Shape;330;p49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Scientific value </a:t>
            </a:r>
            <a:r>
              <a:rPr lang="en"/>
              <a:t>is given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relative to other work the combined rigor and relevance outweighs the competition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Beneficence</a:t>
            </a:r>
            <a:r>
              <a:rPr lang="en"/>
              <a:t> is given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the expected gains far outweigh any harms that might result from the research</a:t>
            </a:r>
            <a:endParaRPr/>
          </a:p>
        </p:txBody>
      </p:sp>
      <p:sp>
        <p:nvSpPr>
          <p:cNvPr id="331" name="Google Shape;331;p49"/>
          <p:cNvSpPr txBox="1"/>
          <p:nvPr/>
        </p:nvSpPr>
        <p:spPr>
          <a:xfrm>
            <a:off x="0" y="4233675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Singer &amp; Vinson (2002)</a:t>
            </a:r>
            <a:r>
              <a:rPr lang="en"/>
              <a:t>: Ethical issues in empirical studies of software engineering.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DFG’s Safeguarding Good Scientific Practice [1]</a:t>
            </a:r>
            <a:endParaRPr/>
          </a:p>
        </p:txBody>
      </p:sp>
      <p:sp>
        <p:nvSpPr>
          <p:cNvPr id="337" name="Google Shape;337;p5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38" name="Google Shape;338;p50"/>
          <p:cNvSpPr txBox="1"/>
          <p:nvPr>
            <p:ph idx="1" type="body"/>
          </p:nvPr>
        </p:nvSpPr>
        <p:spPr>
          <a:xfrm>
            <a:off x="274326" y="914400"/>
            <a:ext cx="45720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Good scientific practice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Institutional rules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Organization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Young scientists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Impartial counselors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Performance evaluation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handling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Procedure for suspected misconduct</a:t>
            </a:r>
            <a:endParaRPr/>
          </a:p>
        </p:txBody>
      </p:sp>
      <p:sp>
        <p:nvSpPr>
          <p:cNvPr id="339" name="Google Shape;339;p50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Cooperation of institutes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Learned societies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Authorship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Scientific journals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Guidelines for research proposals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Rules for the use of funds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Reviewers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9"/>
            </a:pPr>
            <a:r>
              <a:rPr lang="en"/>
              <a:t>Ombudsman for science</a:t>
            </a:r>
            <a:endParaRPr/>
          </a:p>
        </p:txBody>
      </p:sp>
      <p:sp>
        <p:nvSpPr>
          <p:cNvPr id="340" name="Google Shape;340;p50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DFG (2019)</a:t>
            </a:r>
            <a:r>
              <a:rPr lang="en"/>
              <a:t>: Guidelines for safeguarding good research practice: Code of conduct.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MPG’s Rules for Safeguarding Scientific Practice [1]</a:t>
            </a:r>
            <a:endParaRPr/>
          </a:p>
        </p:txBody>
      </p:sp>
      <p:sp>
        <p:nvSpPr>
          <p:cNvPr id="346" name="Google Shape;346;p5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General principles of scientific practice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Cooperation and leadership responsibility within working groups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Guidance to junior scientists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Securing and storing primary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protection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Scientific publications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Conflicts of interest between science and industry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Appointing ombudspersons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Whistleblower protection </a:t>
            </a:r>
            <a:endParaRPr/>
          </a:p>
        </p:txBody>
      </p:sp>
      <p:sp>
        <p:nvSpPr>
          <p:cNvPr id="347" name="Google Shape;347;p5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48" name="Google Shape;348;p51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MPG (2009)</a:t>
            </a:r>
            <a:r>
              <a:rPr lang="en"/>
              <a:t>: Regeln zur Sicherung guter wissenschaftlicher Praxis.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55" name="Google Shape;355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is science?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Theory building and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Science as a social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Programs and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Science and society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ethics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61" name="Google Shape;361;p53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67" name="Google Shape;367;p5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68" name="Google Shape;368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
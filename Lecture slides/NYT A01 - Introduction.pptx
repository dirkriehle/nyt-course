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A21E03-E013-4868-B2C2-C3E1341E02A3}">
  <a:tblStyle styleId="{96A21E03-E013-4868-B2C2-C3E1341E02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21efa682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21efa682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8fe33275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08fe33275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8fe332759_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08fe332759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27c6657ed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27c6657e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8fe33275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8fe33275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7589f98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7589f98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395919313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395919313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c7df650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c7df650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c7df650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cc7df650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8fe332759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8fe332759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95919313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95919313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c48c0d1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c48c0d1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0a653ad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0a653a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8fe332759_2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8fe332759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395919313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395919313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8fe332759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8fe332759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c48c0d1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c48c0d1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c48c0d1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cc48c0d1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95919313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395919313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8fe332759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08fe332759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8fe332759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8fe332759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395919313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395919313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9591931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9591931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39591931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39591931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uni1.de/ny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oss.cs.fau.de/teaching/course-resources/grading-schemes-and-scales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yc.uni1.de" TargetMode="External"/><Relationship Id="rId4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://oss.cs.fau.de/2012/03/10/english-or-german-deutsch-oder-englisch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uni1.de/nyt/index" TargetMode="External"/><Relationship Id="rId4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Nailing Your Thesis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A01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Learning Goals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</a:t>
            </a:r>
            <a:r>
              <a:rPr b="1" lang="en"/>
              <a:t>objectives (NYT-VUE)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science in general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the scientific process, including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process and designs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methodologies and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Publications and the scientific community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how to write a research paper (thesis)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Project objectives (NYT-PROJ)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by performing a small research project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Science (Working Definition)</a:t>
            </a:r>
            <a:endParaRPr/>
          </a:p>
        </p:txBody>
      </p:sp>
      <p:sp>
        <p:nvSpPr>
          <p:cNvPr id="51" name="Google Shape;51;p10"/>
          <p:cNvSpPr txBox="1"/>
          <p:nvPr>
            <p:ph idx="4294967295" type="body"/>
          </p:nvPr>
        </p:nvSpPr>
        <p:spPr>
          <a:xfrm>
            <a:off x="918576" y="914400"/>
            <a:ext cx="73152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accent5"/>
                </a:solidFill>
              </a:rPr>
              <a:t>Science</a:t>
            </a:r>
            <a:r>
              <a:rPr lang="en" sz="3200"/>
              <a:t> is the </a:t>
            </a:r>
            <a:r>
              <a:rPr b="1" lang="en" sz="3200"/>
              <a:t>process of acquiring knowledge</a:t>
            </a:r>
            <a:r>
              <a:rPr lang="en" sz="3200"/>
              <a:t> for </a:t>
            </a:r>
            <a:r>
              <a:rPr b="1" lang="en" sz="3200"/>
              <a:t>correct prediction and reliable outcome.</a:t>
            </a:r>
            <a:r>
              <a:rPr lang="en" sz="3200"/>
              <a:t> [DR]</a:t>
            </a:r>
            <a:endParaRPr sz="3200"/>
          </a:p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Content and Structure</a:t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science?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Scientific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Theory building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Qualitative 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Systematic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Qualitative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Case study research</a:t>
            </a:r>
            <a:endParaRPr/>
          </a:p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Theory validation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8"/>
            </a:pPr>
            <a:r>
              <a:rPr lang="en"/>
              <a:t>Survey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8"/>
            </a:pPr>
            <a:r>
              <a:rPr lang="en"/>
              <a:t>Controlled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Comprehensive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10"/>
            </a:pPr>
            <a:r>
              <a:rPr lang="en"/>
              <a:t>Design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Academia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11"/>
            </a:pPr>
            <a:r>
              <a:rPr lang="en"/>
              <a:t>Academic 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11"/>
            </a:pPr>
            <a:r>
              <a:rPr lang="en"/>
              <a:t>Academic publishing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Required for Course</a:t>
            </a:r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particular requirements, but …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conceptual and analytical thinking</a:t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Final Theses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the Bachelor-Prüfungsordnung Informatik (“writing about science”)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“Die schriftliche Bachelorarbeit soll ein wissenschaftliches Thema aus dem Bereich der Informatik behandeln.”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the Master-Prüfungsordnung Informatik (“applying results of science”)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“Die Masterarbeit dient dazu, die selbständige Bearbeitung von wissenschaftlichen Aufgabenstellungen der Informatik nachzuweisen.”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the Promotionsordnung Informatik (“creating scientific progress”)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“Die Dissertation soll die Fähigkeit des Bewerbers belegen, ingenieurwissenschaftliche Probleme selbständig und mit Erfolg zu bearbeiten und Wege zu ihrer Lösung zu finden.</a:t>
            </a:r>
            <a:endParaRPr/>
          </a:p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Position in Curriculum</a:t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58" cy="361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Courses and Modules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88" name="Google Shape;88;p15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{96A21E03-E013-4868-B2C2-C3E1341E02A3}</a:tableStyleId>
              </a:tblPr>
              <a:tblGrid>
                <a:gridCol w="1432575"/>
                <a:gridCol w="1432575"/>
                <a:gridCol w="1432575"/>
                <a:gridCol w="1432575"/>
                <a:gridCol w="1432575"/>
                <a:gridCol w="1432575"/>
              </a:tblGrid>
              <a:tr h="609600">
                <a:tc gridSpan="2"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Courses (Lehrveranstaltungen)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6096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Lecture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(2 SWS)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(2 SWS)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Project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(2 SWS)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ECTS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096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Modules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NYT-VUE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NYT-PROJ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NYT-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VUE+PROJ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VUE = Lecture + exercise (Vorlesung + Übung)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 = Project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of Modules</a:t>
            </a:r>
            <a:endParaRPr/>
          </a:p>
        </p:txBody>
      </p:sp>
      <p:graphicFrame>
        <p:nvGraphicFramePr>
          <p:cNvPr id="95" name="Google Shape;95;p1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{96A21E03-E013-4868-B2C2-C3E1341E02A3}</a:tableStyleId>
              </a:tblPr>
              <a:tblGrid>
                <a:gridCol w="1432550"/>
                <a:gridCol w="1432550"/>
                <a:gridCol w="1432550"/>
                <a:gridCol w="1432550"/>
                <a:gridCol w="1432550"/>
                <a:gridCol w="1432550"/>
              </a:tblGrid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University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FAU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Erlangen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096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Modules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NYT-VUE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NYT-PROJ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NYT-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VUE+PROJ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7315209" y="4233676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97" name="Google Shape;97;p1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available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= not available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NYT-VUE Grading [1]</a:t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Lecture-time contributions = 50% of total grade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 content (4 SWS) = 60 / 150 = 40% (of semester contributions)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Graded using [0..10] each class session using class quizzes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Miss more than three quizzes and you fail the class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exercises = 90 / 150 = 60% (of semester contributions)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Graded using [0..10] using tool and grading rubric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Miss more than one exercise and you fail the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Oral exam = 50% of total grade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both you and we agree on not having an oral exam, it can be dropped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Oral exam is scheduled during class on the last class 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https://oss.cs.fau.de/teaching/course-resources/grading-schemes-and-scales/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Quizzes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class session starts with a class quiz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quiz will test your understanding of last session’s topic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quiz typically has 5 questions and will last 10 minutes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overall quiz is graded using [0..10] scheme (10 points in total)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class quiz will open precisely when class starts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quiz is administered automatically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your job to have reliable Internet access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no way to make up for a missed quiz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Please sign up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https://myc.uni1.de</a:t>
            </a:r>
            <a:r>
              <a:rPr lang="en"/>
              <a:t> for the quizzes</a:t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Exercises (Qualitative Data Analysis)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Graded using a structured metric (intercoder reliability) against our solution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One qualitative written assignment (presentation of resulting theory)</a:t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 Rules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homework is individual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AIs allowed during exams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 Rubric for Homework Submissions</a:t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33" name="Google Shape;133;p21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{96A21E03-E013-4868-B2C2-C3E1341E02A3}</a:tableStyleId>
              </a:tblPr>
              <a:tblGrid>
                <a:gridCol w="1227850"/>
                <a:gridCol w="1131950"/>
                <a:gridCol w="1131950"/>
                <a:gridCol w="1131950"/>
                <a:gridCol w="1131950"/>
                <a:gridCol w="1131950"/>
                <a:gridCol w="1707325"/>
              </a:tblGrid>
              <a:tr h="4628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Categories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Points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Criteria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0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Disagree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Disagree some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Neutral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Agree</a:t>
                      </a:r>
                      <a:br>
                        <a:rPr b="1" lang="en">
                          <a:solidFill>
                            <a:schemeClr val="lt1"/>
                          </a:solidFill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</a:rPr>
                        <a:t>some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Agree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73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Form</a:t>
                      </a:r>
                      <a:br>
                        <a:rPr b="1" lang="en">
                          <a:solidFill>
                            <a:schemeClr val="lt1"/>
                          </a:solidFill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</a:rPr>
                        <a:t>(10%)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Does the deliverable meet formal requirements?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Does it meet length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requirements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, is it written in the right language, etc.?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Language</a:t>
                      </a:r>
                      <a:br>
                        <a:rPr b="1" lang="en">
                          <a:solidFill>
                            <a:schemeClr val="lt1"/>
                          </a:solidFill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</a:rPr>
                        <a:t>(10%)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Is the language clear, concise, and helpful?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Are sentences complete, is the grammar correct, are statements coherent, etc.?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Structure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(20-30%)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Does the deliverable have a clear logical structure?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Does it follow established or suggested structure? Is the argument logical?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Content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(50-60%)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Does the discussion touch on all relevant issues?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As a reference, use your own deliverable as well as what you learned in class.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Oral or Written Exam [1] [2]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914400"/>
            <a:ext cx="3657601" cy="364947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423367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If both you and we don’t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You still have to register for the course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Language [1]</a:t>
            </a:r>
            <a:endParaRPr/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48" name="Google Shape;148;p23"/>
          <p:cNvSpPr txBox="1"/>
          <p:nvPr/>
        </p:nvSpPr>
        <p:spPr>
          <a:xfrm>
            <a:off x="0" y="42291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https://oss.cs.fau.de/2012/03/10/english-or-german-deutsch-oder-englisch/</a:t>
            </a:r>
            <a:r>
              <a:rPr lang="en"/>
              <a:t> 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Class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Lecturer: English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Student: Choice of German or English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Exercise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Instructor: English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Homework: Choice of German or English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Project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English only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Participation (Auditing)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course is provided publicly, you can always audit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Auditing will not give you credit points towards a degree</a:t>
            </a:r>
            <a:endParaRPr/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Registration / Waitlist</a:t>
            </a:r>
            <a:endParaRPr/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must have passed a (trivial) entrance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use stratified randomized sampling to select students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current student limit for the course is 120 students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Everyone is required to participate in this first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will inform you after class if you got off the waitlist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vs. Exam Registration</a:t>
            </a:r>
            <a:r>
              <a:rPr lang="en"/>
              <a:t> [1]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registration and exam registration are two separate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want to receive a grade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en">
                <a:solidFill>
                  <a:srgbClr val="212121"/>
                </a:solidFill>
              </a:rPr>
              <a:t>You must register through your university’s exam registration system</a:t>
            </a:r>
            <a:endParaRPr>
              <a:solidFill>
                <a:srgbClr val="21212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Your degree program may have split the course into two (VL + UE)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Please check asap that the course is available in your degree program!</a:t>
            </a:r>
            <a:endParaRPr b="1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Otherwise</a:t>
            </a:r>
            <a:r>
              <a:rPr lang="en"/>
              <a:t>: No grade</a:t>
            </a:r>
            <a:endParaRPr/>
          </a:p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71" name="Google Shape;171;p2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German: Prüfungsanmeldung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Course organization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index tab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https://uni1.de/nyt/index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Course schedule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s</a:t>
            </a:r>
            <a:r>
              <a:rPr lang="en"/>
              <a:t>chedule</a:t>
            </a:r>
            <a:r>
              <a:rPr lang="en"/>
              <a:t> tab on Course organization doc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Organization</a:t>
            </a:r>
            <a:endParaRPr/>
          </a:p>
        </p:txBody>
      </p:sp>
      <p:sp>
        <p:nvSpPr>
          <p:cNvPr id="178" name="Google Shape;178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Rhythm</a:t>
            </a:r>
            <a:endParaRPr/>
          </a:p>
        </p:txBody>
      </p:sp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Lecture (class)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 of last week (quiz)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Presentation of this week’s topic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Method exercise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Discussion of articles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Discussion of homework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Written homework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Course organization doc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Self-organized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Communication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Announcements by email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 course management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Questions to teaching team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ask your question in the course forum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private questions, use the teaching team email alias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Non-urgent questions will be answered in class</a:t>
            </a:r>
            <a:endParaRPr/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98" name="Google Shape;198;p3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
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ACA9E7-9E2C-46FA-BB51-8CAD13E7EC24}">
  <a:tblStyle styleId="{95ACA9E7-9E2C-46FA-BB51-8CAD13E7EC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21efa682d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21efa682d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8fe33275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108fe33275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08fe332759_2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08fe332759_2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7c6657edc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7c6657ed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08fe332759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08fe332759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0e7589f98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0e7589f98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c8a28375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8c8a28375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cc7df650f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cc7df650f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cc7df650f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cc7df650f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08fe332759_2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08fe332759_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cc48c0d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cc48c0d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50a653ad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50a653ad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395919313b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395919313b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08fe332759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08fe332759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be6ebca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be6ebca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cbe6ebca0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cbe6ebca0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108fe332759_2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108fe332759_2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395919313b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395919313b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4f974be9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d4f974be9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4f974be99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4f974be99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d4f974be9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d4f974be9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395919313b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395919313b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08fe332759_2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08fe332759_2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oss.cs.fau.de/teaching/course-resources/grading-schemes-and-scales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oss.cs.fau.de/2012/03/10/english-or-german-deutsch-oder-englisch/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studon.fau.de" TargetMode="External"/><Relationship Id="rId4" Type="http://schemas.openxmlformats.org/officeDocument/2006/relationships/hyperlink" Target="http://moo.uni1.de" TargetMode="External"/><Relationship Id="rId5" Type="http://schemas.openxmlformats.org/officeDocument/2006/relationships/hyperlink" Target="https://campo.fau.de" TargetMode="External"/><Relationship Id="rId6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mailto:nyt-team@group.riehle.org" TargetMode="External"/><Relationship Id="rId4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oss.cs.fau.de/teaching/course-resources/grading-schemes-and-scales/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NYT [1]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53" name="Google Shape;53;p8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Nailing Your Thesis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Learning Goals</a:t>
            </a:r>
            <a:endParaRPr/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General </a:t>
            </a:r>
            <a:r>
              <a:rPr b="1" lang="en"/>
              <a:t>objectives (NYT-VUE)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science in general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the scientific process, including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process and designs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methodologies and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Publications and the scientific community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how to write a research paper (thesis)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Project objectives (NYT-PROJ)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by performing a small research project</a:t>
            </a:r>
            <a:endParaRPr/>
          </a:p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Science (Working Definition)</a:t>
            </a:r>
            <a:endParaRPr/>
          </a:p>
        </p:txBody>
      </p:sp>
      <p:sp>
        <p:nvSpPr>
          <p:cNvPr id="66" name="Google Shape;66;p10"/>
          <p:cNvSpPr txBox="1"/>
          <p:nvPr>
            <p:ph idx="4294967295" type="body"/>
          </p:nvPr>
        </p:nvSpPr>
        <p:spPr>
          <a:xfrm>
            <a:off x="918576" y="914400"/>
            <a:ext cx="7315200" cy="365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3200">
                <a:solidFill>
                  <a:schemeClr val="accent5"/>
                </a:solidFill>
              </a:rPr>
              <a:t>Science</a:t>
            </a:r>
            <a:r>
              <a:rPr lang="en" sz="3200"/>
              <a:t> is the </a:t>
            </a:r>
            <a:r>
              <a:rPr b="1" lang="en" sz="3200"/>
              <a:t>process of acquiring knowledge</a:t>
            </a:r>
            <a:r>
              <a:rPr lang="en" sz="3200"/>
              <a:t> for </a:t>
            </a:r>
            <a:r>
              <a:rPr b="1" lang="en" sz="3200"/>
              <a:t>correct prediction and reliable outcome.</a:t>
            </a:r>
            <a:r>
              <a:rPr lang="en" sz="3200"/>
              <a:t> [DR]</a:t>
            </a:r>
            <a:endParaRPr sz="3200"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Qualitative 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Case study research</a:t>
            </a:r>
            <a:endParaRPr/>
          </a:p>
        </p:txBody>
      </p:sp>
      <p:sp>
        <p:nvSpPr>
          <p:cNvPr id="75" name="Google Shape;75;p11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8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8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0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1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1"/>
            </a:pPr>
            <a:r>
              <a:rPr lang="en"/>
              <a:t>Academic publishing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particular requirements, but …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Strong conceptual and analytical thinking</a:t>
            </a:r>
            <a:endParaRPr/>
          </a:p>
        </p:txBody>
      </p:sp>
      <p:sp>
        <p:nvSpPr>
          <p:cNvPr id="82" name="Google Shape;82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Requirements for Final Theses</a:t>
            </a:r>
            <a:endParaRPr/>
          </a:p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From the Bachelor-Prüfungsordnung Informatik (“writing about science”)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“Die schriftliche Bachelorarbeit soll ein wissenschaftliches Thema aus dem Bereich der Informatik behandeln.”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From the Master-Prüfungsordnung Informatik (“applying results of science”)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“Die Masterarbeit dient dazu, die selbständige Bearbeitung von wissenschaftlichen Aufgabenstellungen der Informatik nachzuweisen.”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From the Promotionsordnung Informatik (“creating scientific progress”)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“Die Dissertation soll die Fähigkeit des Bewerbers belegen, ingenieurwissenschaftliche Probleme selbständig und mit Erfolg zu bearbeiten und Wege zu ihrer Lösung zu finden.</a:t>
            </a:r>
            <a:endParaRPr/>
          </a:p>
        </p:txBody>
      </p:sp>
      <p:sp>
        <p:nvSpPr>
          <p:cNvPr id="89" name="Google Shape;89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96" name="Google Shape;96;p1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{95ACA9E7-9E2C-46FA-BB51-8CAD13E7EC24}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sp>
        <p:nvSpPr>
          <p:cNvPr id="102" name="Google Shape;102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03" name="Google Shape;103;p1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{95ACA9E7-9E2C-46FA-BB51-8CAD13E7EC24}</a:tableStyleId>
              </a:tblPr>
              <a:tblGrid>
                <a:gridCol w="1432575"/>
                <a:gridCol w="1432575"/>
                <a:gridCol w="1432575"/>
                <a:gridCol w="1432575"/>
                <a:gridCol w="1432575"/>
                <a:gridCol w="1432575"/>
              </a:tblGrid>
              <a:tr h="609600">
                <a:tc gridSpan="2"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Courses (Lehrveranstaltungen)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09600">
                <a:tc gridSpan="2" vMerge="1"/>
                <a:tc hMerge="1"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 SWS)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Exercise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 SWS)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Project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 SWS)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Total 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09600">
                <a:tc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NYT-VUE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VUE+PROJ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4" name="Google Shape;104;p1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VUE = Lecture + exercise (Vorlesung + Übung)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 = Project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Availability of Modules</a:t>
            </a:r>
            <a:endParaRPr/>
          </a:p>
        </p:txBody>
      </p:sp>
      <p:graphicFrame>
        <p:nvGraphicFramePr>
          <p:cNvPr id="110" name="Google Shape;110;p1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{95ACA9E7-9E2C-46FA-BB51-8CAD13E7EC24}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096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University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096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FAU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Erlangen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09600">
                <a:tc row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NYT-VUE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NYT-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VUE+PROJ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x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09600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11" name="Google Shape;111;p16"/>
          <p:cNvSpPr txBox="1"/>
          <p:nvPr>
            <p:ph idx="12" type="sldNum"/>
          </p:nvPr>
        </p:nvSpPr>
        <p:spPr>
          <a:xfrm>
            <a:off x="7315209" y="4233676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not available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NYT-VUE Grading [1]</a:t>
            </a:r>
            <a:endParaRPr/>
          </a:p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19" name="Google Shape;11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exercises = 100% (of semester contributions)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Miss more than one exercise and you fail the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https://oss.cs.fau.de/teaching/course-resources/grading-schemes-and-scales/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Exercises (Qualitative Data Analysis)</a:t>
            </a:r>
            <a:endParaRPr/>
          </a:p>
        </p:txBody>
      </p:sp>
      <p:sp>
        <p:nvSpPr>
          <p:cNvPr id="126" name="Google Shape;126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Graded using a structured metric (intercoder reliability) against our solution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One qualitative written assignment (presentation of resulting theory)</a:t>
            </a:r>
            <a:endParaRPr/>
          </a:p>
        </p:txBody>
      </p:sp>
      <p:sp>
        <p:nvSpPr>
          <p:cNvPr id="127" name="Google Shape;127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Grading Rules</a:t>
            </a:r>
            <a:endParaRPr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homework is individual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140" name="Google Shape;14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0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142" name="Google Shape;142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148" name="Google Shape;148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9" name="Google Shape;149;p21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150" name="Google Shape;15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Class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Exercise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Homework: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Project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English only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Course registration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</a:t>
            </a:r>
            <a:r>
              <a:rPr lang="en" u="sng">
                <a:solidFill>
                  <a:schemeClr val="hlink"/>
                </a:solidFill>
                <a:hlinkClick r:id="rId3"/>
              </a:rPr>
              <a:t>StudOn</a:t>
            </a:r>
            <a:r>
              <a:rPr lang="en"/>
              <a:t>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Needed to get your id for matching you on Campo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Course management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</a:t>
            </a:r>
            <a:r>
              <a:rPr lang="en" u="sng">
                <a:solidFill>
                  <a:schemeClr val="hlink"/>
                </a:solidFill>
                <a:hlinkClick r:id="rId4"/>
              </a:rPr>
              <a:t>Moodle</a:t>
            </a:r>
            <a:r>
              <a:rPr lang="en"/>
              <a:t>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Use your university email address; if not no grade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Exam registration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</a:t>
            </a:r>
            <a:r>
              <a:rPr lang="en" u="sng">
                <a:solidFill>
                  <a:schemeClr val="hlink"/>
                </a:solidFill>
                <a:hlinkClick r:id="rId5"/>
              </a:rPr>
              <a:t>Campo</a:t>
            </a:r>
            <a:r>
              <a:rPr lang="en"/>
              <a:t> / opens later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No exam registration no grade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Three Steps to Proper Registration</a:t>
            </a:r>
            <a:endParaRPr/>
          </a:p>
        </p:txBody>
      </p:sp>
      <p:sp>
        <p:nvSpPr>
          <p:cNvPr id="157" name="Google Shape;157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6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Participation (Auditing)</a:t>
            </a:r>
            <a:endParaRPr/>
          </a:p>
        </p:txBody>
      </p:sp>
      <p:sp>
        <p:nvSpPr>
          <p:cNvPr id="163" name="Google Shape;163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course is provided publicly, you can always audit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Auditing will not give you credit points towards a degree</a:t>
            </a:r>
            <a:endParaRPr/>
          </a:p>
        </p:txBody>
      </p:sp>
      <p:sp>
        <p:nvSpPr>
          <p:cNvPr id="164" name="Google Shape;164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170" name="Google Shape;17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Lecture session (class)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of last week (quiz)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Presentation of this week’s topic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In-class method exercise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Discussion of articles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Discussion of homework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Self-study / homework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Course organization doc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Self-organized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177" name="Google Shape;17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Non-urgent questions will be answered in class</a:t>
            </a:r>
            <a:endParaRPr/>
          </a:p>
        </p:txBody>
      </p:sp>
      <p:sp>
        <p:nvSpPr>
          <p:cNvPr id="178" name="Google Shape;178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6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84" name="Google Shape;184;p26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90" name="Google Shape;19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1" name="Google Shape;19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NYT-VUE Grading [1] (Old)</a:t>
            </a:r>
            <a:endParaRPr/>
          </a:p>
        </p:txBody>
      </p:sp>
      <p:sp>
        <p:nvSpPr>
          <p:cNvPr id="197" name="Google Shape;197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8" name="Google Shape;19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Lecture-time contributions = 50% of total grade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 content (4 SWS) = 60 / 150 = 40%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[0..10] each class session using class quizzes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Miss more than three quizzes and you fail the class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exercises = 90 / 150 = 60%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[0|1|2|3] using tool and grading rubric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Miss more than one exercise and you fail the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Oral exam = 50% of total grade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both you and we agree on not having an oral exam, it can be dropped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oral exam is scheduled during class on the last class 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need to tell us at least two weeks in advance if you want an oral exam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https://oss.cs.fau.de/teaching/course-resources/grading-schemes-and-scales/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 (Old)</a:t>
            </a:r>
            <a:endParaRPr/>
          </a:p>
        </p:txBody>
      </p:sp>
      <p:sp>
        <p:nvSpPr>
          <p:cNvPr id="205" name="Google Shape;205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class session starts with a class quiz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will test your understanding of last session’s topic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typically has 5 questions and will last 10 minutes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overall quiz is graded using [0..10] scheme (10 points in total)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class quiz will open precisely when class starts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quiz is administered automatically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your job to have reliable Internet access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no way to make up for a missed quiz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6" name="Google Shape;206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Grading Rubric for Homework Submissions</a:t>
            </a:r>
            <a:endParaRPr/>
          </a:p>
        </p:txBody>
      </p:sp>
      <p:sp>
        <p:nvSpPr>
          <p:cNvPr id="212" name="Google Shape;212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213" name="Google Shape;213;p30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{95ACA9E7-9E2C-46FA-BB51-8CAD13E7EC24}</a:tableStyleId>
              </a:tblPr>
              <a:tblGrid>
                <a:gridCol w="1227850"/>
                <a:gridCol w="1131950"/>
                <a:gridCol w="1131950"/>
                <a:gridCol w="1131950"/>
                <a:gridCol w="1131950"/>
                <a:gridCol w="1131950"/>
                <a:gridCol w="1707325"/>
              </a:tblGrid>
              <a:tr h="4628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Categories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grid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Points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Criteria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03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Disagree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Disagree some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Neutral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Agree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some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Agree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vMerge="1"/>
              </a:tr>
              <a:tr h="73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Form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(10%)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gridSpan="5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Does the deliverable meet formal requirements?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Does it meet length </a:t>
                      </a: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requirements</a:t>
                      </a:r>
                      <a:r>
                        <a:rPr lang="en" sz="1000">
                          <a:solidFill>
                            <a:schemeClr val="dk1"/>
                          </a:solidFill>
                        </a:rPr>
                        <a:t>, is it written in the right language, etc.?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Language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(10%)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gridSpan="5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Is the language clear, concise, and helpful?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hMerge="1"/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Are sentences complete, is the grammar correct, are statements coherent, etc.?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Structure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(20-30%)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gridSpan="5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Does the deliverable have a clear logical structure?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Does it follow established or suggested structure? Is the argument logical?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0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(50-60%)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gridSpan="5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dk1"/>
                          </a:solidFill>
                        </a:rPr>
                        <a:t>Does the discussion touch on all relevant issues?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hMerge="1"/>
                <a:tc hMerge="1"/>
                <a:tc hMerge="1"/>
                <a:tc h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As a reference, use your own deliverable as well as what you learned in class.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
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B1D727-860D-47C4-96D7-29960D34008E}">
  <a:tblStyle styleId="{5CB1D727-860D-47C4-96D7-29960D3400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74f649a3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574f649a3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dbbd0258e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dbbd0258e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dbbd0258e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dbbd0258e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bbd0258e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dbbd0258e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bbd0258e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dbbd0258e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45e54fe6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45e54fe6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45e54fe6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45e54fe6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bbd0258e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bbd0258e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45e54fe6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45e54fe6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45e54fe6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45e54fe6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74f649a3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74f649a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74f649a3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74f649a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45e54fe6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45e54fe6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4f649a3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4f649a3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5e54fe6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45e54fe6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74f649a3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74f649a3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74f649a3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74f649a3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74f649a3e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74f649a3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45e54fe6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45e54fe6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bbd0258e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bbd0258e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d50ec92f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dd50ec92f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45e54fe6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45e54fe6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45e54fe6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45e54fe6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45e54fe6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45e54fe6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45e54fe6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45e54fe6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45e54fe6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45e54fe6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74f649a3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74f649a3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d50ec9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dd50ec9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45e54fe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45e54fe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74f649a3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74f649a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45e54fe6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45e54fe6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24494c3ca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24494c3ca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79e2568c9469c68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79e2568c9469c68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9e2568c9469c68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9e2568c9469c68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74f649a3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74f649a3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74f649a3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574f649a3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74f649a3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74f649a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74f649a3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74f649a3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2b046f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2b046f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74f649a3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74f649a3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74f649a3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74f649a3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74f649a3e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74f649a3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74f649a3e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74f649a3e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45e54fe6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45e54fe6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45e54fe6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45e54fe6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45e54fe6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545e54fe6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45e54fe6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545e54fe6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bbd0258e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dbbd0258e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45e54fe6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545e54fe6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74f649a3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74f649a3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74f649a3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74f649a3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74f649a3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74f649a3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74f649a3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74f649a3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74f649a3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574f649a3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74f649a3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574f649a3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74f649a3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74f649a3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74f649a3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574f649a3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74f649a3e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574f649a3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574f649a3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574f649a3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74f649a3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74f649a3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uni1.de/ny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Relationship Id="rId5" Type="http://schemas.openxmlformats.org/officeDocument/2006/relationships/hyperlink" Target="https://docs.google.com/document/d/1JPE60ZoqYVrdAve0G_c0qy0g_M7_B_FLhP5qmaQ4mqI/edit?tab=t.0#heading=h.mxlpptrxvs9v" TargetMode="External"/><Relationship Id="rId6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uni1.de/ny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Relationship Id="rId5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uni1.de/ny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uni1.de/ny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uni1.de/ny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uni1.de/nyt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uni1.de/nyt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uni1.de/nyt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uni1.de/nyt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uni1.de/nyt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uni1.de/nyt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://uni1.de/nyt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://uni1.de/nyt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uni1.de/nyt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uni1.de/nyt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://uni1.de/nyt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://uni1.de/nyt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Relationship Id="rId5" Type="http://schemas.openxmlformats.org/officeDocument/2006/relationships/hyperlink" Target="https://docs.google.com/document/d/1JPE60ZoqYVrdAve0G_c0qy0g_M7_B_FLhP5qmaQ4mqI/edit?tab=t.0#heading=h.mxlpptrxvs9v" TargetMode="External"/><Relationship Id="rId6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://uni1.de/nyt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Data Analysis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B03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QDA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QDA artifacts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Inductive 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Iterative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presentation</a:t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Theory Building</a:t>
            </a:r>
            <a:endParaRPr/>
          </a:p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Data Analysis (QDA) [1]</a:t>
            </a:r>
            <a:endParaRPr/>
          </a:p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data analysis is a</a:t>
            </a:r>
            <a:r>
              <a:rPr lang="en"/>
              <a:t> research method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deriving meaning from qualitative data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response to one or more research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Typically used in theory building and development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Inductive use → theory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Deductive use → theory evaluation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Also qualitative content analysis (German: qualitative Inhaltsanalyse)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 and Purpose of QDA in Theory Building</a:t>
            </a:r>
            <a:endParaRPr/>
          </a:p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66" name="Google Shape;6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QDA in Theory Building Methodologies</a:t>
            </a:r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QDA methods can be plugged into theory building </a:t>
            </a:r>
            <a:r>
              <a:rPr lang="en"/>
              <a:t>methodologies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Systematic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study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QDA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qualitative data analysis process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Inductive (→ theory building from data)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Structured (→ not arbitrary / random)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Quantitative (→ assuring quality)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QDA Artifacts</a:t>
            </a:r>
            <a:endParaRPr/>
          </a:p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Artifacts and Activities in QDA</a:t>
            </a:r>
            <a:endParaRPr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Codes and Codings</a:t>
            </a:r>
            <a:endParaRPr/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code (also label, annotation, etc.)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short text (name) for an empirical observation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open code is a code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Originates from the primary materials through a 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coding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relationship between an open code and its origin in the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theme or category is a code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Hierarchically abstracts from other codes in a code system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Code and Codings</a:t>
            </a:r>
            <a:endParaRPr/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315200" cy="410966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8"/>
          <p:cNvSpPr/>
          <p:nvPr/>
        </p:nvSpPr>
        <p:spPr>
          <a:xfrm>
            <a:off x="331725" y="4087150"/>
            <a:ext cx="1031400" cy="3084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1919525" y="2697825"/>
            <a:ext cx="1031400" cy="3084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Definition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code definition should include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short (one sentence)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description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to use the code 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not to use the code </a:t>
            </a:r>
            <a:endParaRPr/>
          </a:p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memo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written reflection on a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memo may include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insights and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notes for future investigations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code itself should be defined independently of the memo</a:t>
            </a:r>
            <a:endParaRPr/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Code and Memo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315200" cy="410966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21"/>
          <p:cNvSpPr/>
          <p:nvPr/>
        </p:nvSpPr>
        <p:spPr>
          <a:xfrm>
            <a:off x="6491525" y="3123125"/>
            <a:ext cx="1155300" cy="16551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r>
              <a:rPr lang="en"/>
              <a:t>ode system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hierarchical structure of codes intended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capture the relationships between the codes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code system is an expression of the theory under development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Codes represent concepts and constructs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Relationships represent hypotheses</a:t>
            </a:r>
            <a:endParaRPr/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System</a:t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Code System</a:t>
            </a:r>
            <a:endParaRPr/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315200" cy="410966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23"/>
          <p:cNvSpPr/>
          <p:nvPr/>
        </p:nvSpPr>
        <p:spPr>
          <a:xfrm>
            <a:off x="166925" y="1492800"/>
            <a:ext cx="1685400" cy="3437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Semantics of Hierarchy</a:t>
            </a:r>
            <a:endParaRPr/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principle, anything goes, but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patterns of hierarchical organization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slotting system to group similar open codes (cf. card sorting)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grouping system for underlying themes (cf. thematic analysis)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structuring mechanism for theoretical constructs / abstractions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Computer science students may use common modeling techniques like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Association, aggregation (part-whole), generalization/specialization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tool (yet) allows for the formal capture of such (meta) relationships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code book documents the code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code in the code system, the code book lists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</a:t>
            </a:r>
            <a:r>
              <a:rPr lang="en"/>
              <a:t> definition of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Instructions for when to use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Possible disambiguations towards other 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exemplary piece of data coded with the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Beyond general documentation, a code book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establish intercoder reliability of analysis</a:t>
            </a:r>
            <a:endParaRPr/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Book</a:t>
            </a:r>
            <a:endParaRPr/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Artifacts in Overview</a:t>
            </a:r>
            <a:endParaRPr/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QDA Methods</a:t>
            </a:r>
            <a:endParaRPr/>
          </a:p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Different QDA Methods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Card sorting [1]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Thematic analysis [2]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Inductive coding [3]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81" name="Google Shape;181;p2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Hudson (2013)</a:t>
            </a:r>
            <a:r>
              <a:rPr lang="en"/>
              <a:t>: Card sorting.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See </a:t>
            </a:r>
            <a:r>
              <a:rPr lang="en" u="sng">
                <a:solidFill>
                  <a:schemeClr val="hlink"/>
                </a:solidFill>
                <a:hlinkClick r:id="rId5"/>
              </a:rPr>
              <a:t>Braun &amp; Clarke (2012)</a:t>
            </a:r>
            <a:r>
              <a:rPr lang="en"/>
              <a:t>: Thematic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See </a:t>
            </a:r>
            <a:r>
              <a:rPr lang="en" u="sng">
                <a:solidFill>
                  <a:schemeClr val="hlink"/>
                </a:solidFill>
                <a:hlinkClick r:id="rId6"/>
              </a:rPr>
              <a:t>Corbin &amp; Strauss (2008)</a:t>
            </a:r>
            <a:r>
              <a:rPr lang="en"/>
              <a:t>: Qualitative research, 3rd edition.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 Sorting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item [1] and write on card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Synthesize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cards with similar items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Codify theory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and summarize groups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89" name="Google Shape;189;p29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Item, topic, theme, artifact, … depends on context and is relative to research question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Coding, Then</a:t>
            </a:r>
            <a:endParaRPr/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315199" cy="4114800"/>
          </a:xfrm>
          <a:prstGeom prst="rect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Now (With QDAcity)</a:t>
            </a:r>
            <a:endParaRPr/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315200" cy="411062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Thematic Analysis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Familiarize yourself with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</a:t>
            </a:r>
            <a:r>
              <a:rPr lang="en"/>
              <a:t>initial</a:t>
            </a:r>
            <a:r>
              <a:rPr lang="en"/>
              <a:t> codes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Synthesize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Search for potential themes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Review potential themes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Define and name themes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Codify theory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6"/>
            </a:pPr>
            <a:r>
              <a:rPr lang="en"/>
              <a:t>Product the report</a:t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open 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Synthesize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axial 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selective 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Codify theory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articles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Inductive Coding [1]</a:t>
            </a:r>
            <a:endParaRPr/>
          </a:p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18" name="Google Shape;218;p3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My shorthand for coding according to Corbin &amp; Strauss (2008) [DR]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Grounded Theory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200400" y="914400"/>
            <a:ext cx="56109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Grounded theory is a research methodology for theory building like qualitative </a:t>
            </a:r>
            <a:r>
              <a:rPr lang="en"/>
              <a:t>surveys</a:t>
            </a:r>
            <a:r>
              <a:rPr lang="en"/>
              <a:t>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Inductive coding was lifted from Corbin &amp; Strauss’ version of grounded theory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26" name="Google Shape;226;p3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Corbin &amp; Strauss (2008)</a:t>
            </a:r>
            <a:r>
              <a:rPr lang="en"/>
              <a:t>: Qualitative research, 3rd edition.</a:t>
            </a:r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" y="914400"/>
            <a:ext cx="2582723" cy="3840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Artifacts and Activities in QDA Methods</a:t>
            </a:r>
            <a:endParaRPr/>
          </a:p>
        </p:txBody>
      </p:sp>
      <p:sp>
        <p:nvSpPr>
          <p:cNvPr id="233" name="Google Shape;233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34" name="Google Shape;234;p35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{5CB1D727-860D-47C4-96D7-29960D34008E}</a:tableStyleId>
              </a:tblPr>
              <a:tblGrid>
                <a:gridCol w="1719075"/>
                <a:gridCol w="1719075"/>
                <a:gridCol w="1719075"/>
                <a:gridCol w="1719075"/>
                <a:gridCol w="1719075"/>
              </a:tblGrid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Card</a:t>
                      </a:r>
                      <a:br>
                        <a:rPr b="1" lang="en">
                          <a:solidFill>
                            <a:schemeClr val="lt1"/>
                          </a:solidFill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</a:rPr>
                        <a:t>sorting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Thematic</a:t>
                      </a:r>
                      <a:br>
                        <a:rPr b="1" lang="en">
                          <a:solidFill>
                            <a:schemeClr val="lt1"/>
                          </a:solidFill>
                        </a:rPr>
                      </a:br>
                      <a:r>
                        <a:rPr b="1" lang="en">
                          <a:solidFill>
                            <a:schemeClr val="lt1"/>
                          </a:solidFill>
                        </a:rPr>
                        <a:t>analysis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Inductive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coding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00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Artifacts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Codes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Codes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 codes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Categories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 groups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Themes and subthemes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Concepts and categories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Analysis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Card writing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Initial coding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 coding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Synthesis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Grouping and summarizing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Theme naming and </a:t>
                      </a:r>
                      <a:r>
                        <a:rPr lang="en"/>
                        <a:t>defining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Axial and selective coding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Rigor vs. Effort in QDA Methods</a:t>
            </a:r>
            <a:endParaRPr/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Word of Caution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my </a:t>
            </a:r>
            <a:r>
              <a:rPr lang="en"/>
              <a:t>correlation</a:t>
            </a:r>
            <a:r>
              <a:rPr lang="en"/>
              <a:t> and attempted homogenization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authors and users can be extremely picky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 in a given research project, always use the specific method</a:t>
            </a:r>
            <a:endParaRPr/>
          </a:p>
        </p:txBody>
      </p:sp>
      <p:sp>
        <p:nvSpPr>
          <p:cNvPr id="248" name="Google Shape;248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Inductive Coding</a:t>
            </a:r>
            <a:endParaRPr/>
          </a:p>
        </p:txBody>
      </p:sp>
      <p:sp>
        <p:nvSpPr>
          <p:cNvPr id="254" name="Google Shape;254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Coding 1 / 2</a:t>
            </a:r>
            <a:endParaRPr/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An open code is a code that</a:t>
            </a:r>
            <a:endParaRPr>
              <a:solidFill>
                <a:srgbClr val="21212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en">
                <a:solidFill>
                  <a:srgbClr val="212121"/>
                </a:solidFill>
              </a:rPr>
              <a:t>Represents an empirical observation</a:t>
            </a:r>
            <a:endParaRPr>
              <a:solidFill>
                <a:srgbClr val="21212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en">
                <a:solidFill>
                  <a:srgbClr val="212121"/>
                </a:solidFill>
              </a:rPr>
              <a:t>Is conceptual, i.e. represents a concept</a:t>
            </a:r>
            <a:endParaRPr>
              <a:solidFill>
                <a:srgbClr val="21212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en">
                <a:solidFill>
                  <a:srgbClr val="212121"/>
                </a:solidFill>
              </a:rPr>
              <a:t>Has a direct origin in the primary materials</a:t>
            </a:r>
            <a:endParaRPr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Open coding is</a:t>
            </a:r>
            <a:endParaRPr>
              <a:solidFill>
                <a:srgbClr val="21212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en">
                <a:solidFill>
                  <a:srgbClr val="212121"/>
                </a:solidFill>
              </a:rPr>
              <a:t>The creation of open codes from primary materials</a:t>
            </a:r>
            <a:endParaRPr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An in-vivo code is an open code that</a:t>
            </a:r>
            <a:endParaRPr>
              <a:solidFill>
                <a:srgbClr val="21212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en">
                <a:solidFill>
                  <a:srgbClr val="212121"/>
                </a:solidFill>
              </a:rPr>
              <a:t>Has a name taken directly from the primary materials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261" name="Google Shape;261;p3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Coding 2 / 2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Carefully read the primary materials incrementally, repeatedly</a:t>
            </a:r>
            <a:endParaRPr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Mark segments containing relevant information for your research question</a:t>
            </a:r>
            <a:endParaRPr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</a:rPr>
              <a:t>Assign segment to existing open code or create a new one</a:t>
            </a:r>
            <a:endParaRPr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12121"/>
                </a:solidFill>
              </a:rPr>
              <a:t>Write memos for codes to elaborate on your observations</a:t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268" name="Google Shape;268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Comparison</a:t>
            </a:r>
            <a:endParaRPr/>
          </a:p>
        </p:txBody>
      </p:sp>
      <p:sp>
        <p:nvSpPr>
          <p:cNvPr id="274" name="Google Shape;274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you are coding, compare codes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two codes the same?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subtle differences? Should the codes be split?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take action and refactor your code system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Implies rereading and recoding</a:t>
            </a:r>
            <a:endParaRPr/>
          </a:p>
        </p:txBody>
      </p:sp>
      <p:sp>
        <p:nvSpPr>
          <p:cNvPr id="275" name="Google Shape;275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Axial Coding</a:t>
            </a:r>
            <a:endParaRPr/>
          </a:p>
        </p:txBody>
      </p:sp>
      <p:sp>
        <p:nvSpPr>
          <p:cNvPr id="281" name="Google Shape;281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82" name="Google Shape;282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Axial coding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introduction of new codes representing concepts or constructs 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Comparing existing codes for similarities and differences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Axial coding creates a hierarchy of codes, the code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Codes should be MECE (mutually exclusive, completely exhaustive)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and Constructs</a:t>
            </a:r>
            <a:endParaRPr/>
          </a:p>
        </p:txBody>
      </p:sp>
      <p:sp>
        <p:nvSpPr>
          <p:cNvPr id="288" name="Google Shape;288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Codes represent concepts; 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Off-by-one error (open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Syntax error (axial code)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Codes represent constructs; 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 owner / software developer conflict (open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incentive (axial code)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Selective Coding</a:t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Selective coding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focussing of top-level codes on the research question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relationship-building of top-level codes to a single core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According to Corbin &amp; Strauss, the theory is the single core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Theory</a:t>
            </a:r>
            <a:endParaRPr/>
          </a:p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systems and associated artifacts represent the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is more to the theory in a researcher’s mind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needs research articles to document this</a:t>
            </a:r>
            <a:endParaRPr/>
          </a:p>
        </p:txBody>
      </p:sp>
      <p:sp>
        <p:nvSpPr>
          <p:cNvPr id="303" name="Google Shape;303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Quality Assurance</a:t>
            </a:r>
            <a:endParaRPr/>
          </a:p>
        </p:txBody>
      </p:sp>
      <p:sp>
        <p:nvSpPr>
          <p:cNvPr id="309" name="Google Shape;309;p4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Criteria for Qualitative Research</a:t>
            </a:r>
            <a:endParaRPr/>
          </a:p>
        </p:txBody>
      </p:sp>
      <p:sp>
        <p:nvSpPr>
          <p:cNvPr id="315" name="Google Shape;315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16" name="Google Shape;316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criteria based on Guba &amp; Lincoln [1]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Credibility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Transferability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Confirmability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Typically realized through specific practices</a:t>
            </a:r>
            <a:endParaRPr/>
          </a:p>
        </p:txBody>
      </p:sp>
      <p:sp>
        <p:nvSpPr>
          <p:cNvPr id="317" name="Google Shape;317;p4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rgbClr val="34A3C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Guba &amp; Lincoln (1982)</a:t>
            </a:r>
            <a:r>
              <a:rPr lang="en"/>
              <a:t>: Naturalistic inquiry.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Research Practices</a:t>
            </a:r>
            <a:endParaRPr/>
          </a:p>
        </p:txBody>
      </p: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24" name="Google Shape;324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example research practices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Member checking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 debriefing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Simple and easy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Checking</a:t>
            </a:r>
            <a:endParaRPr/>
          </a:p>
        </p:txBody>
      </p:sp>
      <p:sp>
        <p:nvSpPr>
          <p:cNvPr id="330" name="Google Shape;330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checking is a research practice in which the researcher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Seeks feedback from data sources (participants, stakeholders) either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During data gathering (active and reflective listening)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analysis (asking for feedback and confirmation)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Peer Debriefing</a:t>
            </a:r>
            <a:endParaRPr/>
          </a:p>
        </p:txBody>
      </p:sp>
      <p:sp>
        <p:nvSpPr>
          <p:cNvPr id="337" name="Google Shape;337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Peer debriefing is a research practice in which the researcher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Subjects their work to review and critique by a peer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multiple times during the current running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researcher presents and explains their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peer questions and critiques the work, looking for flaws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researcher documents the session with a protocol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QDA-Specific Concerns</a:t>
            </a:r>
            <a:endParaRPr/>
          </a:p>
        </p:txBody>
      </p:sp>
      <p:sp>
        <p:nvSpPr>
          <p:cNvPr id="344" name="Google Shape;344;p5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know you are done?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⇒"/>
            </a:pPr>
            <a:r>
              <a:rPr lang="en"/>
              <a:t>Theoretical saturation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do you know you are not winging it?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⇒"/>
            </a:pPr>
            <a:r>
              <a:rPr lang="en"/>
              <a:t>Intercoder agreement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Saturation [1]</a:t>
            </a:r>
            <a:endParaRPr/>
          </a:p>
        </p:txBody>
      </p:sp>
      <p:sp>
        <p:nvSpPr>
          <p:cNvPr id="351" name="Google Shape;351;p5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52" name="Google Shape;352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saturation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Stopping criterion for qualitative data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Theory saturation is reached when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Further data collection and analysis does not yield new insights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technical terms, the change rate of codes is zero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data yields new codings, but no new codes</a:t>
            </a:r>
            <a:endParaRPr/>
          </a:p>
        </p:txBody>
      </p:sp>
      <p:sp>
        <p:nvSpPr>
          <p:cNvPr id="353" name="Google Shape;353;p5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Originally theoretical s</a:t>
            </a:r>
            <a:r>
              <a:rPr lang="en"/>
              <a:t>aturation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Saturation in Research Process</a:t>
            </a:r>
            <a:endParaRPr/>
          </a:p>
        </p:txBody>
      </p:sp>
      <p:sp>
        <p:nvSpPr>
          <p:cNvPr id="359" name="Google Shape;359;p5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60" name="Google Shape;36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Theory Saturation</a:t>
            </a:r>
            <a:endParaRPr/>
          </a:p>
        </p:txBody>
      </p:sp>
      <p:sp>
        <p:nvSpPr>
          <p:cNvPr id="366" name="Google Shape;366;p5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analysis into iterations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theoretical sampling to seek out new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 finishing the analysis of new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the number of new codings and codes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new codes in five iterations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saturation reached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Charting of Theory Saturation by Iteration</a:t>
            </a:r>
            <a:endParaRPr/>
          </a:p>
        </p:txBody>
      </p:sp>
      <p:sp>
        <p:nvSpPr>
          <p:cNvPr id="373" name="Google Shape;373;p5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74" name="Google Shape;37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Intercoder Reliability</a:t>
            </a:r>
            <a:endParaRPr/>
          </a:p>
        </p:txBody>
      </p:sp>
      <p:sp>
        <p:nvSpPr>
          <p:cNvPr id="380" name="Google Shape;380;p5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Intercoder reliability (also: interrater reliability)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of agreement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primary (the original) coder and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or more secondary coders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other words: Is there intersubjective agreement?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to what extent?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of Measuring Intercoder Agreement</a:t>
            </a:r>
            <a:endParaRPr/>
          </a:p>
        </p:txBody>
      </p:sp>
      <p:sp>
        <p:nvSpPr>
          <p:cNvPr id="387" name="Google Shape;387;p5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original coder creates the code book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code book documents the code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origins</a:t>
            </a:r>
            <a:r>
              <a:rPr lang="en"/>
              <a:t> coder explains and discusses the code book with further coders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Further coders (usually one) code the primary materials using the code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intercoder agreement is the overlap/agreement of the coding sets</a:t>
            </a:r>
            <a:endParaRPr/>
          </a:p>
        </p:txBody>
      </p:sp>
      <p:sp>
        <p:nvSpPr>
          <p:cNvPr id="388" name="Google Shape;388;p5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of Intercoder Agreement</a:t>
            </a:r>
            <a:endParaRPr/>
          </a:p>
        </p:txBody>
      </p:sp>
      <p:sp>
        <p:nvSpPr>
          <p:cNvPr id="394" name="Google Shape;394;p5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95" name="Google Shape;39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Iterative Process</a:t>
            </a:r>
            <a:endParaRPr/>
          </a:p>
        </p:txBody>
      </p:sp>
      <p:sp>
        <p:nvSpPr>
          <p:cNvPr id="401" name="Google Shape;401;p5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is Iterative</a:t>
            </a:r>
            <a:endParaRPr/>
          </a:p>
        </p:txBody>
      </p:sp>
      <p:sp>
        <p:nvSpPr>
          <p:cNvPr id="407" name="Google Shape;407;p6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408" name="Google Shape;408;p6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proceeds in iterations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Iterations incrementally answer the primary research question at 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Triangulation and expansion </a:t>
            </a:r>
            <a:r>
              <a:rPr lang="en"/>
              <a:t>improve</a:t>
            </a:r>
            <a:r>
              <a:rPr lang="en"/>
              <a:t> rigor and increase relevance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Project Iteration</a:t>
            </a:r>
            <a:endParaRPr/>
          </a:p>
        </p:txBody>
      </p:sp>
      <p:sp>
        <p:nvSpPr>
          <p:cNvPr id="414" name="Google Shape;414;p6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research project proceeds in iterations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iteration provides an increment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Stopping criterion is theoretical saturation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iteration gathers new data based on insights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data (samples) follow sampling model and strategy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research project determines the primary methodology</a:t>
            </a:r>
            <a:endParaRPr/>
          </a:p>
        </p:txBody>
      </p:sp>
      <p:sp>
        <p:nvSpPr>
          <p:cNvPr id="415" name="Google Shape;415;p6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proceeds incrementally, across many research projects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Larger research projects are composed of smaller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research projects allow for triangulation (rigor)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research projects expand scope (relevance)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research project may use a different methodology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Systematic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study research</a:t>
            </a:r>
            <a:endParaRPr/>
          </a:p>
        </p:txBody>
      </p:sp>
      <p:sp>
        <p:nvSpPr>
          <p:cNvPr id="421" name="Google Shape;421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Build-out Using Multiple Research Projects</a:t>
            </a:r>
            <a:endParaRPr/>
          </a:p>
        </p:txBody>
      </p:sp>
      <p:sp>
        <p:nvSpPr>
          <p:cNvPr id="422" name="Google Shape;422;p6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Theory Presentation</a:t>
            </a:r>
            <a:endParaRPr/>
          </a:p>
        </p:txBody>
      </p:sp>
      <p:sp>
        <p:nvSpPr>
          <p:cNvPr id="428" name="Google Shape;428;p6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Presentation</a:t>
            </a:r>
            <a:endParaRPr/>
          </a:p>
        </p:txBody>
      </p:sp>
      <p:sp>
        <p:nvSpPr>
          <p:cNvPr id="434" name="Google Shape;434;p6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435" name="Google Shape;435;p6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Prose-based descriptions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equation models [1]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 matrices [2]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Handbooks [3]</a:t>
            </a:r>
            <a:endParaRPr/>
          </a:p>
        </p:txBody>
      </p:sp>
      <p:sp>
        <p:nvSpPr>
          <p:cNvPr id="436" name="Google Shape;436;p64"/>
          <p:cNvSpPr txBox="1"/>
          <p:nvPr/>
        </p:nvSpPr>
        <p:spPr>
          <a:xfrm>
            <a:off x="0" y="4233672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Palvia et al. (2006)</a:t>
            </a:r>
            <a:r>
              <a:rPr lang="en"/>
              <a:t>: Research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See </a:t>
            </a:r>
            <a:r>
              <a:rPr lang="en" u="sng">
                <a:solidFill>
                  <a:schemeClr val="hlink"/>
                </a:solidFill>
                <a:hlinkClick r:id="rId5"/>
              </a:rPr>
              <a:t>Webster &amp; Watson (2002)</a:t>
            </a:r>
            <a:r>
              <a:rPr lang="en"/>
              <a:t>: Analyzing the past to prepare for the future.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See </a:t>
            </a:r>
            <a:r>
              <a:rPr lang="en" u="sng">
                <a:solidFill>
                  <a:schemeClr val="hlink"/>
                </a:solidFill>
                <a:hlinkClick r:id="rId6"/>
              </a:rPr>
              <a:t>Riehle et al. (2025)</a:t>
            </a:r>
            <a:r>
              <a:rPr lang="en"/>
              <a:t>: Pattern discovery and validation (a.k.a. the handbook method).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building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QDA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QDA artifacts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Inductive 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Iterative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presentation</a:t>
            </a:r>
            <a:endParaRPr/>
          </a:p>
        </p:txBody>
      </p:sp>
      <p:sp>
        <p:nvSpPr>
          <p:cNvPr id="442" name="Google Shape;442;p6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43" name="Google Shape;443;p6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6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49" name="Google Shape;449;p66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55" name="Google Shape;455;p6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456" name="Google Shape;456;p6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2012-2025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
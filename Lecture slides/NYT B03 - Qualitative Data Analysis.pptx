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63BEF2-9B03-4342-9130-0186D3EB2D4B}">
  <a:tblStyle styleId="{5763BEF2-9B03-4342-9130-0186D3EB2D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574f649a3e_0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g3574f649a3e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2dbbd0258e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g2dbbd0258e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2dbbd0258e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2dbbd0258e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2dbbd0258e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2dbbd0258e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dbbd0258e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dbbd0258e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45e54fe6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45e54fe6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45e54fe6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45e54fe6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dbbd0258e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dbbd0258e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45e54fe6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545e54fe6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545e54fe64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545e54fe64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574f649a3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574f649a3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574f649a3e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574f649a3e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545e54fe64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545e54fe64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4f649a3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4f649a3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45e54fe64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45e54fe64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574f649a3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574f649a3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574f649a3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574f649a3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574f649a3e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574f649a3e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574f649a3e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574f649a3e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545e54fe64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545e54fe64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bbd0258ec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bbd0258e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dd50ec92f8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dd50ec92f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545e54fe6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545e54fe6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45e54fe6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545e54fe6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545e54fe6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545e54fe6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545e54fe6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545e54fe6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545e54fe6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545e54fe6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74f649a3e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74f649a3e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d50ec92f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2dd50ec92f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545e54fe6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545e54fe6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574f649a3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574f649a3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545e54fe64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545e54fe64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124494c3ca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124494c3ca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74f649a3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74f649a3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574f649a3e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574f649a3e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574f649a3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574f649a3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574f649a3e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574f649a3e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72b046f8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72b046f8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574f649a3e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574f649a3e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74f649a3e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74f649a3e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74f649a3e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74f649a3e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574f649a3e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574f649a3e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545e54fe64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545e54fe64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545e54fe64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545e54fe64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545e54fe64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545e54fe64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545e54fe64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545e54fe6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2dbbd0258e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2dbbd0258e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545e54fe64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545e54fe64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574f649a3e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574f649a3e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574f649a3e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574f649a3e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574f649a3e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574f649a3e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574f649a3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574f649a3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574f649a3e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574f649a3e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574f649a3e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3574f649a3e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574f649a3e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574f649a3e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574f649a3e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574f649a3e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574f649a3e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574f649a3e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574f649a3e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3574f649a3e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3574f649a3e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3574f649a3e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uni1.de/ny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://uni1.de/nyt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://uni1.de/nyt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://uni1.de/nyt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://uni1.de/nyt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://uni1.de/nyt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://uni1.de/nyt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://uni1.de/nyt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://uni1.de/nyt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://uni1.de/nyt" TargetMode="Externa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8" name="Google Shape;38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B03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4" name="Google Shape;44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Theory Building</a:t>
            </a:r>
            <a:endParaRPr/>
          </a:p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(QDA) [1]</a:t>
            </a:r>
            <a:endParaRPr/>
          </a:p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is a</a:t>
            </a:r>
            <a:r>
              <a:rPr lang="en"/>
              <a:t> research method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deriving meaning from qualitative data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response to one or more research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Typically used in theory building and development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qualitative content analysis (German: qualitative Inhaltsanalyse)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 and Purpose of QDA in Theory Building</a:t>
            </a:r>
            <a:endParaRPr/>
          </a:p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66" name="Google Shape;6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 in Theory Building Methodologies</a:t>
            </a:r>
            <a:endParaRPr/>
          </a:p>
        </p:txBody>
      </p:sp>
      <p:sp>
        <p:nvSpPr>
          <p:cNvPr id="72" name="Google Shape;72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Most QDA methods can be plugged into theory building </a:t>
            </a:r>
            <a:r>
              <a:rPr lang="en"/>
              <a:t>methodologies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Grounded theory according to Corbin &amp; Strauss may be the only exception</a:t>
            </a:r>
            <a:endParaRPr/>
          </a:p>
        </p:txBody>
      </p:sp>
      <p:sp>
        <p:nvSpPr>
          <p:cNvPr id="73" name="Google Shape;73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QDA</a:t>
            </a:r>
            <a:endParaRPr/>
          </a:p>
        </p:txBody>
      </p:sp>
      <p:sp>
        <p:nvSpPr>
          <p:cNvPr id="79" name="Google Shape;79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qualitative data analysis process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(→ theory building from data)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Structured (→ not arbitrary / random)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 (→ assuring quality)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QDA Artifacts</a:t>
            </a:r>
            <a:endParaRPr/>
          </a:p>
        </p:txBody>
      </p:sp>
      <p:sp>
        <p:nvSpPr>
          <p:cNvPr id="86" name="Google Shape;86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</a:t>
            </a:r>
            <a:endParaRPr/>
          </a:p>
        </p:txBody>
      </p:sp>
      <p:sp>
        <p:nvSpPr>
          <p:cNvPr id="92" name="Google Shape;92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93" name="Google Shape;9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and Codings</a:t>
            </a:r>
            <a:endParaRPr/>
          </a:p>
        </p:txBody>
      </p:sp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00" name="Google Shape;100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(also label, annotation, etc.)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text (name) for a theoretical observation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open code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Originates from the primary materials through a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 between an open code and its origin in the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theme or category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Hierarchically abstracts from other codes in a code system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Codings</a:t>
            </a:r>
            <a:endParaRPr/>
          </a:p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07" name="Google Shape;10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8" name="Google Shape;108;p18"/>
          <p:cNvSpPr/>
          <p:nvPr/>
        </p:nvSpPr>
        <p:spPr>
          <a:xfrm>
            <a:off x="331725" y="4087150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/>
          <p:nvPr/>
        </p:nvSpPr>
        <p:spPr>
          <a:xfrm>
            <a:off x="1919525" y="2697825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Definition</a:t>
            </a:r>
            <a:endParaRPr/>
          </a:p>
        </p:txBody>
      </p:sp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definition should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(one sentence)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description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to use the code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not to use the code </a:t>
            </a:r>
            <a:endParaRPr/>
          </a:p>
        </p:txBody>
      </p:sp>
      <p:sp>
        <p:nvSpPr>
          <p:cNvPr id="116" name="Google Shape;116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</a:t>
            </a:r>
            <a:endParaRPr/>
          </a:p>
        </p:txBody>
      </p:sp>
      <p:sp>
        <p:nvSpPr>
          <p:cNvPr id="122" name="Google Shape;122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memo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written reflection on a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memo may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insights and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notes for future investigations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code itself should be defined independently of the memo</a:t>
            </a:r>
            <a:endParaRPr/>
          </a:p>
        </p:txBody>
      </p:sp>
      <p:sp>
        <p:nvSpPr>
          <p:cNvPr id="123" name="Google Shape;123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Memo</a:t>
            </a:r>
            <a:endParaRPr/>
          </a:p>
        </p:txBody>
      </p:sp>
      <p:sp>
        <p:nvSpPr>
          <p:cNvPr id="129" name="Google Shape;129;p2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30" name="Google Shape;13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1" name="Google Shape;131;p21"/>
          <p:cNvSpPr/>
          <p:nvPr/>
        </p:nvSpPr>
        <p:spPr>
          <a:xfrm>
            <a:off x="6491525" y="3123125"/>
            <a:ext cx="1155300" cy="16551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</a:t>
            </a:r>
            <a:r>
              <a:rPr lang="en"/>
              <a:t>ode system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hierarchical structure of codes intended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capture the relationships between the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code system is an expression of the theory under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Codes represent concepts and constructs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Relationships represent hypotheses</a:t>
            </a:r>
            <a:endParaRPr/>
          </a:p>
        </p:txBody>
      </p:sp>
      <p:sp>
        <p:nvSpPr>
          <p:cNvPr id="137" name="Google Shape;13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</a:t>
            </a:r>
            <a:endParaRPr/>
          </a:p>
        </p:txBody>
      </p:sp>
      <p:sp>
        <p:nvSpPr>
          <p:cNvPr id="138" name="Google Shape;138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System</a:t>
            </a:r>
            <a:endParaRPr/>
          </a:p>
        </p:txBody>
      </p:sp>
      <p:sp>
        <p:nvSpPr>
          <p:cNvPr id="144" name="Google Shape;144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6" name="Google Shape;146;p23"/>
          <p:cNvSpPr/>
          <p:nvPr/>
        </p:nvSpPr>
        <p:spPr>
          <a:xfrm>
            <a:off x="166925" y="1492800"/>
            <a:ext cx="1685400" cy="34377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Semantics of Hierarchy</a:t>
            </a:r>
            <a:endParaRPr/>
          </a:p>
        </p:txBody>
      </p:sp>
      <p:sp>
        <p:nvSpPr>
          <p:cNvPr id="152" name="Google Shape;152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principle, anything goes, but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patterns of hierarchical organization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slotting system to group similar open codes (cf. card sorting)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grouping system for underlying themes (cf. thematic analysis)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structuring mechanism for theoretical constructs / abstractions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Computer science students may use common modeling techniques like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Association, aggregation (part-whole), generalization/specialization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tool (yet) allows for the formal capture of such (meta) relationships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code in the code system, the code book lists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</a:t>
            </a:r>
            <a:r>
              <a:rPr lang="en"/>
              <a:t> definition of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Instructions for when to use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Possible disambiguations towards other codes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exemplary piece of data coded with the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Beyond general documentation, a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Helps establish intercoder reliability of analysis</a:t>
            </a:r>
            <a:endParaRPr/>
          </a:p>
        </p:txBody>
      </p:sp>
      <p:sp>
        <p:nvSpPr>
          <p:cNvPr id="159" name="Google Shape;159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Book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Presentation</a:t>
            </a:r>
            <a:endParaRPr/>
          </a:p>
        </p:txBody>
      </p:sp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systems and associated artifacts represent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more to the theory in a researcher’s mind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 needs research articles to document this</a:t>
            </a:r>
            <a:endParaRPr/>
          </a:p>
        </p:txBody>
      </p:sp>
      <p:sp>
        <p:nvSpPr>
          <p:cNvPr id="167" name="Google Shape;167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Artifacts in Overview</a:t>
            </a:r>
            <a:endParaRPr/>
          </a:p>
        </p:txBody>
      </p:sp>
      <p:sp>
        <p:nvSpPr>
          <p:cNvPr id="173" name="Google Shape;173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74" name="Google Shape;174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QDA Methods</a:t>
            </a:r>
            <a:endParaRPr/>
          </a:p>
        </p:txBody>
      </p:sp>
      <p:sp>
        <p:nvSpPr>
          <p:cNvPr id="180" name="Google Shape;180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Different QDA Methods</a:t>
            </a:r>
            <a:endParaRPr/>
          </a:p>
        </p:txBody>
      </p:sp>
      <p:sp>
        <p:nvSpPr>
          <p:cNvPr id="186" name="Google Shape;186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Card sorting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Thematic analysis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 [3]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88" name="Google Shape;188;p2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/>
              <a:t>: Card sorting.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Braun &amp; Clarke (2012)</a:t>
            </a:r>
            <a:r>
              <a:rPr lang="en"/>
              <a:t>: Thematic analysis.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 Sorting</a:t>
            </a:r>
            <a:endParaRPr/>
          </a:p>
        </p:txBody>
      </p:sp>
      <p:sp>
        <p:nvSpPr>
          <p:cNvPr id="194" name="Google Shape;194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item [1] and write on card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cards with similar items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and summarize groups</a:t>
            </a:r>
            <a:endParaRPr/>
          </a:p>
        </p:txBody>
      </p:sp>
      <p:sp>
        <p:nvSpPr>
          <p:cNvPr id="195" name="Google Shape;195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96" name="Google Shape;196;p3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Item, topic, theme, artifact, … depends on context and is relative to research question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Coding, Then</a:t>
            </a:r>
            <a:endParaRPr/>
          </a:p>
        </p:txBody>
      </p:sp>
      <p:sp>
        <p:nvSpPr>
          <p:cNvPr id="202" name="Google Shape;202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03" name="Google Shape;20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199" cy="3948491"/>
          </a:xfrm>
          <a:prstGeom prst="rect">
            <a:avLst/>
          </a:prstGeom>
          <a:noFill/>
          <a:ln cap="flat" cmpd="sng" w="1905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Now (With QDAcity)</a:t>
            </a:r>
            <a:endParaRPr/>
          </a:p>
        </p:txBody>
      </p:sp>
      <p:sp>
        <p:nvSpPr>
          <p:cNvPr id="209" name="Google Shape;209;p3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10" name="Google Shape;21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1062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Thematic Analysis</a:t>
            </a:r>
            <a:endParaRPr/>
          </a:p>
        </p:txBody>
      </p:sp>
      <p:sp>
        <p:nvSpPr>
          <p:cNvPr id="216" name="Google Shape;216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Familiarize yourself with the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Generate </a:t>
            </a:r>
            <a:r>
              <a:rPr lang="en"/>
              <a:t>initial</a:t>
            </a:r>
            <a:r>
              <a:rPr lang="en"/>
              <a:t>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Search for potential themes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Review potential themes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Define and name themes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6"/>
            </a:pPr>
            <a:r>
              <a:rPr lang="en"/>
              <a:t>Product the report</a:t>
            </a:r>
            <a:endParaRPr/>
          </a:p>
        </p:txBody>
      </p:sp>
      <p:sp>
        <p:nvSpPr>
          <p:cNvPr id="217" name="Google Shape;217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open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axial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selective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articles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Inductive Coding [1]</a:t>
            </a:r>
            <a:endParaRPr/>
          </a:p>
        </p:txBody>
      </p:sp>
      <p:sp>
        <p:nvSpPr>
          <p:cNvPr id="224" name="Google Shape;224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25" name="Google Shape;225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My shorthand for coding according to Corbin &amp; Strauss (2008) [DR]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</a:t>
            </a:r>
            <a:endParaRPr/>
          </a:p>
        </p:txBody>
      </p:sp>
      <p:sp>
        <p:nvSpPr>
          <p:cNvPr id="231" name="Google Shape;231;p35"/>
          <p:cNvSpPr txBox="1"/>
          <p:nvPr>
            <p:ph idx="1" type="body"/>
          </p:nvPr>
        </p:nvSpPr>
        <p:spPr>
          <a:xfrm>
            <a:off x="3200400" y="914400"/>
            <a:ext cx="56109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 is a research methodology for theory building like qualitative </a:t>
            </a:r>
            <a:r>
              <a:rPr lang="en"/>
              <a:t>surveys</a:t>
            </a:r>
            <a:r>
              <a:rPr lang="en"/>
              <a:t>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Inductive coding was lifted from Corbin &amp; Strauss’ version of grounded theory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is a common practice and I’m unaware of anything speaking against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33" name="Google Shape;233;p3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2582723" cy="38404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 Methods</a:t>
            </a:r>
            <a:endParaRPr/>
          </a:p>
        </p:txBody>
      </p:sp>
      <p:sp>
        <p:nvSpPr>
          <p:cNvPr id="240" name="Google Shape;240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41" name="Google Shape;241;p3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{5763BEF2-9B03-4342-9130-0186D3EB2D4B}</a:tableStyleId>
              </a:tblPr>
              <a:tblGrid>
                <a:gridCol w="1719075"/>
                <a:gridCol w="1719075"/>
                <a:gridCol w="1719075"/>
                <a:gridCol w="1719075"/>
                <a:gridCol w="1719075"/>
              </a:tblGrid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Card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sorting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Thematic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analysis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Inductive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Artifacts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Categories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 groups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Themes and subthemes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Categories and core categories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Analysis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Card writing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Synthesis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Grouping and summarizing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 naming and </a:t>
                      </a:r>
                      <a:r>
                        <a:rPr lang="en"/>
                        <a:t>defining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Axial and selective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Rigor vs. Effort in QDA Methods</a:t>
            </a:r>
            <a:endParaRPr/>
          </a:p>
        </p:txBody>
      </p:sp>
      <p:sp>
        <p:nvSpPr>
          <p:cNvPr id="247" name="Google Shape;247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48" name="Google Shape;248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Word of Caution</a:t>
            </a:r>
            <a:endParaRPr/>
          </a:p>
        </p:txBody>
      </p:sp>
      <p:sp>
        <p:nvSpPr>
          <p:cNvPr id="254" name="Google Shape;254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my </a:t>
            </a:r>
            <a:r>
              <a:rPr lang="en"/>
              <a:t>correlation</a:t>
            </a:r>
            <a:r>
              <a:rPr lang="en"/>
              <a:t> and attempted homogenization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authors and users can be extremely picky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 in a given research project, always use the specific method</a:t>
            </a:r>
            <a:endParaRPr/>
          </a:p>
        </p:txBody>
      </p:sp>
      <p:sp>
        <p:nvSpPr>
          <p:cNvPr id="255" name="Google Shape;255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Inductive Coding</a:t>
            </a:r>
            <a:endParaRPr/>
          </a:p>
        </p:txBody>
      </p:sp>
      <p:sp>
        <p:nvSpPr>
          <p:cNvPr id="261" name="Google Shape;261;p3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</a:t>
            </a:r>
            <a:endParaRPr/>
          </a:p>
        </p:txBody>
      </p:sp>
      <p:sp>
        <p:nvSpPr>
          <p:cNvPr id="267" name="Google Shape;267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rgbClr val="212121"/>
                </a:solidFill>
              </a:rPr>
              <a:t>Identify key concepts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Identify similar terms, synonyms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Determine concept codes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May be terms, actions, relationships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Codify using symbol, term, or desc.</a:t>
            </a:r>
            <a:endParaRPr sz="1800"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rgbClr val="212121"/>
                </a:solidFill>
              </a:rPr>
              <a:t>Annotate text with concept codes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Annotate using concept codes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Use codes consistently</a:t>
            </a:r>
            <a:endParaRPr sz="1800"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Memo writing!</a:t>
            </a:r>
            <a:endParaRPr sz="1800">
              <a:solidFill>
                <a:srgbClr val="212121"/>
              </a:solidFill>
            </a:endParaRPr>
          </a:p>
        </p:txBody>
      </p:sp>
      <p:sp>
        <p:nvSpPr>
          <p:cNvPr id="268" name="Google Shape;268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Concepts and Theoretical Constructs</a:t>
            </a:r>
            <a:endParaRPr/>
          </a:p>
        </p:txBody>
      </p:sp>
      <p:sp>
        <p:nvSpPr>
          <p:cNvPr id="274" name="Google Shape;274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</a:t>
            </a:r>
            <a:endParaRPr/>
          </a:p>
        </p:txBody>
      </p:sp>
      <p:sp>
        <p:nvSpPr>
          <p:cNvPr id="281" name="Google Shape;281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relationships between codes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Equivalence class of atomic concepts</a:t>
            </a:r>
            <a:endParaRPr sz="1800"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Category hierarchy follows</a:t>
            </a:r>
            <a:endParaRPr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Should form a single-rooted hierarchy</a:t>
            </a:r>
            <a:endParaRPr sz="1800"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800">
                <a:solidFill>
                  <a:srgbClr val="212121"/>
                </a:solidFill>
              </a:rPr>
              <a:t>Mutually exclusive, completely exhaustive</a:t>
            </a:r>
            <a:endParaRPr sz="1800"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/>
              <a:t>Other types of relationships can be documented in memos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</a:t>
            </a:r>
            <a:endParaRPr/>
          </a:p>
        </p:txBody>
      </p:sp>
      <p:sp>
        <p:nvSpPr>
          <p:cNvPr id="288" name="Google Shape;288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Giving categories context and making sense of them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Writing memos, code book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theory (from data) is the root category of the category hierarchy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“Core category”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any given level of the hierarchy, term categories link by relationship categories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this stage, no need for validation, but theory should “make sense”</a:t>
            </a:r>
            <a:endParaRPr/>
          </a:p>
        </p:txBody>
      </p:sp>
      <p:sp>
        <p:nvSpPr>
          <p:cNvPr id="289" name="Google Shape;289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</a:t>
            </a:r>
            <a:endParaRPr/>
          </a:p>
        </p:txBody>
      </p:sp>
      <p:sp>
        <p:nvSpPr>
          <p:cNvPr id="295" name="Google Shape;295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an inductively derived code system, the hierarchical relationships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Can express hypothesized relationships between theoretical constructs</a:t>
            </a:r>
            <a:endParaRPr/>
          </a:p>
        </p:txBody>
      </p:sp>
      <p:sp>
        <p:nvSpPr>
          <p:cNvPr id="296" name="Google Shape;296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  <p:sp>
        <p:nvSpPr>
          <p:cNvPr id="302" name="Google Shape;302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Criteria for Qualitative Research</a:t>
            </a:r>
            <a:endParaRPr/>
          </a:p>
        </p:txBody>
      </p:sp>
      <p:sp>
        <p:nvSpPr>
          <p:cNvPr id="308" name="Google Shape;308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09" name="Google Shape;309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based on Guba &amp; Lincoln [1]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Credibility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Transferability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Dependability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Confirmability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Typically realized through specific practices</a:t>
            </a:r>
            <a:endParaRPr/>
          </a:p>
        </p:txBody>
      </p:sp>
      <p:sp>
        <p:nvSpPr>
          <p:cNvPr id="310" name="Google Shape;310;p4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rgbClr val="34A3C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Guba &amp; Lincoln (1982)</a:t>
            </a:r>
            <a:r>
              <a:rPr lang="en"/>
              <a:t>: Naturalistic inquiry.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Practices</a:t>
            </a:r>
            <a:endParaRPr/>
          </a:p>
        </p:txBody>
      </p:sp>
      <p:sp>
        <p:nvSpPr>
          <p:cNvPr id="316" name="Google Shape;316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17" name="Google Shape;317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example research 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Member checking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 debriefing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Simple and easy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</a:t>
            </a:r>
            <a:endParaRPr/>
          </a:p>
        </p:txBody>
      </p:sp>
      <p:sp>
        <p:nvSpPr>
          <p:cNvPr id="323" name="Google Shape;323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Seeks feedback from data sources (participants, stakeholders) either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During data gathering (active and reflective listening)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analysis (asking for feedback and confirmation)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</a:t>
            </a:r>
            <a:endParaRPr/>
          </a:p>
        </p:txBody>
      </p:sp>
      <p:sp>
        <p:nvSpPr>
          <p:cNvPr id="330" name="Google Shape;330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Subjects their work to review and critique by a peer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multiple times during the current running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presents and explains their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peer questions and critiques the work, looking for flaws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documents the session with a protocol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QDA-Specific Concerns</a:t>
            </a:r>
            <a:endParaRPr/>
          </a:p>
        </p:txBody>
      </p:sp>
      <p:sp>
        <p:nvSpPr>
          <p:cNvPr id="337" name="Google Shape;337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38" name="Google Shape;338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know you are done?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Theoretical saturation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do you know you are not winging it?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Intercoder agreement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Theoretical Saturation</a:t>
            </a:r>
            <a:endParaRPr/>
          </a:p>
        </p:txBody>
      </p:sp>
      <p:sp>
        <p:nvSpPr>
          <p:cNvPr id="344" name="Google Shape;344;p5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45" name="Google Shape;345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Theoretical saturation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for 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Theoretical saturation is reached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data collection and analysis does not yield new insights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technical terms, the change rate of codes is zero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yields new codings, but no new codes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Use of Theoretical Saturation</a:t>
            </a:r>
            <a:endParaRPr/>
          </a:p>
        </p:txBody>
      </p:sp>
      <p:sp>
        <p:nvSpPr>
          <p:cNvPr id="351" name="Google Shape;351;p5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52" name="Google Shape;352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Measuring Theoretical Saturation</a:t>
            </a:r>
            <a:endParaRPr/>
          </a:p>
        </p:txBody>
      </p:sp>
      <p:sp>
        <p:nvSpPr>
          <p:cNvPr id="358" name="Google Shape;358;p5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59" name="Google Shape;359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analysis into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theoretical sampling to seek out new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finishing the analysis of new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Count the number of new codings and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new codes in five iterations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Theoretical saturation reached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Charting of Theoretical Saturation by Iteration</a:t>
            </a:r>
            <a:endParaRPr/>
          </a:p>
        </p:txBody>
      </p:sp>
      <p:sp>
        <p:nvSpPr>
          <p:cNvPr id="365" name="Google Shape;365;p5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66" name="Google Shape;366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</a:t>
            </a:r>
            <a:endParaRPr/>
          </a:p>
        </p:txBody>
      </p:sp>
      <p:sp>
        <p:nvSpPr>
          <p:cNvPr id="372" name="Google Shape;372;p5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73" name="Google Shape;373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 (also: interrater reliability)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of agreement between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primary (the original) coder and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or more secondary coders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other words: Is there intersubjective agreement?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to what extent?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of Measuring Intercoder Agreement</a:t>
            </a:r>
            <a:endParaRPr/>
          </a:p>
        </p:txBody>
      </p:sp>
      <p:sp>
        <p:nvSpPr>
          <p:cNvPr id="379" name="Google Shape;379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original coder creates the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origins</a:t>
            </a:r>
            <a:r>
              <a:rPr lang="en"/>
              <a:t> coder explains and discusses the code book with further coders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coders (usually one) code the primary materials using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intercoder agreement is the overlap/agreement of the coding sets</a:t>
            </a:r>
            <a:endParaRPr/>
          </a:p>
        </p:txBody>
      </p:sp>
      <p:sp>
        <p:nvSpPr>
          <p:cNvPr id="380" name="Google Shape;380;p5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Measures of Intercoder Agreement</a:t>
            </a:r>
            <a:endParaRPr/>
          </a:p>
        </p:txBody>
      </p:sp>
      <p:sp>
        <p:nvSpPr>
          <p:cNvPr id="386" name="Google Shape;386;p5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87" name="Google Shape;387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Iterative Process</a:t>
            </a:r>
            <a:endParaRPr/>
          </a:p>
        </p:txBody>
      </p:sp>
      <p:sp>
        <p:nvSpPr>
          <p:cNvPr id="393" name="Google Shape;393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is Iterative</a:t>
            </a:r>
            <a:endParaRPr/>
          </a:p>
        </p:txBody>
      </p:sp>
      <p:sp>
        <p:nvSpPr>
          <p:cNvPr id="399" name="Google Shape;399;p5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00" name="Google Shape;400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Iterations incrementally answer the primary research question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Triangulation and expansion </a:t>
            </a:r>
            <a:r>
              <a:rPr lang="en"/>
              <a:t>improve</a:t>
            </a:r>
            <a:r>
              <a:rPr lang="en"/>
              <a:t> rigor and increase relevance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Project Iteration</a:t>
            </a:r>
            <a:endParaRPr/>
          </a:p>
        </p:txBody>
      </p:sp>
      <p:sp>
        <p:nvSpPr>
          <p:cNvPr id="406" name="Google Shape;406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research project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provides an increment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is theoretical saturation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gathers new data based on insights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(samples) follow sampling model and strategy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 project determines the primary methodology</a:t>
            </a:r>
            <a:endParaRPr/>
          </a:p>
        </p:txBody>
      </p:sp>
      <p:sp>
        <p:nvSpPr>
          <p:cNvPr id="407" name="Google Shape;407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incrementally, across many research projects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Larger research projects are composed of smaller ones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allow for triangulation (rigor)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expand scope (relevance)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Each research project may use a different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</p:txBody>
      </p:sp>
      <p:sp>
        <p:nvSpPr>
          <p:cNvPr id="413" name="Google Shape;413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Build-out Using Multiple Research Projects</a:t>
            </a:r>
            <a:endParaRPr/>
          </a:p>
        </p:txBody>
      </p:sp>
      <p:sp>
        <p:nvSpPr>
          <p:cNvPr id="414" name="Google Shape;414;p6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6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Theory Presentation</a:t>
            </a:r>
            <a:endParaRPr/>
          </a:p>
        </p:txBody>
      </p:sp>
      <p:sp>
        <p:nvSpPr>
          <p:cNvPr id="420" name="Google Shape;420;p6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6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27" name="Google Shape;427;p6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 matrix (Webster &amp; Watson)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	Purely a presentation format (table not tree)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Code System + memos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33" name="Google Shape;433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34" name="Google Shape;434;p6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40" name="Google Shape;440;p6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46" name="Google Shape;446;p6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47" name="Google Shape;447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
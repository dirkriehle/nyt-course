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D428D0E-079B-4A2F-904C-083FDCE48959}">
  <a:tblStyle styleId="{9D428D0E-079B-4A2F-904C-083FDCE4895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20" Type="http://schemas.openxmlformats.org/officeDocument/2006/relationships/slide" Target="slides/slide14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22" Type="http://schemas.openxmlformats.org/officeDocument/2006/relationships/slide" Target="slides/slide16.xml"/><Relationship Id="rId66" Type="http://schemas.openxmlformats.org/officeDocument/2006/relationships/slide" Target="slides/slide60.xml"/><Relationship Id="rId21" Type="http://schemas.openxmlformats.org/officeDocument/2006/relationships/slide" Target="slides/slide15.xml"/><Relationship Id="rId65" Type="http://schemas.openxmlformats.org/officeDocument/2006/relationships/slide" Target="slides/slide59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67" Type="http://schemas.openxmlformats.org/officeDocument/2006/relationships/slide" Target="slides/slide61.xml"/><Relationship Id="rId60" Type="http://schemas.openxmlformats.org/officeDocument/2006/relationships/slide" Target="slides/slide54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55" Type="http://schemas.openxmlformats.org/officeDocument/2006/relationships/slide" Target="slides/slide49.xml"/><Relationship Id="rId10" Type="http://schemas.openxmlformats.org/officeDocument/2006/relationships/slide" Target="slides/slide4.xml"/><Relationship Id="rId54" Type="http://schemas.openxmlformats.org/officeDocument/2006/relationships/slide" Target="slides/slide48.xml"/><Relationship Id="rId13" Type="http://schemas.openxmlformats.org/officeDocument/2006/relationships/slide" Target="slides/slide7.xml"/><Relationship Id="rId57" Type="http://schemas.openxmlformats.org/officeDocument/2006/relationships/slide" Target="slides/slide51.xml"/><Relationship Id="rId12" Type="http://schemas.openxmlformats.org/officeDocument/2006/relationships/slide" Target="slides/slide6.xml"/><Relationship Id="rId56" Type="http://schemas.openxmlformats.org/officeDocument/2006/relationships/slide" Target="slides/slide50.xml"/><Relationship Id="rId15" Type="http://schemas.openxmlformats.org/officeDocument/2006/relationships/slide" Target="slides/slide9.xml"/><Relationship Id="rId59" Type="http://schemas.openxmlformats.org/officeDocument/2006/relationships/slide" Target="slides/slide53.xml"/><Relationship Id="rId14" Type="http://schemas.openxmlformats.org/officeDocument/2006/relationships/slide" Target="slides/slide8.xml"/><Relationship Id="rId58" Type="http://schemas.openxmlformats.org/officeDocument/2006/relationships/slide" Target="slides/slide52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574f649a3e_0_1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574f649a3e_0_1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db5dbfe655_1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db5dbfe655_1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2dbbd0258ec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2dbbd0258ec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2dbbd0258ec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2dbbd0258ec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2dbbd0258ec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2dbbd0258ec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2dbbd0258ec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2dbbd0258ec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545e54fe64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545e54fe64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545e54fe64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545e54fe64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dbbd0258ec_0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2dbbd0258ec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545e54fe64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545e54fe64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545e54fe64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545e54fe64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574f649a3e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574f649a3e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574f649a3e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574f649a3e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545e54fe64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545e54fe64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574f649a3e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574f649a3e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545e54fe64_0_1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545e54fe64_0_1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574f649a3e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574f649a3e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574f649a3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574f649a3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574f649a3e_0_2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574f649a3e_0_2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545e54fe64_0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545e54fe64_0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2dbbd0258ec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2dbbd0258ec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2dd50ec92f8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2dd50ec92f8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545e54fe64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3545e54fe64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545e54fe64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545e54fe64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545e54fe64_0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545e54fe64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545e54fe64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3545e54fe64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545e54fe64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545e54fe64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574f649a3e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574f649a3e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2dd50ec92f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2dd50ec92f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545e54fe64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545e54fe64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574f649a3e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3574f649a3e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545e54fe64_0_1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g3545e54fe64_0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124494c3ca9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124494c3ca9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79e2568c9469c685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79e2568c9469c685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79e2568c9469c685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79e2568c9469c685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574f649a3e_0_1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574f649a3e_0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574f649a3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3574f649a3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3574f649a3e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1" name="Google Shape;311;g3574f649a3e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574f649a3e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3574f649a3e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272b046f8d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g272b046f8d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574f649a3e_0_1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574f649a3e_0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574f649a3e_0_2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8" name="Google Shape;338;g3574f649a3e_0_2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g3574f649a3e_1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5" name="Google Shape;345;g3574f649a3e_1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574f649a3e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" name="Google Shape;352;g3574f649a3e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545e54fe64_0_1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" name="Google Shape;359;g3545e54fe64_0_1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3545e54fe64_0_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6" name="Google Shape;366;g3545e54fe64_0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545e54fe64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g3545e54fe64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545e54fe64_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1" name="Google Shape;381;g3545e54fe64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2dbbd0258e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8" name="Google Shape;388;g2dbbd0258e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545e54fe64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3545e54fe64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574f649a3e_0_2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3574f649a3e_0_2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3574f649a3e_1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9" name="Google Shape;409;g3574f649a3e_1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574f649a3e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6" name="Google Shape;416;g3574f649a3e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3574f649a3e_0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1" name="Google Shape;421;g3574f649a3e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3574f649a3e_0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8" name="Google Shape;428;g3574f649a3e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3574f649a3e_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5" name="Google Shape;435;g3574f649a3e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3574f649a3e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2" name="Google Shape;442;g3574f649a3e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3574f649a3e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3574f649a3e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3574f649a3e_0_2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5" name="Google Shape;455;g3574f649a3e_0_2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3871595feac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2" name="Google Shape;462;g3871595feac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3871595feac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8" name="Google Shape;468;g3871595feac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uni1.de/nyt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oss.cs.fau.de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ss.cs.fau.de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ss.cs.fau.de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ss.cs.fau.d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oss.cs.fau.de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oss.cs.fau.de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oss.cs.fau.de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ss.cs.fau.de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docs.google.com/document/d/1JPE60ZoqYVrdAve0G_c0qy0g_M7_B_FLhP5qmaQ4mqI/edit?tab=t.0#heading=h.mxlpptrxvs9v" TargetMode="External"/><Relationship Id="rId5" Type="http://schemas.openxmlformats.org/officeDocument/2006/relationships/hyperlink" Target="https://docs.google.com/document/d/1JPE60ZoqYVrdAve0G_c0qy0g_M7_B_FLhP5qmaQ4mqI/edit?tab=t.0#heading=h.mxlpptrxvs9v" TargetMode="External"/><Relationship Id="rId6" Type="http://schemas.openxmlformats.org/officeDocument/2006/relationships/hyperlink" Target="https://docs.google.com/document/d/1JPE60ZoqYVrdAve0G_c0qy0g_M7_B_FLhP5qmaQ4mqI/edit?tab=t.0#heading=h.mxlpptrxvs9v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docs.google.com/document/d/1JPE60ZoqYVrdAve0G_c0qy0g_M7_B_FLhP5qmaQ4mqI/edit?tab=t.0#heading=h.mxlpptrxvs9v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1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docs.google.com/document/d/1JPE60ZoqYVrdAve0G_c0qy0g_M7_B_FLhP5qmaQ4mqI/edit?tab=t.0#heading=h.mxlpptrxvs9v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docs.google.com/document/d/1JPE60ZoqYVrdAve0G_c0qy0g_M7_B_FLhP5qmaQ4mqI/edit?tab=t.0#heading=h.mxlpptrxvs9v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docs.google.com/document/d/1JPE60ZoqYVrdAve0G_c0qy0g_M7_B_FLhP5qmaQ4mqI/edit?tab=t.0#heading=h.mxlpptrxvs9v" TargetMode="External"/><Relationship Id="rId5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oss.cs.fau.de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4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oss.cs.fau.de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oss.cs.fau.de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oss.cs.fau.de" TargetMode="Externa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oss.cs.fau.de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oss.cs.fau.de" TargetMode="Externa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s://oss.cs.fau.de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oss.cs.fau.de" TargetMode="Externa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s://oss.cs.fau.de" TargetMode="Externa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docs.google.com/document/d/1JPE60ZoqYVrdAve0G_c0qy0g_M7_B_FLhP5qmaQ4mqI/edit?tab=t.0#heading=h.mxlpptrxvs9v" TargetMode="Externa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oss.cs.fau.de" TargetMode="Externa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hyperlink" Target="https://oss.cs.fau.de" TargetMode="Externa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oss.cs.fau.de" TargetMode="Externa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hyperlink" Target="https://oss.cs.fau.de" TargetMode="Externa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Relationship Id="rId3" Type="http://schemas.openxmlformats.org/officeDocument/2006/relationships/hyperlink" Target="https://oss.cs.fau.de" TargetMode="Externa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6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Relationship Id="rId3" Type="http://schemas.openxmlformats.org/officeDocument/2006/relationships/hyperlink" Target="https://oss.cs.fau.de" TargetMode="Externa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3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Relationship Id="rId3" Type="http://schemas.openxmlformats.org/officeDocument/2006/relationships/hyperlink" Target="https://oss.cs.fau.de" TargetMode="Externa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Relationship Id="rId3" Type="http://schemas.openxmlformats.org/officeDocument/2006/relationships/hyperlink" Target="https://oss.cs.fau.de" TargetMode="Externa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8.png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Relationship Id="rId3" Type="http://schemas.openxmlformats.org/officeDocument/2006/relationships/hyperlink" Target="https://oss.cs.fau.de" TargetMode="Externa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Relationship Id="rId3" Type="http://schemas.openxmlformats.org/officeDocument/2006/relationships/hyperlink" Target="https://oss.cs.fau.de" TargetMode="Externa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Relationship Id="rId3" Type="http://schemas.openxmlformats.org/officeDocument/2006/relationships/hyperlink" Target="https://oss.cs.fau.de" TargetMode="Externa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s://docs.google.com/document/d/1JPE60ZoqYVrdAve0G_c0qy0g_M7_B_FLhP5qmaQ4mqI/edit?tab=t.0#heading=h.mxlpptrxvs9v" TargetMode="External"/><Relationship Id="rId5" Type="http://schemas.openxmlformats.org/officeDocument/2006/relationships/hyperlink" Target="https://docs.google.com/document/d/1JPE60ZoqYVrdAve0G_c0qy0g_M7_B_FLhP5qmaQ4mqI/edit?tab=t.0#heading=h.mxlpptrxvs9v" TargetMode="External"/><Relationship Id="rId6" Type="http://schemas.openxmlformats.org/officeDocument/2006/relationships/hyperlink" Target="https://docs.google.com/document/d/1JPE60ZoqYVrdAve0G_c0qy0g_M7_B_FLhP5qmaQ4mqI/edit?tab=t.0#heading=h.mxlpptrxvs9v" TargetMode="Externa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Relationship Id="rId3" Type="http://schemas.openxmlformats.org/officeDocument/2006/relationships/hyperlink" Target="https://oss.cs.fau.de" TargetMode="Externa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1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Qualitative Data Analysis</a:t>
            </a:r>
            <a:endParaRPr/>
          </a:p>
        </p:txBody>
      </p:sp>
      <p:sp>
        <p:nvSpPr>
          <p:cNvPr id="52" name="Google Shape;52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NYT B03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Content and Structure</a:t>
            </a:r>
            <a:endParaRPr/>
          </a:p>
        </p:txBody>
      </p:sp>
      <p:sp>
        <p:nvSpPr>
          <p:cNvPr id="58" name="Google Shape;58;p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59" name="Google Shape;59;p9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Overview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What is science?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Scientific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AutoNum type="arabicPeriod"/>
            </a:pPr>
            <a:r>
              <a:rPr b="1" lang="en">
                <a:solidFill>
                  <a:schemeClr val="accent3"/>
                </a:solidFill>
              </a:rPr>
              <a:t>Qualitative data analysis</a:t>
            </a:r>
            <a:endParaRPr b="1">
              <a:solidFill>
                <a:schemeClr val="accent3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Theory building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4"/>
            </a:pPr>
            <a:r>
              <a:rPr lang="en"/>
              <a:t>Theory building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4"/>
            </a:pPr>
            <a:r>
              <a:rPr lang="en"/>
              <a:t>Systematic reviews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4"/>
            </a:pPr>
            <a:r>
              <a:rPr lang="en"/>
              <a:t>Qualitative surveys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4"/>
            </a:pPr>
            <a:r>
              <a:rPr lang="en"/>
              <a:t>Action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4"/>
            </a:pPr>
            <a:r>
              <a:rPr lang="en"/>
              <a:t>Case study research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/>
          </a:p>
        </p:txBody>
      </p:sp>
      <p:sp>
        <p:nvSpPr>
          <p:cNvPr id="60" name="Google Shape;60;p9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Theory validation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9"/>
            </a:pPr>
            <a:r>
              <a:rPr lang="en"/>
              <a:t>Theory validation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9"/>
            </a:pPr>
            <a:r>
              <a:rPr lang="en"/>
              <a:t>Survey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9"/>
            </a:pPr>
            <a:r>
              <a:rPr lang="en"/>
              <a:t>Controlled experiments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Comprehensive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12"/>
            </a:pPr>
            <a:r>
              <a:rPr lang="en"/>
              <a:t>Design science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Academia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13"/>
            </a:pPr>
            <a:r>
              <a:rPr lang="en"/>
              <a:t>Academic writing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13"/>
            </a:pPr>
            <a:r>
              <a:rPr lang="en"/>
              <a:t>Academic publishing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QDA in theory building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QDA artifacts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QDA methods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Straussian coding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Quality assurance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Iterative process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Theory presentation</a:t>
            </a:r>
            <a:endParaRPr/>
          </a:p>
        </p:txBody>
      </p:sp>
      <p:sp>
        <p:nvSpPr>
          <p:cNvPr id="66" name="Google Shape;66;p1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QDA in Theory Building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Qualitative Data Analysis (QDA) [1]</a:t>
            </a:r>
            <a:endParaRPr/>
          </a:p>
        </p:txBody>
      </p:sp>
      <p:sp>
        <p:nvSpPr>
          <p:cNvPr id="78" name="Google Shape;78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79" name="Google Shape;79;p1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Qualitative data analysis is a</a:t>
            </a:r>
            <a:r>
              <a:rPr lang="en"/>
              <a:t> research method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deriving meaning from qualitative empirical data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response to one or more research questions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Typically used in theory building and development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Inductive use → theory building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Deductive use → theory evaluation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12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Also qualitative content analysis (German: qualitative Inhaltsanalyse)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Position and Purpose of QDA in Theory Building</a:t>
            </a:r>
            <a:endParaRPr/>
          </a:p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87" name="Google Shape;87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QDA in Theory Building Methodologies</a:t>
            </a:r>
            <a:endParaRPr/>
          </a:p>
        </p:txBody>
      </p:sp>
      <p:sp>
        <p:nvSpPr>
          <p:cNvPr id="93" name="Google Shape;93;p1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Most QDA methods can be plugged into theory building </a:t>
            </a:r>
            <a:r>
              <a:rPr lang="en"/>
              <a:t>methodologies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Systematic reviews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Qualitative surveys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Action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Case study research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Properties of QDA</a:t>
            </a:r>
            <a:endParaRPr/>
          </a:p>
        </p:txBody>
      </p:sp>
      <p:sp>
        <p:nvSpPr>
          <p:cNvPr id="100" name="Google Shape;100;p1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qualitative data analysis process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Inductive (→ theory building from data)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Structured (→ not arbitrary / random)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Quantitative (→ measurable quality)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6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QDA Artifacts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Artifacts and Activities in QDA</a:t>
            </a:r>
            <a:endParaRPr/>
          </a:p>
        </p:txBody>
      </p:sp>
      <p:sp>
        <p:nvSpPr>
          <p:cNvPr id="112" name="Google Shape;112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13" name="Google Shape;113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233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Codes and Codings</a:t>
            </a:r>
            <a:endParaRPr/>
          </a:p>
        </p:txBody>
      </p:sp>
      <p:sp>
        <p:nvSpPr>
          <p:cNvPr id="119" name="Google Shape;119;p1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20" name="Google Shape;120;p1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code (also label, annotation, etc.)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short text (name) for an empirical observation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An open code is a code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Originates from the primary materials through a coding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coding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relationship between an open code and its origin in the data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theme or category is a code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Hierarchically abstracts from other codes in a code system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Code and Codings</a:t>
            </a:r>
            <a:endParaRPr/>
          </a:p>
        </p:txBody>
      </p:sp>
      <p:sp>
        <p:nvSpPr>
          <p:cNvPr id="126" name="Google Shape;126;p1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27" name="Google Shape;127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7315200" cy="4109662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28" name="Google Shape;128;p19"/>
          <p:cNvSpPr/>
          <p:nvPr/>
        </p:nvSpPr>
        <p:spPr>
          <a:xfrm>
            <a:off x="331725" y="4087150"/>
            <a:ext cx="1031400" cy="308400"/>
          </a:xfrm>
          <a:prstGeom prst="rect">
            <a:avLst/>
          </a:prstGeom>
          <a:noFill/>
          <a:ln cap="flat" cmpd="sng" w="381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19"/>
          <p:cNvSpPr/>
          <p:nvPr/>
        </p:nvSpPr>
        <p:spPr>
          <a:xfrm>
            <a:off x="1919525" y="2697825"/>
            <a:ext cx="1031400" cy="308400"/>
          </a:xfrm>
          <a:prstGeom prst="rect">
            <a:avLst/>
          </a:prstGeom>
          <a:noFill/>
          <a:ln cap="flat" cmpd="sng" w="381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Definition</a:t>
            </a:r>
            <a:endParaRPr/>
          </a:p>
        </p:txBody>
      </p:sp>
      <p:sp>
        <p:nvSpPr>
          <p:cNvPr id="135" name="Google Shape;135;p2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code definition should include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short (one sentence) definition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description of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When to use the code and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When not to use the code </a:t>
            </a:r>
            <a:endParaRPr/>
          </a:p>
        </p:txBody>
      </p:sp>
      <p:sp>
        <p:nvSpPr>
          <p:cNvPr id="136" name="Google Shape;136;p2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Memo</a:t>
            </a:r>
            <a:endParaRPr/>
          </a:p>
        </p:txBody>
      </p:sp>
      <p:sp>
        <p:nvSpPr>
          <p:cNvPr id="142" name="Google Shape;142;p2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memo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written reflection on a code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memo may include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Research insights and observations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Work notes for future investigations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 code itself should be defined independently of the memo</a:t>
            </a:r>
            <a:endParaRPr/>
          </a:p>
        </p:txBody>
      </p:sp>
      <p:sp>
        <p:nvSpPr>
          <p:cNvPr id="143" name="Google Shape;143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Code and Memo</a:t>
            </a:r>
            <a:endParaRPr/>
          </a:p>
        </p:txBody>
      </p:sp>
      <p:sp>
        <p:nvSpPr>
          <p:cNvPr id="149" name="Google Shape;149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50" name="Google Shape;150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7315200" cy="4109662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51" name="Google Shape;151;p22"/>
          <p:cNvSpPr/>
          <p:nvPr/>
        </p:nvSpPr>
        <p:spPr>
          <a:xfrm>
            <a:off x="6491525" y="3123125"/>
            <a:ext cx="1155300" cy="1655100"/>
          </a:xfrm>
          <a:prstGeom prst="rect">
            <a:avLst/>
          </a:prstGeom>
          <a:noFill/>
          <a:ln cap="flat" cmpd="sng" w="381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</a:t>
            </a:r>
            <a:r>
              <a:rPr lang="en"/>
              <a:t>ode system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hierarchical structure of codes intended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 capture the relationships between the codes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code system is an expression of the theory under development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Codes represent concepts and constructs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Relationships represent hypotheses</a:t>
            </a:r>
            <a:endParaRPr/>
          </a:p>
        </p:txBody>
      </p:sp>
      <p:sp>
        <p:nvSpPr>
          <p:cNvPr id="157" name="Google Shape;157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System</a:t>
            </a:r>
            <a:endParaRPr/>
          </a:p>
        </p:txBody>
      </p:sp>
      <p:sp>
        <p:nvSpPr>
          <p:cNvPr id="158" name="Google Shape;158;p2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Code System</a:t>
            </a:r>
            <a:endParaRPr/>
          </a:p>
        </p:txBody>
      </p:sp>
      <p:sp>
        <p:nvSpPr>
          <p:cNvPr id="164" name="Google Shape;164;p2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65" name="Google Shape;165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7315200" cy="4109662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66" name="Google Shape;166;p24"/>
          <p:cNvSpPr/>
          <p:nvPr/>
        </p:nvSpPr>
        <p:spPr>
          <a:xfrm>
            <a:off x="166925" y="1492800"/>
            <a:ext cx="1685400" cy="3437700"/>
          </a:xfrm>
          <a:prstGeom prst="rect">
            <a:avLst/>
          </a:prstGeom>
          <a:noFill/>
          <a:ln cap="flat" cmpd="sng" w="381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Semantics of Hierarchy</a:t>
            </a:r>
            <a:endParaRPr/>
          </a:p>
        </p:txBody>
      </p:sp>
      <p:sp>
        <p:nvSpPr>
          <p:cNvPr id="172" name="Google Shape;172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73" name="Google Shape;173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principle, anything goes, but …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Common patterns of hierarchical organization are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slotting system to group similar open codes (cf. card sorting)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grouping system for underlying themes (cf. thematic analysis)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structuring mechanism for theoretical constructs / abstractions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Computer science students may use common modeling techniques like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Association, aggregation (part-whole), generalization/specialization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No tool (yet) allows for the formal capture of such (meta) relationships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code book documents the code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For each code in the code system, the code book lists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</a:t>
            </a:r>
            <a:r>
              <a:rPr lang="en"/>
              <a:t> definition of the code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Instructions for when to use the code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Possible disambiguations towards other codes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exemplary piece of data coded with the code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Beyond general documentation, a code book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Helps establish intercoder reliability of analysis</a:t>
            </a:r>
            <a:endParaRPr/>
          </a:p>
        </p:txBody>
      </p:sp>
      <p:sp>
        <p:nvSpPr>
          <p:cNvPr id="179" name="Google Shape;179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Book</a:t>
            </a:r>
            <a:endParaRPr/>
          </a:p>
        </p:txBody>
      </p:sp>
      <p:sp>
        <p:nvSpPr>
          <p:cNvPr id="180" name="Google Shape;180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Main Artifacts in Overview</a:t>
            </a:r>
            <a:endParaRPr/>
          </a:p>
        </p:txBody>
      </p:sp>
      <p:sp>
        <p:nvSpPr>
          <p:cNvPr id="186" name="Google Shape;186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87" name="Google Shape;187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QDA Methods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Different QDA Methods</a:t>
            </a:r>
            <a:endParaRPr/>
          </a:p>
        </p:txBody>
      </p:sp>
      <p:sp>
        <p:nvSpPr>
          <p:cNvPr id="198" name="Google Shape;198;p2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Card sorting [1]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Thematic analysis [2]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Straussian coding [3]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2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00" name="Google Shape;200;p29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Hudson (2013)</a:t>
            </a:r>
            <a:r>
              <a:rPr lang="en"/>
              <a:t>: Card sorting.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See </a:t>
            </a:r>
            <a:r>
              <a:rPr lang="en" u="sng">
                <a:solidFill>
                  <a:schemeClr val="hlink"/>
                </a:solidFill>
                <a:hlinkClick r:id="rId5"/>
              </a:rPr>
              <a:t>Braun &amp; Clarke (2012)</a:t>
            </a:r>
            <a:r>
              <a:rPr lang="en"/>
              <a:t>: Thematic analysis.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[3] See </a:t>
            </a:r>
            <a:r>
              <a:rPr lang="en" u="sng">
                <a:solidFill>
                  <a:schemeClr val="hlink"/>
                </a:solidFill>
                <a:hlinkClick r:id="rId6"/>
              </a:rPr>
              <a:t>Corbin &amp; Strauss (2008)</a:t>
            </a:r>
            <a:r>
              <a:rPr lang="en"/>
              <a:t>: Qualitative research, 3rd edition.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Card Sorting [1]</a:t>
            </a:r>
            <a:endParaRPr/>
          </a:p>
        </p:txBody>
      </p:sp>
      <p:sp>
        <p:nvSpPr>
          <p:cNvPr id="206" name="Google Shape;206;p3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Analyze data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Extract data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Name item [2] and write on card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Synthesize data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Group cards with similar items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/>
              <a:t>Codify theory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Name and summarize groups</a:t>
            </a:r>
            <a:endParaRPr/>
          </a:p>
        </p:txBody>
      </p:sp>
      <p:sp>
        <p:nvSpPr>
          <p:cNvPr id="207" name="Google Shape;207;p3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08" name="Google Shape;208;p30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Hudson (2013)</a:t>
            </a:r>
            <a:r>
              <a:rPr lang="en">
                <a:solidFill>
                  <a:schemeClr val="dk1"/>
                </a:solidFill>
              </a:rPr>
              <a:t>: Card sorting.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Item, topic, theme, artifact, … depends on context and is relative to research question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Coding, Then</a:t>
            </a:r>
            <a:endParaRPr/>
          </a:p>
        </p:txBody>
      </p:sp>
      <p:sp>
        <p:nvSpPr>
          <p:cNvPr id="214" name="Google Shape;214;p3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215" name="Google Shape;215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7315199" cy="4114800"/>
          </a:xfrm>
          <a:prstGeom prst="rect">
            <a:avLst/>
          </a:prstGeom>
          <a:noFill/>
          <a:ln cap="flat" cmpd="sng" w="19050">
            <a:solidFill>
              <a:srgbClr val="40404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Now (With QDAcity)</a:t>
            </a:r>
            <a:endParaRPr/>
          </a:p>
        </p:txBody>
      </p:sp>
      <p:sp>
        <p:nvSpPr>
          <p:cNvPr id="221" name="Google Shape;221;p3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222" name="Google Shape;222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7315200" cy="4110629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Thematic Analysis [1]</a:t>
            </a:r>
            <a:endParaRPr/>
          </a:p>
        </p:txBody>
      </p:sp>
      <p:sp>
        <p:nvSpPr>
          <p:cNvPr id="228" name="Google Shape;228;p3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Analyze data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Extract data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Familiarize yourself with the data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Generate </a:t>
            </a:r>
            <a:r>
              <a:rPr lang="en"/>
              <a:t>initial</a:t>
            </a:r>
            <a:r>
              <a:rPr lang="en"/>
              <a:t> codes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Synthesize data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Search for potential themes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Review potential themes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Define and name themes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Codify theory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Produce the report</a:t>
            </a:r>
            <a:endParaRPr/>
          </a:p>
        </p:txBody>
      </p:sp>
      <p:sp>
        <p:nvSpPr>
          <p:cNvPr id="229" name="Google Shape;229;p3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30" name="Google Shape;230;p33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Braun &amp; Clarke (2012)</a:t>
            </a:r>
            <a:r>
              <a:rPr lang="en"/>
              <a:t>: Thematic analysis.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Analyze data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Extract data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Perform open coding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Synthesize data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Perform axial coding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Perform selective coding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Codify theory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Write articles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3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Straussian Coding [1]</a:t>
            </a:r>
            <a:endParaRPr/>
          </a:p>
        </p:txBody>
      </p:sp>
      <p:sp>
        <p:nvSpPr>
          <p:cNvPr id="237" name="Google Shape;237;p3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38" name="Google Shape;238;p34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Corbin &amp; Strauss (2008)</a:t>
            </a:r>
            <a:r>
              <a:rPr lang="en">
                <a:solidFill>
                  <a:schemeClr val="dk1"/>
                </a:solidFill>
              </a:rPr>
              <a:t>: Qualitative research, 3rd edition.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Grounded Theory</a:t>
            </a:r>
            <a:endParaRPr/>
          </a:p>
        </p:txBody>
      </p:sp>
      <p:sp>
        <p:nvSpPr>
          <p:cNvPr id="244" name="Google Shape;244;p35"/>
          <p:cNvSpPr txBox="1"/>
          <p:nvPr>
            <p:ph idx="1" type="body"/>
          </p:nvPr>
        </p:nvSpPr>
        <p:spPr>
          <a:xfrm>
            <a:off x="3199248" y="914400"/>
            <a:ext cx="5670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Grounded theory is a research methodology for theory building like qualitative </a:t>
            </a:r>
            <a:r>
              <a:rPr lang="en"/>
              <a:t>surveys</a:t>
            </a:r>
            <a:r>
              <a:rPr lang="en"/>
              <a:t>, etc.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Straussian coding was lifted from Corbin &amp; Strauss’ version of grounded theory [1]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3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46" name="Google Shape;246;p35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Corbin &amp; Strauss (2008)</a:t>
            </a:r>
            <a:r>
              <a:rPr lang="en"/>
              <a:t>: Qualitative research, 3rd edition.</a:t>
            </a:r>
            <a:endParaRPr/>
          </a:p>
        </p:txBody>
      </p:sp>
      <p:pic>
        <p:nvPicPr>
          <p:cNvPr id="247" name="Google Shape;247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4320" y="914400"/>
            <a:ext cx="2582723" cy="38404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Artifacts and Activities in QDA Methods</a:t>
            </a:r>
            <a:endParaRPr/>
          </a:p>
        </p:txBody>
      </p:sp>
      <p:sp>
        <p:nvSpPr>
          <p:cNvPr id="253" name="Google Shape;253;p3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aphicFrame>
        <p:nvGraphicFramePr>
          <p:cNvPr id="254" name="Google Shape;254;p36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{9D428D0E-079B-4A2F-904C-083FDCE48959}</a:tableStyleId>
              </a:tblPr>
              <a:tblGrid>
                <a:gridCol w="1719075"/>
                <a:gridCol w="1719075"/>
                <a:gridCol w="1719075"/>
                <a:gridCol w="1719075"/>
                <a:gridCol w="1719075"/>
              </a:tblGrid>
              <a:tr h="640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Card</a:t>
                      </a:r>
                      <a:br>
                        <a:rPr b="1" lang="en">
                          <a:solidFill>
                            <a:schemeClr val="lt1"/>
                          </a:solidFill>
                        </a:rPr>
                      </a:br>
                      <a:r>
                        <a:rPr b="1" lang="en">
                          <a:solidFill>
                            <a:schemeClr val="lt1"/>
                          </a:solidFill>
                        </a:rPr>
                        <a:t>sorting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Thematic</a:t>
                      </a:r>
                      <a:br>
                        <a:rPr b="1" lang="en">
                          <a:solidFill>
                            <a:schemeClr val="lt1"/>
                          </a:solidFill>
                        </a:rPr>
                      </a:br>
                      <a:r>
                        <a:rPr b="1" lang="en">
                          <a:solidFill>
                            <a:schemeClr val="lt1"/>
                          </a:solidFill>
                        </a:rPr>
                        <a:t>analysis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Straussian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coding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640075">
                <a:tc row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Artifacts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Codes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Items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Codes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Open codes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75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Categories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Item groups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Themes and subthemes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Concepts and categories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640075">
                <a:tc row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Activities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Extraction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Card writing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Initial coding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Open coding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640075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Synthesis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Grouping and summarizing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Theme naming and </a:t>
                      </a:r>
                      <a:r>
                        <a:rPr lang="en"/>
                        <a:t>defining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Axial and selective coding</a:t>
                      </a:r>
                      <a:endParaRPr/>
                    </a:p>
                  </a:txBody>
                  <a:tcPr marT="91425" marB="91425" marR="91425" marL="91425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Rigor vs. Effort in QDA Methods</a:t>
            </a:r>
            <a:endParaRPr/>
          </a:p>
        </p:txBody>
      </p:sp>
      <p:sp>
        <p:nvSpPr>
          <p:cNvPr id="260" name="Google Shape;260;p3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261" name="Google Shape;261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Word of Caution</a:t>
            </a:r>
            <a:endParaRPr/>
          </a:p>
        </p:txBody>
      </p:sp>
      <p:sp>
        <p:nvSpPr>
          <p:cNvPr id="267" name="Google Shape;267;p3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Despite my </a:t>
            </a:r>
            <a:r>
              <a:rPr lang="en"/>
              <a:t>correlation</a:t>
            </a:r>
            <a:r>
              <a:rPr lang="en"/>
              <a:t> and attempted homogenization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Method authors and users can be extremely picky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So in a given research project, always use the specific method</a:t>
            </a:r>
            <a:endParaRPr/>
          </a:p>
        </p:txBody>
      </p:sp>
      <p:sp>
        <p:nvSpPr>
          <p:cNvPr id="268" name="Google Shape;268;p3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9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Straussian Coding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Coding 1 / 2</a:t>
            </a:r>
            <a:endParaRPr/>
          </a:p>
        </p:txBody>
      </p:sp>
      <p:sp>
        <p:nvSpPr>
          <p:cNvPr id="279" name="Google Shape;279;p4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212121"/>
                </a:solidFill>
              </a:rPr>
              <a:t>An open code is a code that</a:t>
            </a:r>
            <a:endParaRPr>
              <a:solidFill>
                <a:srgbClr val="212121"/>
              </a:solidFill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212121"/>
              </a:buClr>
              <a:buSzPts val="1800"/>
              <a:buChar char="●"/>
            </a:pPr>
            <a:r>
              <a:rPr lang="en">
                <a:solidFill>
                  <a:srgbClr val="212121"/>
                </a:solidFill>
              </a:rPr>
              <a:t>Represents an empirical observation</a:t>
            </a:r>
            <a:endParaRPr>
              <a:solidFill>
                <a:srgbClr val="21212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800"/>
              <a:buChar char="●"/>
            </a:pPr>
            <a:r>
              <a:rPr lang="en">
                <a:solidFill>
                  <a:srgbClr val="212121"/>
                </a:solidFill>
              </a:rPr>
              <a:t>Is conceptual, i.e. represents a concept</a:t>
            </a:r>
            <a:endParaRPr>
              <a:solidFill>
                <a:srgbClr val="21212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800"/>
              <a:buChar char="●"/>
            </a:pPr>
            <a:r>
              <a:rPr lang="en">
                <a:solidFill>
                  <a:srgbClr val="212121"/>
                </a:solidFill>
              </a:rPr>
              <a:t>Has a direct origin in the primary materials</a:t>
            </a:r>
            <a:endParaRPr>
              <a:solidFill>
                <a:srgbClr val="21212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212121"/>
                </a:solidFill>
              </a:rPr>
              <a:t>Open coding is</a:t>
            </a:r>
            <a:endParaRPr>
              <a:solidFill>
                <a:srgbClr val="212121"/>
              </a:solidFill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212121"/>
              </a:buClr>
              <a:buSzPts val="1800"/>
              <a:buChar char="●"/>
            </a:pPr>
            <a:r>
              <a:rPr lang="en">
                <a:solidFill>
                  <a:srgbClr val="212121"/>
                </a:solidFill>
              </a:rPr>
              <a:t>The creation of open codes from primary materials</a:t>
            </a:r>
            <a:endParaRPr>
              <a:solidFill>
                <a:srgbClr val="21212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212121"/>
                </a:solidFill>
              </a:rPr>
              <a:t>An in-vivo code is an open code that</a:t>
            </a:r>
            <a:endParaRPr>
              <a:solidFill>
                <a:srgbClr val="212121"/>
              </a:solidFill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rgbClr val="212121"/>
              </a:buClr>
              <a:buSzPts val="1800"/>
              <a:buChar char="●"/>
            </a:pPr>
            <a:r>
              <a:rPr lang="en">
                <a:solidFill>
                  <a:srgbClr val="212121"/>
                </a:solidFill>
              </a:rPr>
              <a:t>Has a name taken directly from the primary materials</a:t>
            </a:r>
            <a:endParaRPr>
              <a:solidFill>
                <a:srgbClr val="212121"/>
              </a:solidFill>
            </a:endParaRPr>
          </a:p>
        </p:txBody>
      </p:sp>
      <p:sp>
        <p:nvSpPr>
          <p:cNvPr id="280" name="Google Shape;280;p4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Coding 2 / 2</a:t>
            </a:r>
            <a:endParaRPr/>
          </a:p>
        </p:txBody>
      </p:sp>
      <p:sp>
        <p:nvSpPr>
          <p:cNvPr id="286" name="Google Shape;286;p4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212121"/>
                </a:solidFill>
              </a:rPr>
              <a:t>Carefully read the primary materials incrementally, repeatedly</a:t>
            </a:r>
            <a:endParaRPr>
              <a:solidFill>
                <a:srgbClr val="21212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212121"/>
                </a:solidFill>
              </a:rPr>
              <a:t>Mark segments containing relevant information for your research question</a:t>
            </a:r>
            <a:endParaRPr>
              <a:solidFill>
                <a:srgbClr val="21212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212121"/>
                </a:solidFill>
              </a:rPr>
              <a:t>Assign segment to existing open code or create a new one</a:t>
            </a:r>
            <a:endParaRPr>
              <a:solidFill>
                <a:srgbClr val="21212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solidFill>
                  <a:srgbClr val="212121"/>
                </a:solidFill>
              </a:rPr>
              <a:t>Write memos for codes to elaborate on your observations</a:t>
            </a:r>
            <a:endParaRPr>
              <a:solidFill>
                <a:srgbClr val="212121"/>
              </a:solidFill>
            </a:endParaRPr>
          </a:p>
        </p:txBody>
      </p:sp>
      <p:sp>
        <p:nvSpPr>
          <p:cNvPr id="287" name="Google Shape;287;p4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Constant Comparison</a:t>
            </a:r>
            <a:endParaRPr/>
          </a:p>
        </p:txBody>
      </p:sp>
      <p:sp>
        <p:nvSpPr>
          <p:cNvPr id="293" name="Google Shape;293;p4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 you are coding, compare codes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Are two codes the same?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Are there subtle differences? Should the codes be split?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Then take action and refactor your code system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Implies rereading and recoding</a:t>
            </a:r>
            <a:endParaRPr/>
          </a:p>
        </p:txBody>
      </p:sp>
      <p:sp>
        <p:nvSpPr>
          <p:cNvPr id="294" name="Google Shape;294;p4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4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Axial Coding</a:t>
            </a:r>
            <a:endParaRPr/>
          </a:p>
        </p:txBody>
      </p:sp>
      <p:sp>
        <p:nvSpPr>
          <p:cNvPr id="300" name="Google Shape;300;p4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01" name="Google Shape;301;p4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Axial coding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introduction of new codes representing concepts or constructs by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Comparing existing codes for similarities and differences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Axial coding creates a hierarchy of codes, the code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Codes should be MECE that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Mutually Exclusive and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Completely Exhaustive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4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Concepts and Constructs</a:t>
            </a:r>
            <a:endParaRPr/>
          </a:p>
        </p:txBody>
      </p:sp>
      <p:sp>
        <p:nvSpPr>
          <p:cNvPr id="307" name="Google Shape;307;p4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Codes represent concepts; examples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Off-by-one error (open code)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Syntax error (axial code)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Codes represent constructs; examples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Product owner / software developer conflict (open code)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Performance incentive (axial code)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4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Selective Coding</a:t>
            </a:r>
            <a:endParaRPr/>
          </a:p>
        </p:txBody>
      </p:sp>
      <p:sp>
        <p:nvSpPr>
          <p:cNvPr id="314" name="Google Shape;314;p4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Selective coding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focussing of top-level codes on the research question and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relationship-building of top-level codes to a single core code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According to Corbin &amp; Strauss, the theory is the single core code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4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4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Resulting Theory</a:t>
            </a:r>
            <a:endParaRPr/>
          </a:p>
        </p:txBody>
      </p:sp>
      <p:sp>
        <p:nvSpPr>
          <p:cNvPr id="321" name="Google Shape;321;p4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systems and associated artifacts represent the theory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There is more to the theory in a researcher’s mind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It needs research articles to document this </a:t>
            </a:r>
            <a:endParaRPr/>
          </a:p>
        </p:txBody>
      </p:sp>
      <p:sp>
        <p:nvSpPr>
          <p:cNvPr id="322" name="Google Shape;322;p4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47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5. Quality Assurance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4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General Criteria for Qualitative Research</a:t>
            </a:r>
            <a:endParaRPr/>
          </a:p>
        </p:txBody>
      </p:sp>
      <p:sp>
        <p:nvSpPr>
          <p:cNvPr id="333" name="Google Shape;333;p4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34" name="Google Shape;334;p4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Quality criteria based on Guba &amp; Lincoln [1]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Credibility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Transferability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Dependability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Confirmability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Typically realized through specific practices</a:t>
            </a:r>
            <a:endParaRPr/>
          </a:p>
        </p:txBody>
      </p:sp>
      <p:sp>
        <p:nvSpPr>
          <p:cNvPr id="335" name="Google Shape;335;p48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rgbClr val="34A3C5"/>
                </a:solidFill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Guba &amp; Lincoln (1982)</a:t>
            </a:r>
            <a:r>
              <a:rPr lang="en"/>
              <a:t>: Naturalistic inquiry.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4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Research Practices</a:t>
            </a:r>
            <a:endParaRPr/>
          </a:p>
        </p:txBody>
      </p:sp>
      <p:sp>
        <p:nvSpPr>
          <p:cNvPr id="341" name="Google Shape;341;p4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Two example research practices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Member checking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Peer debriefing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Fairly simple and easy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5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Checking</a:t>
            </a:r>
            <a:endParaRPr/>
          </a:p>
        </p:txBody>
      </p:sp>
      <p:sp>
        <p:nvSpPr>
          <p:cNvPr id="348" name="Google Shape;348;p5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checking is a research practice in which the researcher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Seeks feedback from data sources (participants, stakeholders) either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During data gathering (active and reflective listening) or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analysis (asking for feedback and confirmation)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5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Peer Debriefing</a:t>
            </a:r>
            <a:endParaRPr/>
          </a:p>
        </p:txBody>
      </p:sp>
      <p:sp>
        <p:nvSpPr>
          <p:cNvPr id="355" name="Google Shape;355;p5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Peer debriefing is a research practice in which the researcher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Subjects their work to review and critique by a peer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 multiple times during the current running project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researcher presents and explains their work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peer questions and critiques the work, looking for flaws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researcher documents the session with a protocol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5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5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QDA-Specific Concerns</a:t>
            </a:r>
            <a:endParaRPr/>
          </a:p>
        </p:txBody>
      </p:sp>
      <p:sp>
        <p:nvSpPr>
          <p:cNvPr id="362" name="Google Shape;362;p5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63" name="Google Shape;363;p5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do you know you are done?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⇒"/>
            </a:pPr>
            <a:r>
              <a:rPr lang="en"/>
              <a:t>Theory saturation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How do you know you are not winging it?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⇒"/>
            </a:pPr>
            <a:r>
              <a:rPr lang="en"/>
              <a:t>Intercoder agreement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5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Saturation [1]</a:t>
            </a:r>
            <a:endParaRPr/>
          </a:p>
        </p:txBody>
      </p:sp>
      <p:sp>
        <p:nvSpPr>
          <p:cNvPr id="369" name="Google Shape;369;p5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70" name="Google Shape;370;p5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saturation is 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Stopping criterion for qualitative data analysis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Theory saturation is reached when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Further data collection and analysis does not yield new insights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measurable terms, the change rate of codes is zero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New data yields new codings, but no new codes</a:t>
            </a:r>
            <a:endParaRPr/>
          </a:p>
        </p:txBody>
      </p:sp>
      <p:sp>
        <p:nvSpPr>
          <p:cNvPr id="371" name="Google Shape;371;p53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Originally theoretical s</a:t>
            </a:r>
            <a:r>
              <a:rPr lang="en"/>
              <a:t>aturation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5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Saturation in Research Process</a:t>
            </a:r>
            <a:endParaRPr/>
          </a:p>
        </p:txBody>
      </p:sp>
      <p:sp>
        <p:nvSpPr>
          <p:cNvPr id="377" name="Google Shape;377;p5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378" name="Google Shape;378;p5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5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Measuring Theory Saturation</a:t>
            </a:r>
            <a:endParaRPr/>
          </a:p>
        </p:txBody>
      </p:sp>
      <p:sp>
        <p:nvSpPr>
          <p:cNvPr id="384" name="Google Shape;384;p5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85" name="Google Shape;385;p5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Structure analysis into iterations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purposive sampling to seek out new data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After finishing the analysis of new data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Count the number of new codings and codes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No new codes in five iterations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Theory saturation reached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5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Charting of Theory Saturation by Iteration</a:t>
            </a:r>
            <a:endParaRPr/>
          </a:p>
        </p:txBody>
      </p:sp>
      <p:sp>
        <p:nvSpPr>
          <p:cNvPr id="391" name="Google Shape;391;p5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392" name="Google Shape;392;p5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5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Intercoder Reliability</a:t>
            </a:r>
            <a:endParaRPr/>
          </a:p>
        </p:txBody>
      </p:sp>
      <p:sp>
        <p:nvSpPr>
          <p:cNvPr id="398" name="Google Shape;398;p5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99" name="Google Shape;399;p5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Intercoder reliability (also: interrater reliability)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degree of agreement between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primary (the original) coder and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One or more secondary coders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other words: Is there intersubjective agreement?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And to what extent?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5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Process of Measuring Intercoder Agreement</a:t>
            </a:r>
            <a:endParaRPr/>
          </a:p>
        </p:txBody>
      </p:sp>
      <p:sp>
        <p:nvSpPr>
          <p:cNvPr id="405" name="Google Shape;405;p5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original coder creates the code book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code book documents the code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</a:t>
            </a:r>
            <a:r>
              <a:rPr lang="en"/>
              <a:t>original</a:t>
            </a:r>
            <a:r>
              <a:rPr lang="en"/>
              <a:t> coder explains and discusses the code book with further coders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Further coders (usually one) code the primary materials using the code system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 intercoder agreement is the overlap/agreement of the coding sets</a:t>
            </a:r>
            <a:endParaRPr/>
          </a:p>
        </p:txBody>
      </p:sp>
      <p:sp>
        <p:nvSpPr>
          <p:cNvPr id="406" name="Google Shape;406;p5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5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Measures of Intercoder Agreement</a:t>
            </a:r>
            <a:endParaRPr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413" name="Google Shape;413;p5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6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6. Iterative Process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6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Building is Iterative</a:t>
            </a:r>
            <a:endParaRPr/>
          </a:p>
        </p:txBody>
      </p:sp>
      <p:sp>
        <p:nvSpPr>
          <p:cNvPr id="424" name="Google Shape;424;p6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425" name="Google Shape;425;p6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building proceeds in iterations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Iterations incrementally answer the primary research question at hand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Triangulation and expansion </a:t>
            </a:r>
            <a:r>
              <a:rPr lang="en"/>
              <a:t>improve</a:t>
            </a:r>
            <a:r>
              <a:rPr lang="en"/>
              <a:t> rigor and increase relevance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6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Research Project Iteration</a:t>
            </a:r>
            <a:endParaRPr/>
          </a:p>
        </p:txBody>
      </p:sp>
      <p:sp>
        <p:nvSpPr>
          <p:cNvPr id="431" name="Google Shape;431;p6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research project proceeds in iterations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iteration provides an increment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Stopping criterion is theory saturation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iteration gathers new data based on insights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New data (samples) follow sampling model and strategy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 research project determines the primary methodology</a:t>
            </a:r>
            <a:endParaRPr/>
          </a:p>
        </p:txBody>
      </p:sp>
      <p:sp>
        <p:nvSpPr>
          <p:cNvPr id="432" name="Google Shape;432;p6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6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building proceeds incrementally, across many research projects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Larger research projects are composed of smaller ones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Multiple research projects allow for triangulation (rigor)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Multiple research projects expand scope (relevance)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Each research project may use a different methodology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Systematic review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Qualitative survey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Action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Case study research</a:t>
            </a:r>
            <a:endParaRPr/>
          </a:p>
        </p:txBody>
      </p:sp>
      <p:sp>
        <p:nvSpPr>
          <p:cNvPr id="438" name="Google Shape;438;p6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Build-out Using Multiple Research Projects</a:t>
            </a:r>
            <a:endParaRPr/>
          </a:p>
        </p:txBody>
      </p:sp>
      <p:sp>
        <p:nvSpPr>
          <p:cNvPr id="439" name="Google Shape;439;p6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64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 Theory Presentation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6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Theory Presentation</a:t>
            </a:r>
            <a:endParaRPr/>
          </a:p>
        </p:txBody>
      </p:sp>
      <p:sp>
        <p:nvSpPr>
          <p:cNvPr id="450" name="Google Shape;450;p6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451" name="Google Shape;451;p6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Prose-based descriptions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Mathematical</a:t>
            </a:r>
            <a:r>
              <a:rPr lang="en"/>
              <a:t> models / </a:t>
            </a:r>
            <a:r>
              <a:rPr lang="en"/>
              <a:t>equations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Structural equation models [1]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Concept matrices [2]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Handbooks [3]</a:t>
            </a:r>
            <a:endParaRPr/>
          </a:p>
        </p:txBody>
      </p:sp>
      <p:sp>
        <p:nvSpPr>
          <p:cNvPr id="452" name="Google Shape;452;p65"/>
          <p:cNvSpPr txBox="1"/>
          <p:nvPr/>
        </p:nvSpPr>
        <p:spPr>
          <a:xfrm>
            <a:off x="0" y="4233672"/>
            <a:ext cx="76809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Palvia et al. (2006)</a:t>
            </a:r>
            <a:r>
              <a:rPr lang="en"/>
              <a:t>: Research models.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See </a:t>
            </a:r>
            <a:r>
              <a:rPr lang="en" u="sng">
                <a:solidFill>
                  <a:schemeClr val="hlink"/>
                </a:solidFill>
                <a:hlinkClick r:id="rId5"/>
              </a:rPr>
              <a:t>Webster &amp; Watson (2002)</a:t>
            </a:r>
            <a:r>
              <a:rPr lang="en"/>
              <a:t>: Analyzing the past to prepare for the future.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[3] See </a:t>
            </a:r>
            <a:r>
              <a:rPr lang="en" u="sng">
                <a:solidFill>
                  <a:schemeClr val="hlink"/>
                </a:solidFill>
                <a:hlinkClick r:id="rId6"/>
              </a:rPr>
              <a:t>Riehle et al. (2025)</a:t>
            </a:r>
            <a:r>
              <a:rPr lang="en"/>
              <a:t>: Pattern discovery and validation (a.k.a. the handbook method).</a:t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6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QDA in theory building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QDA artifacts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QDA methods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Straussian coding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Quality assurance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Iterative process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Theory presentation</a:t>
            </a:r>
            <a:endParaRPr/>
          </a:p>
        </p:txBody>
      </p:sp>
      <p:sp>
        <p:nvSpPr>
          <p:cNvPr id="458" name="Google Shape;458;p6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459" name="Google Shape;459;p6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67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465" name="Google Shape;465;p67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6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471" name="Google Shape;471;p6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472" name="Google Shape;472;p6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2012-2026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
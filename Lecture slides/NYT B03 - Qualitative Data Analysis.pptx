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0A4FFC3-DA45-4E75-927B-6269FA2CB669}">
  <a:tblStyle styleId="{70A4FFC3-DA45-4E75-927B-6269FA2CB66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20" Type="http://schemas.openxmlformats.org/officeDocument/2006/relationships/slide" Target="slides/slide14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22" Type="http://schemas.openxmlformats.org/officeDocument/2006/relationships/slide" Target="slides/slide16.xml"/><Relationship Id="rId66" Type="http://schemas.openxmlformats.org/officeDocument/2006/relationships/slide" Target="slides/slide60.xml"/><Relationship Id="rId21" Type="http://schemas.openxmlformats.org/officeDocument/2006/relationships/slide" Target="slides/slide15.xml"/><Relationship Id="rId65" Type="http://schemas.openxmlformats.org/officeDocument/2006/relationships/slide" Target="slides/slide59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60" Type="http://schemas.openxmlformats.org/officeDocument/2006/relationships/slide" Target="slides/slide54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slide" Target="slides/slide49.xml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57" Type="http://schemas.openxmlformats.org/officeDocument/2006/relationships/slide" Target="slides/slide51.xml"/><Relationship Id="rId12" Type="http://schemas.openxmlformats.org/officeDocument/2006/relationships/slide" Target="slides/slide6.xml"/><Relationship Id="rId56" Type="http://schemas.openxmlformats.org/officeDocument/2006/relationships/slide" Target="slides/slide50.xml"/><Relationship Id="rId15" Type="http://schemas.openxmlformats.org/officeDocument/2006/relationships/slide" Target="slides/slide9.xml"/><Relationship Id="rId59" Type="http://schemas.openxmlformats.org/officeDocument/2006/relationships/slide" Target="slides/slide53.xml"/><Relationship Id="rId14" Type="http://schemas.openxmlformats.org/officeDocument/2006/relationships/slide" Target="slides/slide8.xml"/><Relationship Id="rId58" Type="http://schemas.openxmlformats.org/officeDocument/2006/relationships/slide" Target="slides/slide52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574f649a3e_0_1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" name="Google Shape;35;g3574f649a3e_0_1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2dbbd0258ec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g2dbbd0258ec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2dbbd0258ec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2dbbd0258ec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2dbbd0258ec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2dbbd0258ec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2dbbd0258ec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2dbbd0258ec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545e54fe64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545e54fe64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545e54fe64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545e54fe64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2dbbd0258ec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2dbbd0258ec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545e54fe64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545e54fe64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545e54fe64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545e54fe64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574f649a3e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574f649a3e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574f649a3e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574f649a3e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545e54fe64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545e54fe64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4f649a3e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4f649a3e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545e54fe64_0_1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545e54fe64_0_1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574f649a3e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574f649a3e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574f649a3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574f649a3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574f649a3e_0_2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574f649a3e_0_2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545e54fe64_0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545e54fe64_0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2dbbd0258ec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2dbbd0258ec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2dd50ec92f8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2dd50ec92f8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545e54fe64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545e54fe64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545e54fe64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545e54fe64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545e54fe64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545e54fe64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545e54fe64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545e54fe64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545e54fe64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3545e54fe64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574f649a3e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574f649a3e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2dd50ec92f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2dd50ec92f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545e54fe64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3545e54fe64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574f649a3e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3574f649a3e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545e54fe64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545e54fe64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124494c3ca9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124494c3ca9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79e2568c9469c685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79e2568c9469c685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79e2568c9469c685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79e2568c9469c685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574f649a3e_0_1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3574f649a3e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574f649a3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574f649a3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574f649a3e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574f649a3e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574f649a3e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3574f649a3e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272b046f8d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272b046f8d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574f649a3e_0_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574f649a3e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574f649a3e_0_2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3574f649a3e_0_2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574f649a3e_1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3574f649a3e_1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574f649a3e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3574f649a3e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545e54fe64_0_1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3545e54fe64_0_1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3545e54fe64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9" name="Google Shape;349;g3545e54fe64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545e54fe64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3545e54fe64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545e54fe64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4" name="Google Shape;364;g3545e54fe64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2dbbd0258e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g2dbbd0258e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3545e54fe64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8" name="Google Shape;378;g3545e54fe64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574f649a3e_0_2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5" name="Google Shape;385;g3574f649a3e_0_2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574f649a3e_1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3574f649a3e_1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3574f649a3e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9" name="Google Shape;399;g3574f649a3e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3574f649a3e_0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g3574f649a3e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3574f649a3e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3574f649a3e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574f649a3e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" name="Google Shape;419;g3574f649a3e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3574f649a3e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6" name="Google Shape;426;g3574f649a3e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3574f649a3e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2" name="Google Shape;432;g3574f649a3e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3574f649a3e_0_2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0" name="Google Shape;440;g3574f649a3e_0_2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574f649a3e_0_2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3574f649a3e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3574f649a3e_0_2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3574f649a3e_0_2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12" name="Google Shape;12;p2"/>
          <p:cNvSpPr/>
          <p:nvPr/>
        </p:nvSpPr>
        <p:spPr>
          <a:xfrm>
            <a:off x="0" y="2388810"/>
            <a:ext cx="9144000" cy="183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/>
          <p:nvPr/>
        </p:nvSpPr>
        <p:spPr>
          <a:xfrm>
            <a:off x="0" y="2386584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4"/>
          <p:cNvSpPr/>
          <p:nvPr/>
        </p:nvSpPr>
        <p:spPr>
          <a:xfrm>
            <a:off x="0" y="685800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6" name="Google Shape;26;p5"/>
          <p:cNvSpPr/>
          <p:nvPr/>
        </p:nvSpPr>
        <p:spPr>
          <a:xfrm>
            <a:off x="0" y="685800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0" name="Google Shape;30;p6"/>
          <p:cNvSpPr/>
          <p:nvPr/>
        </p:nvSpPr>
        <p:spPr>
          <a:xfrm>
            <a:off x="0" y="685800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://uni1.de/nyt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1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://uni1.de/nyt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hyperlink" Target="http://uni1.de/nyt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://uni1.de/nyt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://uni1.de/nyt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://uni1.de/nyt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://uni1.de/nyt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://uni1.de/nyt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1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://uni1.de/nyt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://uni1.de/nyt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1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://uni1.de/nyt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://uni1.de/nyt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://uni1.de/nyt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://uni1.de/nyt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Relationship Id="rId5" Type="http://schemas.openxmlformats.org/officeDocument/2006/relationships/hyperlink" Target="https://docs.google.com/document/d/1JPE60ZoqYVrdAve0G_c0qy0g_M7_B_FLhP5qmaQ4mqI/edit?tab=t.0#heading=h.mxlpptrxvs9v" TargetMode="External"/><Relationship Id="rId6" Type="http://schemas.openxmlformats.org/officeDocument/2006/relationships/hyperlink" Target="https://docs.google.com/document/d/1JPE60ZoqYVrdAve0G_c0qy0g_M7_B_FLhP5qmaQ4mqI/edit?tab=t.0#heading=h.mxlpptrxvs9v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1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Relationship Id="rId5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://uni1.de/nyt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4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://uni1.de/nyt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://uni1.de/nyt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://uni1.de/nyt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://uni1.de/nyt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://uni1.de/nyt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://uni1.de/nyt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://uni1.de/nyt" TargetMode="Externa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://uni1.de/nyt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://uni1.de/nyt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://uni1.de/nyt" TargetMode="Externa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://uni1.de/nyt" TargetMode="Externa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://uni1.de/nyt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://uni1.de/nyt" TargetMode="Externa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://uni1.de/nyt" TargetMode="Externa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hyperlink" Target="http://uni1.de/nyt" TargetMode="Externa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5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Relationship Id="rId3" Type="http://schemas.openxmlformats.org/officeDocument/2006/relationships/hyperlink" Target="http://uni1.de/nyt" TargetMode="Externa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6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Relationship Id="rId3" Type="http://schemas.openxmlformats.org/officeDocument/2006/relationships/hyperlink" Target="http://uni1.de/nyt" TargetMode="Externa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Relationship Id="rId3" Type="http://schemas.openxmlformats.org/officeDocument/2006/relationships/hyperlink" Target="http://uni1.de/nyt" TargetMode="Externa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7.png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Relationship Id="rId3" Type="http://schemas.openxmlformats.org/officeDocument/2006/relationships/hyperlink" Target="http://uni1.de/nyt" TargetMode="Externa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Relationship Id="rId3" Type="http://schemas.openxmlformats.org/officeDocument/2006/relationships/hyperlink" Target="http://uni1.de/nyt" TargetMode="Externa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Relationship Id="rId3" Type="http://schemas.openxmlformats.org/officeDocument/2006/relationships/hyperlink" Target="http://uni1.de/nyt" TargetMode="Externa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Relationship Id="rId3" Type="http://schemas.openxmlformats.org/officeDocument/2006/relationships/hyperlink" Target="http://uni1.de/nyt" TargetMode="Externa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Relationship Id="rId3" Type="http://schemas.openxmlformats.org/officeDocument/2006/relationships/hyperlink" Target="http://uni1.de/nyt" TargetMode="Externa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Relationship Id="rId5" Type="http://schemas.openxmlformats.org/officeDocument/2006/relationships/hyperlink" Target="https://docs.google.com/document/d/1JPE60ZoqYVrdAve0G_c0qy0g_M7_B_FLhP5qmaQ4mqI/edit?tab=t.0#heading=h.mxlpptrxvs9v" TargetMode="External"/><Relationship Id="rId6" Type="http://schemas.openxmlformats.org/officeDocument/2006/relationships/hyperlink" Target="https://docs.google.com/document/d/1JPE60ZoqYVrdAve0G_c0qy0g_M7_B_FLhP5qmaQ4mqI/edit?tab=t.0#heading=h.mxlpptrxvs9v" TargetMode="Externa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Relationship Id="rId3" Type="http://schemas.openxmlformats.org/officeDocument/2006/relationships/hyperlink" Target="http://uni1.de/nyt" TargetMode="Externa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0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Qualitative Data Analysis</a:t>
            </a:r>
            <a:endParaRPr/>
          </a:p>
        </p:txBody>
      </p:sp>
      <p:sp>
        <p:nvSpPr>
          <p:cNvPr id="38" name="Google Shape;38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NYT B03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QDA in theory building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QDA artifacts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QDA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Inductive coding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Quality assurance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Iterative process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Theory presentation</a:t>
            </a:r>
            <a:endParaRPr/>
          </a:p>
        </p:txBody>
      </p:sp>
      <p:sp>
        <p:nvSpPr>
          <p:cNvPr id="44" name="Google Shape;44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45" name="Google Shape;45;p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QDA in Theory Building</a:t>
            </a:r>
            <a:endParaRPr/>
          </a:p>
        </p:txBody>
      </p:sp>
      <p:sp>
        <p:nvSpPr>
          <p:cNvPr id="51" name="Google Shape;51;p1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Qualitative Data Analysis (QDA) [1]</a:t>
            </a:r>
            <a:endParaRPr/>
          </a:p>
        </p:txBody>
      </p:sp>
      <p:sp>
        <p:nvSpPr>
          <p:cNvPr id="57" name="Google Shape;57;p1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58" name="Google Shape;58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Qualitative data analysis is a</a:t>
            </a:r>
            <a:r>
              <a:rPr lang="en"/>
              <a:t> research method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deriving meaning from qualitative data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response to one or more research questions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Typically used in theory building and development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Inductive use → theory building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Deductive use → theory evaluation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1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Also qualitative content analysis (German: qualitative Inhaltsanalyse)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Position and Purpose of QDA in Theory Building</a:t>
            </a:r>
            <a:endParaRPr/>
          </a:p>
        </p:txBody>
      </p:sp>
      <p:sp>
        <p:nvSpPr>
          <p:cNvPr id="65" name="Google Shape;65;p1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66" name="Google Shape;66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35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QDA in Theory Building Methodologies</a:t>
            </a:r>
            <a:endParaRPr/>
          </a:p>
        </p:txBody>
      </p:sp>
      <p:sp>
        <p:nvSpPr>
          <p:cNvPr id="72" name="Google Shape;72;p1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Most QDA methods can be plugged into theory building </a:t>
            </a:r>
            <a:r>
              <a:rPr lang="en"/>
              <a:t>methodologies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Systematic reviews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Qualitative surveys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Action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Case study research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1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Properties of QDA</a:t>
            </a:r>
            <a:endParaRPr/>
          </a:p>
        </p:txBody>
      </p:sp>
      <p:sp>
        <p:nvSpPr>
          <p:cNvPr id="79" name="Google Shape;79;p1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qualitative data analysis process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Inductive (→ theory building from data)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Structured (→ not arbitrary / random)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Quantitative (→ assuring quality)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1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5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QDA Artifacts</a:t>
            </a:r>
            <a:endParaRPr/>
          </a:p>
        </p:txBody>
      </p:sp>
      <p:sp>
        <p:nvSpPr>
          <p:cNvPr id="86" name="Google Shape;86;p1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Artifacts and Activities in QDA</a:t>
            </a:r>
            <a:endParaRPr/>
          </a:p>
        </p:txBody>
      </p:sp>
      <p:sp>
        <p:nvSpPr>
          <p:cNvPr id="92" name="Google Shape;92;p1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93" name="Google Shape;93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35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Codes and Codings</a:t>
            </a:r>
            <a:endParaRPr/>
          </a:p>
        </p:txBody>
      </p:sp>
      <p:sp>
        <p:nvSpPr>
          <p:cNvPr id="99" name="Google Shape;99;p1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100" name="Google Shape;100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code (also label, annotation, etc.)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short text (name) for an empirical observation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An open code is a code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Originates from the primary materials through a coding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coding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relationship between an open code and its origin in the data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theme or category is a code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Hierarchically abstracts from other codes in a code system 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Code and Codings</a:t>
            </a:r>
            <a:endParaRPr/>
          </a:p>
        </p:txBody>
      </p:sp>
      <p:sp>
        <p:nvSpPr>
          <p:cNvPr id="106" name="Google Shape;106;p1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107" name="Google Shape;107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7315200" cy="4109662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8" name="Google Shape;108;p18"/>
          <p:cNvSpPr/>
          <p:nvPr/>
        </p:nvSpPr>
        <p:spPr>
          <a:xfrm>
            <a:off x="331725" y="4087150"/>
            <a:ext cx="1031400" cy="308400"/>
          </a:xfrm>
          <a:prstGeom prst="rect">
            <a:avLst/>
          </a:prstGeom>
          <a:noFill/>
          <a:ln cap="flat" cmpd="sng" w="381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8"/>
          <p:cNvSpPr/>
          <p:nvPr/>
        </p:nvSpPr>
        <p:spPr>
          <a:xfrm>
            <a:off x="1919525" y="2697825"/>
            <a:ext cx="1031400" cy="308400"/>
          </a:xfrm>
          <a:prstGeom prst="rect">
            <a:avLst/>
          </a:prstGeom>
          <a:noFill/>
          <a:ln cap="flat" cmpd="sng" w="381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Definition</a:t>
            </a:r>
            <a:endParaRPr/>
          </a:p>
        </p:txBody>
      </p:sp>
      <p:sp>
        <p:nvSpPr>
          <p:cNvPr id="115" name="Google Shape;115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code definition should include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short (one sentence) definition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description of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When to use the code and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When not to use the code </a:t>
            </a:r>
            <a:endParaRPr/>
          </a:p>
        </p:txBody>
      </p:sp>
      <p:sp>
        <p:nvSpPr>
          <p:cNvPr id="116" name="Google Shape;116;p1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Memo</a:t>
            </a:r>
            <a:endParaRPr/>
          </a:p>
        </p:txBody>
      </p:sp>
      <p:sp>
        <p:nvSpPr>
          <p:cNvPr id="122" name="Google Shape;122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memo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written reflection on a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memo may include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Research insights and observations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Work notes for future investigations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code itself should be defined independently of the memo</a:t>
            </a:r>
            <a:endParaRPr/>
          </a:p>
        </p:txBody>
      </p:sp>
      <p:sp>
        <p:nvSpPr>
          <p:cNvPr id="123" name="Google Shape;123;p2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Code and Memo</a:t>
            </a:r>
            <a:endParaRPr/>
          </a:p>
        </p:txBody>
      </p:sp>
      <p:sp>
        <p:nvSpPr>
          <p:cNvPr id="129" name="Google Shape;129;p2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130" name="Google Shape;130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7315200" cy="4109662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31" name="Google Shape;131;p21"/>
          <p:cNvSpPr/>
          <p:nvPr/>
        </p:nvSpPr>
        <p:spPr>
          <a:xfrm>
            <a:off x="6491525" y="3123125"/>
            <a:ext cx="1155300" cy="1655100"/>
          </a:xfrm>
          <a:prstGeom prst="rect">
            <a:avLst/>
          </a:prstGeom>
          <a:noFill/>
          <a:ln cap="flat" cmpd="sng" w="381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</a:t>
            </a:r>
            <a:r>
              <a:rPr lang="en"/>
              <a:t>ode system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hierarchical structure of codes intended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capture the relationships between the codes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code system is an expression of the theory under development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Codes represent concepts and constructs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Relationships represent hypotheses</a:t>
            </a:r>
            <a:endParaRPr/>
          </a:p>
        </p:txBody>
      </p:sp>
      <p:sp>
        <p:nvSpPr>
          <p:cNvPr id="137" name="Google Shape;137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System</a:t>
            </a:r>
            <a:endParaRPr/>
          </a:p>
        </p:txBody>
      </p:sp>
      <p:sp>
        <p:nvSpPr>
          <p:cNvPr id="138" name="Google Shape;138;p2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Code System</a:t>
            </a:r>
            <a:endParaRPr/>
          </a:p>
        </p:txBody>
      </p:sp>
      <p:sp>
        <p:nvSpPr>
          <p:cNvPr id="144" name="Google Shape;144;p2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145" name="Google Shape;145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7315200" cy="4109662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46" name="Google Shape;146;p23"/>
          <p:cNvSpPr/>
          <p:nvPr/>
        </p:nvSpPr>
        <p:spPr>
          <a:xfrm>
            <a:off x="166925" y="1492800"/>
            <a:ext cx="1685400" cy="3437700"/>
          </a:xfrm>
          <a:prstGeom prst="rect">
            <a:avLst/>
          </a:prstGeom>
          <a:noFill/>
          <a:ln cap="flat" cmpd="sng" w="381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Semantics of Hierarchy</a:t>
            </a:r>
            <a:endParaRPr/>
          </a:p>
        </p:txBody>
      </p:sp>
      <p:sp>
        <p:nvSpPr>
          <p:cNvPr id="152" name="Google Shape;152;p2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153" name="Google Shape;153;p2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principle, anything goes, but …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Common patterns of hierarchical organization are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slotting system to group similar open codes (cf. card sorting)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grouping system for underlying themes (cf. thematic analysis)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structuring mechanism for theoretical constructs / abstractions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Computer science students may use common modeling techniques like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Association, aggregation (part-whole), generalization/specialization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No tool (yet) allows for the formal capture of such (meta) relationships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code book documents the code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For each code in the code system, the code book lists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</a:t>
            </a:r>
            <a:r>
              <a:rPr lang="en"/>
              <a:t> definition of the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Instructions for when to use the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Possible disambiguations towards other codes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exemplary piece of data coded with the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Beyond general documentation, a code book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Helps establish intercoder reliability of analysis</a:t>
            </a:r>
            <a:endParaRPr/>
          </a:p>
        </p:txBody>
      </p:sp>
      <p:sp>
        <p:nvSpPr>
          <p:cNvPr id="159" name="Google Shape;159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Book</a:t>
            </a:r>
            <a:endParaRPr/>
          </a:p>
        </p:txBody>
      </p:sp>
      <p:sp>
        <p:nvSpPr>
          <p:cNvPr id="160" name="Google Shape;160;p2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Main Artifacts in Overview</a:t>
            </a:r>
            <a:endParaRPr/>
          </a:p>
        </p:txBody>
      </p:sp>
      <p:sp>
        <p:nvSpPr>
          <p:cNvPr id="166" name="Google Shape;166;p2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167" name="Google Shape;167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35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7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QDA Methods</a:t>
            </a:r>
            <a:endParaRPr/>
          </a:p>
        </p:txBody>
      </p:sp>
      <p:sp>
        <p:nvSpPr>
          <p:cNvPr id="173" name="Google Shape;173;p2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Different QDA Methods</a:t>
            </a:r>
            <a:endParaRPr/>
          </a:p>
        </p:txBody>
      </p:sp>
      <p:sp>
        <p:nvSpPr>
          <p:cNvPr id="179" name="Google Shape;179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Card sorting [1]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Thematic analysis [2]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Inductive coding [3]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2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181" name="Google Shape;181;p28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Hudson (2013)</a:t>
            </a:r>
            <a:r>
              <a:rPr lang="en"/>
              <a:t>: Card sorting.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See </a:t>
            </a:r>
            <a:r>
              <a:rPr lang="en" u="sng">
                <a:solidFill>
                  <a:schemeClr val="hlink"/>
                </a:solidFill>
                <a:hlinkClick r:id="rId5"/>
              </a:rPr>
              <a:t>Braun &amp; Clarke (2012)</a:t>
            </a:r>
            <a:r>
              <a:rPr lang="en"/>
              <a:t>: Thematic analysis.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[3] See </a:t>
            </a:r>
            <a:r>
              <a:rPr lang="en" u="sng">
                <a:solidFill>
                  <a:schemeClr val="hlink"/>
                </a:solidFill>
                <a:hlinkClick r:id="rId6"/>
              </a:rPr>
              <a:t>Corbin &amp; Strauss (2008)</a:t>
            </a:r>
            <a:r>
              <a:rPr lang="en"/>
              <a:t>: Qualitative research, 3rd edition.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Card Sorting [1]</a:t>
            </a:r>
            <a:endParaRPr/>
          </a:p>
        </p:txBody>
      </p:sp>
      <p:sp>
        <p:nvSpPr>
          <p:cNvPr id="187" name="Google Shape;187;p2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Analyze data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Name item [2] and write on card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/>
              <a:t>Synthesize data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Group cards with similar items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/>
              <a:t>Codify theory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Name and summarize groups</a:t>
            </a:r>
            <a:endParaRPr/>
          </a:p>
        </p:txBody>
      </p:sp>
      <p:sp>
        <p:nvSpPr>
          <p:cNvPr id="188" name="Google Shape;188;p2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189" name="Google Shape;189;p29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Hudson (2013)</a:t>
            </a:r>
            <a:r>
              <a:rPr lang="en">
                <a:solidFill>
                  <a:schemeClr val="dk1"/>
                </a:solidFill>
              </a:rPr>
              <a:t>: Card sorting.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Item, topic, theme, artifact, … depends on context and is relative to research question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Coding, Then</a:t>
            </a:r>
            <a:endParaRPr/>
          </a:p>
        </p:txBody>
      </p:sp>
      <p:sp>
        <p:nvSpPr>
          <p:cNvPr id="195" name="Google Shape;195;p3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196" name="Google Shape;196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7315199" cy="4114800"/>
          </a:xfrm>
          <a:prstGeom prst="rect">
            <a:avLst/>
          </a:prstGeom>
          <a:noFill/>
          <a:ln cap="flat" cmpd="sng" w="19050">
            <a:solidFill>
              <a:srgbClr val="40404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Coding Now (With QDAcity)</a:t>
            </a:r>
            <a:endParaRPr/>
          </a:p>
        </p:txBody>
      </p:sp>
      <p:sp>
        <p:nvSpPr>
          <p:cNvPr id="202" name="Google Shape;202;p3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203" name="Google Shape;203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7315200" cy="4110629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Thematic Analysis [1]</a:t>
            </a:r>
            <a:endParaRPr/>
          </a:p>
        </p:txBody>
      </p:sp>
      <p:sp>
        <p:nvSpPr>
          <p:cNvPr id="209" name="Google Shape;209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Analyze data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Familiarize yourself with the data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Generate </a:t>
            </a:r>
            <a:r>
              <a:rPr lang="en"/>
              <a:t>initial</a:t>
            </a:r>
            <a:r>
              <a:rPr lang="en"/>
              <a:t> codes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Synthesize data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3"/>
            </a:pPr>
            <a:r>
              <a:rPr lang="en"/>
              <a:t>Search for potential themes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3"/>
            </a:pPr>
            <a:r>
              <a:rPr lang="en"/>
              <a:t>Review potential themes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3"/>
            </a:pPr>
            <a:r>
              <a:rPr lang="en"/>
              <a:t>Define and name themes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Codify theory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6"/>
            </a:pPr>
            <a:r>
              <a:rPr lang="en"/>
              <a:t>Product the report</a:t>
            </a:r>
            <a:endParaRPr/>
          </a:p>
        </p:txBody>
      </p:sp>
      <p:sp>
        <p:nvSpPr>
          <p:cNvPr id="210" name="Google Shape;210;p3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211" name="Google Shape;211;p32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Braun &amp; Clarke (2012)</a:t>
            </a:r>
            <a:r>
              <a:rPr lang="en"/>
              <a:t>: Thematic analysis.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Analyze data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 open coding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Synthesize data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 axial coding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 selective coding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Codify theory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Write articles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Inductive Coding [1] [2]</a:t>
            </a:r>
            <a:endParaRPr/>
          </a:p>
        </p:txBody>
      </p:sp>
      <p:sp>
        <p:nvSpPr>
          <p:cNvPr id="218" name="Google Shape;218;p3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219" name="Google Shape;219;p33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Corbin &amp; Strauss (2008)</a:t>
            </a:r>
            <a:r>
              <a:rPr lang="en">
                <a:solidFill>
                  <a:schemeClr val="dk1"/>
                </a:solidFill>
              </a:rPr>
              <a:t>: Qualitative research, 3rd edition.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My shorthand for coding according to Corbin &amp; Strauss (2008) [DR]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Grounded Theory</a:t>
            </a:r>
            <a:endParaRPr/>
          </a:p>
        </p:txBody>
      </p:sp>
      <p:sp>
        <p:nvSpPr>
          <p:cNvPr id="225" name="Google Shape;225;p34"/>
          <p:cNvSpPr txBox="1"/>
          <p:nvPr>
            <p:ph idx="1" type="body"/>
          </p:nvPr>
        </p:nvSpPr>
        <p:spPr>
          <a:xfrm>
            <a:off x="3200400" y="914400"/>
            <a:ext cx="56109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Grounded theory is a research methodology for theory building like qualitative </a:t>
            </a:r>
            <a:r>
              <a:rPr lang="en"/>
              <a:t>surveys</a:t>
            </a:r>
            <a:r>
              <a:rPr lang="en"/>
              <a:t>, etc.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Inductive coding was lifted from Corbin &amp; Strauss’ version of grounded theory [1]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3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227" name="Google Shape;227;p34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Corbin &amp; Strauss (2008)</a:t>
            </a:r>
            <a:r>
              <a:rPr lang="en"/>
              <a:t>: Qualitative research, 3rd edition.</a:t>
            </a:r>
            <a:endParaRPr/>
          </a:p>
        </p:txBody>
      </p:sp>
      <p:pic>
        <p:nvPicPr>
          <p:cNvPr id="228" name="Google Shape;228;p3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4320" y="914400"/>
            <a:ext cx="2582723" cy="38404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Artifacts and Activities in QDA Methods</a:t>
            </a:r>
            <a:endParaRPr/>
          </a:p>
        </p:txBody>
      </p:sp>
      <p:sp>
        <p:nvSpPr>
          <p:cNvPr id="234" name="Google Shape;234;p3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graphicFrame>
        <p:nvGraphicFramePr>
          <p:cNvPr id="235" name="Google Shape;235;p35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{70A4FFC3-DA45-4E75-927B-6269FA2CB669}</a:tableStyleId>
              </a:tblPr>
              <a:tblGrid>
                <a:gridCol w="1719075"/>
                <a:gridCol w="1719075"/>
                <a:gridCol w="1719075"/>
                <a:gridCol w="1719075"/>
                <a:gridCol w="1719075"/>
              </a:tblGrid>
              <a:tr h="640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Card</a:t>
                      </a:r>
                      <a:br>
                        <a:rPr b="1" lang="en">
                          <a:solidFill>
                            <a:schemeClr val="lt1"/>
                          </a:solidFill>
                        </a:rPr>
                      </a:br>
                      <a:r>
                        <a:rPr b="1" lang="en">
                          <a:solidFill>
                            <a:schemeClr val="lt1"/>
                          </a:solidFill>
                        </a:rPr>
                        <a:t>sorting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Thematic</a:t>
                      </a:r>
                      <a:br>
                        <a:rPr b="1" lang="en">
                          <a:solidFill>
                            <a:schemeClr val="lt1"/>
                          </a:solidFill>
                        </a:rPr>
                      </a:br>
                      <a:r>
                        <a:rPr b="1" lang="en">
                          <a:solidFill>
                            <a:schemeClr val="lt1"/>
                          </a:solidFill>
                        </a:rPr>
                        <a:t>analysis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Inductive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coding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640075">
                <a:tc row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Artifacts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Codes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Items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Codes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Open codes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75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Categories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Item groups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Themes and subthemes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Concepts and categories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640075">
                <a:tc row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Activities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Extraction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Card writing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Initial coding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Open coding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640075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Synthesis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Grouping and summarizing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Theme naming and </a:t>
                      </a:r>
                      <a:r>
                        <a:rPr lang="en"/>
                        <a:t>defining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Axial and selective coding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Rigor vs. Effort in QDA Methods</a:t>
            </a:r>
            <a:endParaRPr/>
          </a:p>
        </p:txBody>
      </p:sp>
      <p:sp>
        <p:nvSpPr>
          <p:cNvPr id="241" name="Google Shape;241;p3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242" name="Google Shape;242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35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Word of Caution</a:t>
            </a:r>
            <a:endParaRPr/>
          </a:p>
        </p:txBody>
      </p:sp>
      <p:sp>
        <p:nvSpPr>
          <p:cNvPr id="248" name="Google Shape;248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Despite my </a:t>
            </a:r>
            <a:r>
              <a:rPr lang="en"/>
              <a:t>correlation</a:t>
            </a:r>
            <a:r>
              <a:rPr lang="en"/>
              <a:t> and attempted homogenization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Method authors and users can be extremely picky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So in a given research project, always use the specific method</a:t>
            </a:r>
            <a:endParaRPr/>
          </a:p>
        </p:txBody>
      </p:sp>
      <p:sp>
        <p:nvSpPr>
          <p:cNvPr id="249" name="Google Shape;249;p3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Inductive Coding</a:t>
            </a:r>
            <a:endParaRPr/>
          </a:p>
        </p:txBody>
      </p:sp>
      <p:sp>
        <p:nvSpPr>
          <p:cNvPr id="255" name="Google Shape;255;p3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Coding 1 / 2</a:t>
            </a:r>
            <a:endParaRPr/>
          </a:p>
        </p:txBody>
      </p:sp>
      <p:sp>
        <p:nvSpPr>
          <p:cNvPr id="261" name="Google Shape;261;p3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212121"/>
                </a:solidFill>
              </a:rPr>
              <a:t>An open code is a code that</a:t>
            </a:r>
            <a:endParaRPr>
              <a:solidFill>
                <a:srgbClr val="212121"/>
              </a:solidFill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212121"/>
              </a:buClr>
              <a:buSzPts val="1800"/>
              <a:buChar char="●"/>
            </a:pPr>
            <a:r>
              <a:rPr lang="en">
                <a:solidFill>
                  <a:srgbClr val="212121"/>
                </a:solidFill>
              </a:rPr>
              <a:t>Represents an empirical observation</a:t>
            </a:r>
            <a:endParaRPr>
              <a:solidFill>
                <a:srgbClr val="21212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800"/>
              <a:buChar char="●"/>
            </a:pPr>
            <a:r>
              <a:rPr lang="en">
                <a:solidFill>
                  <a:srgbClr val="212121"/>
                </a:solidFill>
              </a:rPr>
              <a:t>Is conceptual, i.e. represents a concept</a:t>
            </a:r>
            <a:endParaRPr>
              <a:solidFill>
                <a:srgbClr val="21212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800"/>
              <a:buChar char="●"/>
            </a:pPr>
            <a:r>
              <a:rPr lang="en">
                <a:solidFill>
                  <a:srgbClr val="212121"/>
                </a:solidFill>
              </a:rPr>
              <a:t>Has a direct origin in the primary materials</a:t>
            </a:r>
            <a:endParaRPr>
              <a:solidFill>
                <a:srgbClr val="21212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212121"/>
                </a:solidFill>
              </a:rPr>
              <a:t>Open coding is</a:t>
            </a:r>
            <a:endParaRPr>
              <a:solidFill>
                <a:srgbClr val="212121"/>
              </a:solidFill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212121"/>
              </a:buClr>
              <a:buSzPts val="1800"/>
              <a:buChar char="●"/>
            </a:pPr>
            <a:r>
              <a:rPr lang="en">
                <a:solidFill>
                  <a:srgbClr val="212121"/>
                </a:solidFill>
              </a:rPr>
              <a:t>The creation of open codes from primary materials</a:t>
            </a:r>
            <a:endParaRPr>
              <a:solidFill>
                <a:srgbClr val="21212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212121"/>
                </a:solidFill>
              </a:rPr>
              <a:t>An in-vivo code is an open code that</a:t>
            </a:r>
            <a:endParaRPr>
              <a:solidFill>
                <a:srgbClr val="212121"/>
              </a:solidFill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212121"/>
              </a:buClr>
              <a:buSzPts val="1800"/>
              <a:buChar char="●"/>
            </a:pPr>
            <a:r>
              <a:rPr lang="en">
                <a:solidFill>
                  <a:srgbClr val="212121"/>
                </a:solidFill>
              </a:rPr>
              <a:t>Has a name taken directly from the primary materials</a:t>
            </a:r>
            <a:endParaRPr>
              <a:solidFill>
                <a:srgbClr val="212121"/>
              </a:solidFill>
            </a:endParaRPr>
          </a:p>
        </p:txBody>
      </p:sp>
      <p:sp>
        <p:nvSpPr>
          <p:cNvPr id="262" name="Google Shape;262;p3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Coding 2 / 2</a:t>
            </a:r>
            <a:endParaRPr/>
          </a:p>
        </p:txBody>
      </p:sp>
      <p:sp>
        <p:nvSpPr>
          <p:cNvPr id="268" name="Google Shape;268;p4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212121"/>
                </a:solidFill>
              </a:rPr>
              <a:t>Carefully read the primary materials incrementally, repeatedly</a:t>
            </a:r>
            <a:endParaRPr>
              <a:solidFill>
                <a:srgbClr val="21212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212121"/>
                </a:solidFill>
              </a:rPr>
              <a:t>Mark segments containing relevant information for your research question</a:t>
            </a:r>
            <a:endParaRPr>
              <a:solidFill>
                <a:srgbClr val="21212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212121"/>
                </a:solidFill>
              </a:rPr>
              <a:t>Assign segment to existing open code or create a new one</a:t>
            </a:r>
            <a:endParaRPr>
              <a:solidFill>
                <a:srgbClr val="21212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212121"/>
                </a:solidFill>
              </a:rPr>
              <a:t>Write memos for codes to elaborate on your observations</a:t>
            </a:r>
            <a:endParaRPr>
              <a:solidFill>
                <a:srgbClr val="212121"/>
              </a:solidFill>
            </a:endParaRPr>
          </a:p>
        </p:txBody>
      </p:sp>
      <p:sp>
        <p:nvSpPr>
          <p:cNvPr id="269" name="Google Shape;269;p4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Constant Comparison</a:t>
            </a:r>
            <a:endParaRPr/>
          </a:p>
        </p:txBody>
      </p:sp>
      <p:sp>
        <p:nvSpPr>
          <p:cNvPr id="275" name="Google Shape;275;p4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you are coding, compare codes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Are two codes the same?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Are there subtle differences? Should the codes be split?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Then take action and refactor your code system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Implies rereading and recoding</a:t>
            </a:r>
            <a:endParaRPr/>
          </a:p>
        </p:txBody>
      </p:sp>
      <p:sp>
        <p:nvSpPr>
          <p:cNvPr id="276" name="Google Shape;276;p4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Axial Coding</a:t>
            </a:r>
            <a:endParaRPr/>
          </a:p>
        </p:txBody>
      </p:sp>
      <p:sp>
        <p:nvSpPr>
          <p:cNvPr id="282" name="Google Shape;282;p4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283" name="Google Shape;283;p4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Axial coding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introduction of new codes representing concepts or constructs by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Comparing existing codes for similarities and differences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Axial coding creates a hierarchy of codes, the code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Codes should be MECE (mutually exclusive, completely exhaustive)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Concepts and Constructs</a:t>
            </a:r>
            <a:endParaRPr/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Codes represent concepts; examples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Off-by-one error (open code)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Syntax error (axial code)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Codes represent constructs; examples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Product owner / software developer conflict (open code)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Performance incentive (axial code)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4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Selective Coding</a:t>
            </a:r>
            <a:endParaRPr/>
          </a:p>
        </p:txBody>
      </p:sp>
      <p:sp>
        <p:nvSpPr>
          <p:cNvPr id="296" name="Google Shape;296;p4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Selective coding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focussing of top-level codes on the research question and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relationship-building of top-level codes to a single core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According to Corbin &amp; Strauss, the theory is the single core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4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Resulting Theory</a:t>
            </a:r>
            <a:endParaRPr/>
          </a:p>
        </p:txBody>
      </p:sp>
      <p:sp>
        <p:nvSpPr>
          <p:cNvPr id="303" name="Google Shape;303;p4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systems and associated artifacts represent the theory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There is more to the theory in a researcher’s mind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It needs research articles to document this</a:t>
            </a:r>
            <a:endParaRPr/>
          </a:p>
        </p:txBody>
      </p:sp>
      <p:sp>
        <p:nvSpPr>
          <p:cNvPr id="304" name="Google Shape;304;p4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46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Quality Assurance</a:t>
            </a:r>
            <a:endParaRPr/>
          </a:p>
        </p:txBody>
      </p:sp>
      <p:sp>
        <p:nvSpPr>
          <p:cNvPr id="310" name="Google Shape;310;p4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General Criteria for Qualitative Research</a:t>
            </a:r>
            <a:endParaRPr/>
          </a:p>
        </p:txBody>
      </p:sp>
      <p:sp>
        <p:nvSpPr>
          <p:cNvPr id="316" name="Google Shape;316;p4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17" name="Google Shape;317;p4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Quality criteria based on Guba &amp; Lincoln [1]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Credibility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Transferability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Dependability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Confirmability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Typically realized through specific practices</a:t>
            </a:r>
            <a:endParaRPr/>
          </a:p>
        </p:txBody>
      </p:sp>
      <p:sp>
        <p:nvSpPr>
          <p:cNvPr id="318" name="Google Shape;318;p47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rgbClr val="34A3C5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Guba &amp; Lincoln (1982)</a:t>
            </a:r>
            <a:r>
              <a:rPr lang="en"/>
              <a:t>: Naturalistic inquiry.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Research Practices</a:t>
            </a:r>
            <a:endParaRPr/>
          </a:p>
        </p:txBody>
      </p:sp>
      <p:sp>
        <p:nvSpPr>
          <p:cNvPr id="324" name="Google Shape;324;p4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25" name="Google Shape;325;p4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Two example research practices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Member checking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Peer debriefing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Simple and easy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Checking</a:t>
            </a:r>
            <a:endParaRPr/>
          </a:p>
        </p:txBody>
      </p:sp>
      <p:sp>
        <p:nvSpPr>
          <p:cNvPr id="331" name="Google Shape;331;p4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checking is a research practice in which the researcher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Seeks feedback from data sources (participants, stakeholders) either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During data gathering (active and reflective listening) or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analysis (asking for feedback and confirmation)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4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Peer Debriefing</a:t>
            </a:r>
            <a:endParaRPr/>
          </a:p>
        </p:txBody>
      </p:sp>
      <p:sp>
        <p:nvSpPr>
          <p:cNvPr id="338" name="Google Shape;338;p5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Peer debriefing is a research practice in which the researcher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Subjects their work to review and critique by a peer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 multiple times during the current running project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researcher presents and explains their work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peer questions and critiques the work, looking for flaws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researcher documents the session with a protocol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5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5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QDA-Specific Concerns</a:t>
            </a:r>
            <a:endParaRPr/>
          </a:p>
        </p:txBody>
      </p:sp>
      <p:sp>
        <p:nvSpPr>
          <p:cNvPr id="345" name="Google Shape;345;p5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46" name="Google Shape;346;p5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 you know you are done?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⇒"/>
            </a:pPr>
            <a:r>
              <a:rPr lang="en"/>
              <a:t>Theory saturation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How do you know you are not winging it?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⇒"/>
            </a:pPr>
            <a:r>
              <a:rPr lang="en"/>
              <a:t>Intercoder agreement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5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Saturation [1]</a:t>
            </a:r>
            <a:endParaRPr/>
          </a:p>
        </p:txBody>
      </p:sp>
      <p:sp>
        <p:nvSpPr>
          <p:cNvPr id="352" name="Google Shape;352;p5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53" name="Google Shape;353;p5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saturation is 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Stopping criterion for qualitative data analysis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Theory saturation is reached when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Further data collection and analysis does not yield new insights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technical terms, the change rate of codes is zero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New data yields new codings, but no new codes</a:t>
            </a:r>
            <a:endParaRPr/>
          </a:p>
        </p:txBody>
      </p:sp>
      <p:sp>
        <p:nvSpPr>
          <p:cNvPr id="354" name="Google Shape;354;p52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Originally theoretical s</a:t>
            </a:r>
            <a:r>
              <a:rPr lang="en"/>
              <a:t>aturation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5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Saturation in Research Process</a:t>
            </a:r>
            <a:endParaRPr/>
          </a:p>
        </p:txBody>
      </p:sp>
      <p:sp>
        <p:nvSpPr>
          <p:cNvPr id="360" name="Google Shape;360;p5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361" name="Google Shape;361;p5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35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Measuring Theory Saturation</a:t>
            </a:r>
            <a:endParaRPr/>
          </a:p>
        </p:txBody>
      </p:sp>
      <p:sp>
        <p:nvSpPr>
          <p:cNvPr id="367" name="Google Shape;367;p5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68" name="Google Shape;368;p5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Structure analysis into iterations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purposive sampling to seek out new data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After finishing the analysis of new data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Count the number of new codings and codes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No new codes in five iterations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Theory saturation reached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5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Charting of Theory Saturation by Iteration</a:t>
            </a:r>
            <a:endParaRPr/>
          </a:p>
        </p:txBody>
      </p:sp>
      <p:sp>
        <p:nvSpPr>
          <p:cNvPr id="374" name="Google Shape;374;p5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375" name="Google Shape;375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35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5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Intercoder Reliability</a:t>
            </a:r>
            <a:endParaRPr/>
          </a:p>
        </p:txBody>
      </p:sp>
      <p:sp>
        <p:nvSpPr>
          <p:cNvPr id="381" name="Google Shape;381;p5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82" name="Google Shape;382;p5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Intercoder reliability (also: interrater reliability)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degree of agreement between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primary (the original) coder and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One or more secondary coders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other words: Is there intersubjective agreement?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And to what extent?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5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Process of Measuring Intercoder Agreement</a:t>
            </a:r>
            <a:endParaRPr/>
          </a:p>
        </p:txBody>
      </p:sp>
      <p:sp>
        <p:nvSpPr>
          <p:cNvPr id="388" name="Google Shape;388;p5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original coder creates the code book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code book documents the code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</a:t>
            </a:r>
            <a:r>
              <a:rPr lang="en"/>
              <a:t>origins</a:t>
            </a:r>
            <a:r>
              <a:rPr lang="en"/>
              <a:t> coder explains and discusses the code book with further coders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Further coders (usually one) code the primary materials using the code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intercoder agreement is the overlap/agreement of the coding sets</a:t>
            </a:r>
            <a:endParaRPr/>
          </a:p>
        </p:txBody>
      </p:sp>
      <p:sp>
        <p:nvSpPr>
          <p:cNvPr id="389" name="Google Shape;389;p5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5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Measures of Intercoder Agreement</a:t>
            </a:r>
            <a:endParaRPr/>
          </a:p>
        </p:txBody>
      </p:sp>
      <p:sp>
        <p:nvSpPr>
          <p:cNvPr id="395" name="Google Shape;395;p5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396" name="Google Shape;396;p5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35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59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6. Iterative Process</a:t>
            </a:r>
            <a:endParaRPr/>
          </a:p>
        </p:txBody>
      </p:sp>
      <p:sp>
        <p:nvSpPr>
          <p:cNvPr id="402" name="Google Shape;402;p5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6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Building is Iterative</a:t>
            </a:r>
            <a:endParaRPr/>
          </a:p>
        </p:txBody>
      </p:sp>
      <p:sp>
        <p:nvSpPr>
          <p:cNvPr id="408" name="Google Shape;408;p6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409" name="Google Shape;409;p6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building proceeds in iterations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Iterations incrementally answer the primary research question at hand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Triangulation and expansion </a:t>
            </a:r>
            <a:r>
              <a:rPr lang="en"/>
              <a:t>improve</a:t>
            </a:r>
            <a:r>
              <a:rPr lang="en"/>
              <a:t> rigor and increase relevance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6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Research Project Iteration</a:t>
            </a:r>
            <a:endParaRPr/>
          </a:p>
        </p:txBody>
      </p:sp>
      <p:sp>
        <p:nvSpPr>
          <p:cNvPr id="415" name="Google Shape;415;p6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research project proceeds in iterations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iteration provides an increment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Stopping criterion is theory saturation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iteration gathers new data based on insights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New data (samples) follow sampling model and strategy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research project determines the primary methodology</a:t>
            </a:r>
            <a:endParaRPr/>
          </a:p>
        </p:txBody>
      </p:sp>
      <p:sp>
        <p:nvSpPr>
          <p:cNvPr id="416" name="Google Shape;416;p6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6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building proceeds incrementally, across many research projects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Larger research projects are composed of smaller ones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Multiple research projects allow for triangulation (rigor)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Multiple research projects expand scope (relevance)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Each research project may use a different methodology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Systematic review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Qualitative survey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Action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Case study research</a:t>
            </a:r>
            <a:endParaRPr/>
          </a:p>
        </p:txBody>
      </p:sp>
      <p:sp>
        <p:nvSpPr>
          <p:cNvPr id="422" name="Google Shape;422;p6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Build-out Using Multiple Research Projects</a:t>
            </a:r>
            <a:endParaRPr/>
          </a:p>
        </p:txBody>
      </p:sp>
      <p:sp>
        <p:nvSpPr>
          <p:cNvPr id="423" name="Google Shape;423;p6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6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 Theory Presentation</a:t>
            </a:r>
            <a:endParaRPr/>
          </a:p>
        </p:txBody>
      </p:sp>
      <p:sp>
        <p:nvSpPr>
          <p:cNvPr id="429" name="Google Shape;429;p6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6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Presentation</a:t>
            </a:r>
            <a:endParaRPr/>
          </a:p>
        </p:txBody>
      </p:sp>
      <p:sp>
        <p:nvSpPr>
          <p:cNvPr id="435" name="Google Shape;435;p6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436" name="Google Shape;436;p6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Prose-based descriptions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Structural equation models [1]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Concept matrices [2]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Handbooks [3]</a:t>
            </a:r>
            <a:endParaRPr/>
          </a:p>
        </p:txBody>
      </p:sp>
      <p:sp>
        <p:nvSpPr>
          <p:cNvPr id="437" name="Google Shape;437;p64"/>
          <p:cNvSpPr txBox="1"/>
          <p:nvPr/>
        </p:nvSpPr>
        <p:spPr>
          <a:xfrm>
            <a:off x="0" y="4233672"/>
            <a:ext cx="76809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Palvia et al. (2006)</a:t>
            </a:r>
            <a:r>
              <a:rPr lang="en"/>
              <a:t>: Research models.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See </a:t>
            </a:r>
            <a:r>
              <a:rPr lang="en" u="sng">
                <a:solidFill>
                  <a:schemeClr val="hlink"/>
                </a:solidFill>
                <a:hlinkClick r:id="rId5"/>
              </a:rPr>
              <a:t>Webster &amp; Watson (2002)</a:t>
            </a:r>
            <a:r>
              <a:rPr lang="en"/>
              <a:t>: Analyzing the past to prepare for the future.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[3] See </a:t>
            </a:r>
            <a:r>
              <a:rPr lang="en" u="sng">
                <a:solidFill>
                  <a:schemeClr val="hlink"/>
                </a:solidFill>
                <a:hlinkClick r:id="rId6"/>
              </a:rPr>
              <a:t>Riehle et al. (2025)</a:t>
            </a:r>
            <a:r>
              <a:rPr lang="en"/>
              <a:t>: Pattern discovery and validation (a.k.a. the handbook method).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6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QDA in theory building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QDA artifacts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QDA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Inductive coding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Quality assurance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Iterative process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Theory presentation</a:t>
            </a:r>
            <a:endParaRPr/>
          </a:p>
        </p:txBody>
      </p:sp>
      <p:sp>
        <p:nvSpPr>
          <p:cNvPr id="443" name="Google Shape;443;p6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444" name="Google Shape;444;p6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66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450" name="Google Shape;450;p66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6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456" name="Google Shape;456;p6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457" name="Google Shape;457;p6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2012-2025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NYT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D50D01"/>
      </a:accent3>
      <a:accent4>
        <a:srgbClr val="FEB612"/>
      </a:accent4>
      <a:accent5>
        <a:srgbClr val="4CAF50"/>
      </a:accent5>
      <a:accent6>
        <a:srgbClr val="8E44AD"/>
      </a:accent6>
      <a:hlink>
        <a:srgbClr val="34A3C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
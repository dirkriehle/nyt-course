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08C0E-BB41-45BB-B872-416642E8B19A}">
  <a:tblStyle styleId="{30708C0E-BB41-45BB-B872-416642E8B1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8D32E45-A7EC-4025-BCF0-4CC564FF6A3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37050ba0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37050ba0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177d6b95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177d6b95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177d6b95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2177d6b95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177d6b95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177d6b95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177d6b95a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177d6b95a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77d6b95a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177d6b95a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c75e44776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c75e44776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75e4477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c75e4477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75e44776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75e44776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7bc9dfd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7bc9dfd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77d6b95a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77d6b95a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177d6b95a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177d6b95a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c79edfec76_13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c79edfec76_13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77d6b95a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177d6b95a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77d6b95a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177d6b95a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77d6b95a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177d6b95a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177d6b95a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177d6b95a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77d6b95a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77d6b95a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177d6b95a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177d6b95a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79edfec76_13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79edfec76_1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7a85386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7a85386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77d6b95ab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177d6b95ab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a440056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1a440056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7a85386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7a85386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c7a85386e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c7a85386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3348cfacfd_0_176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13348cfacfd_0_176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c7a85386e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c7a85386e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c7a85386e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c7a85386e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c7a85386e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c7a85386e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3348cfacfd_0_214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13348cfacfd_0_214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3348cfacfd_0_237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13348cfacfd_0_237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3348cfacfd_0_242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13348cfacfd_0_242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c7a85386e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c7a85386e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348cfacfd_0_271:notes"/>
          <p:cNvSpPr txBox="1"/>
          <p:nvPr>
            <p:ph idx="1" type="body"/>
          </p:nvPr>
        </p:nvSpPr>
        <p:spPr>
          <a:xfrm>
            <a:off x="489878" y="4618268"/>
            <a:ext cx="5878500" cy="4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13348cfacfd_0_271:notes"/>
          <p:cNvSpPr/>
          <p:nvPr>
            <p:ph idx="2" type="sldImg"/>
          </p:nvPr>
        </p:nvSpPr>
        <p:spPr>
          <a:xfrm>
            <a:off x="489775" y="307885"/>
            <a:ext cx="5878800" cy="4156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7bc9dfd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c7bc9dfd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77d6b95a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177d6b95a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1983758b4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1983758b4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79edfec76_1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c79edfec76_1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77d6b95a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177d6b95a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c79edfec76_1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c79edfec76_1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79edfec76_13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c79edfec76_1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c79edfec76_13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c79edfec76_1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c7e190d2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c7e190d2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39613a982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39613a982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9613a982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39613a982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uni1.de/ny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uni1.de/nyt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uni1.de/nyt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Research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C05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4" name="Google Shape;44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Case study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</a:t>
            </a:r>
            <a:r>
              <a:rPr lang="en"/>
              <a:t>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execution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Case preparation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 collection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Evaluation case studies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Case Study Research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</a:t>
            </a:r>
            <a:r>
              <a:rPr lang="en"/>
              <a:t>Research</a:t>
            </a:r>
            <a:endParaRPr/>
          </a:p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case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contemporary phenomenon in its real-world context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case study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</a:t>
            </a:r>
            <a:r>
              <a:rPr lang="en"/>
              <a:t>empirical in-depth investigation of a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Case study research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building using case studies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study research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even if phenomenon and context are intertwined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multiple sources of evidence in order to triangulate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Benefits from the prior development of theoretical propositions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sweet spot are contemporary phenomena, but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Historical cases are possible</a:t>
            </a:r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Case Study Research</a:t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Case Study Research Process</a:t>
            </a:r>
            <a:endParaRPr/>
          </a:p>
        </p:txBody>
      </p:sp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research is linear yet iterative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research question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Iterate over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Select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Prepare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Collect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Analyze data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Report findings</a:t>
            </a:r>
            <a:endParaRPr b="1"/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Research Methodologies</a:t>
            </a:r>
            <a:endParaRPr/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case study research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Yin (2009)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Case study research in software engineering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Runeson et al. (2012)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Case Study Process (Yin, 2009)</a:t>
            </a:r>
            <a:endParaRPr/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NYT (2024) vs. Yin (2009)</a:t>
            </a:r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93" name="Google Shape;93;p1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{30708C0E-BB41-45BB-B872-416642E8B19A}</a:tableStyleId>
              </a:tblPr>
              <a:tblGrid>
                <a:gridCol w="4297675"/>
                <a:gridCol w="4297675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 (2024)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Yin (2009)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Define question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Create design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Design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Select case(s)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Design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Prepare case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Prepare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Collect data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Collect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Analyze data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Analyze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Report findings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Case Study Research (Yin, 2009)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</a:t>
            </a:r>
            <a:r>
              <a:rPr b="1" lang="en"/>
              <a:t>escriptive case study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Collects, analyses, and presents cases for documentation purposes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Exploratory case study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Investigates cases for theory building and hypothesis generation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Explanatory case study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Tries to establish causal relationships between constructs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Research Design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Research Design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a case study research design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research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propositions, if 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unit(s) of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data-to-proposition linking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interpretation criteria</a:t>
            </a:r>
            <a:endParaRPr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Exploratory Research Question</a:t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in Product-Line Engineering (PLE)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current problems in product line engineering and why?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Purpose is building an early theory 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Riehle et al. (2016): Inner source in platform development.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Product-Line Engineering</a:t>
            </a:r>
            <a:endParaRPr/>
          </a:p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unit of analysis</a:t>
            </a:r>
            <a:r>
              <a:rPr lang="en"/>
              <a:t>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construct being analyzed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Units of analysis can be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Tangible (e.g. people, products)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Intangible (e.g. theoretical constructs like group dynamics)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the simplest case (no pun intended), the case is the unit of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of Analysis</a:t>
            </a:r>
            <a:endParaRPr/>
          </a:p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(Potential) Units of Analysis</a:t>
            </a:r>
            <a:endParaRPr/>
          </a:p>
        </p:txBody>
      </p:sp>
      <p:sp>
        <p:nvSpPr>
          <p:cNvPr id="140" name="Google Shape;140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in product-line engineering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overall business unit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product organizational units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platform organizational unit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business unit leader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Engineering managers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Architects / developers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Dimensions of Case Study Research Design 2 / 2</a:t>
            </a:r>
            <a:endParaRPr/>
          </a:p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Single-Case Case Study Research</a:t>
            </a:r>
            <a:endParaRPr/>
          </a:p>
        </p:txBody>
      </p:sp>
      <p:sp>
        <p:nvSpPr>
          <p:cNvPr id="154" name="Google Shape;154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single-case case study research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</a:t>
            </a:r>
            <a:r>
              <a:rPr b="1" lang="en"/>
              <a:t> typical (representative)</a:t>
            </a:r>
            <a:r>
              <a:rPr lang="en"/>
              <a:t> case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cases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critical </a:t>
            </a:r>
            <a:r>
              <a:rPr lang="en"/>
              <a:t>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unique / extreme</a:t>
            </a:r>
            <a:r>
              <a:rPr lang="en"/>
              <a:t> (rare and/or particularly interesting)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revelatory </a:t>
            </a:r>
            <a:r>
              <a:rPr lang="en"/>
              <a:t>case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longitudinal </a:t>
            </a:r>
            <a:r>
              <a:rPr lang="en"/>
              <a:t>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Multiple-Case Case Study Research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replication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 replication to contrast and extend findings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Literal replication to strengthen findings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of Multiple-Case Case Study Research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169" name="Google Shape;169;p27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{30708C0E-BB41-45BB-B872-416642E8B19A}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Domain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Business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Healthcare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Telco carrier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Age of platform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Number of developers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500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500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500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Distributed (yes/no)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(same campus)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 (same metro area)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(same campus)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Developer population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Homogeneous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Homogenous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Homogenous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Organization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Profit / cost center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Profit / cost center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Profit / cost center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Age of company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20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20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20 years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Size of company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10000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&gt; 10000 developers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sponsor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Business owner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Platform organization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Internal consulting group</a:t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Process Plan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1 → case 2 → case 3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Incremental build-out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r>
              <a:rPr lang="en"/>
              <a:t>. Research Execution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 Research Execution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Iterate over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Prepare case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Collect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Analyze data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Selection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</a:t>
            </a:r>
            <a:r>
              <a:rPr lang="en"/>
              <a:t> case from process plan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long as saturation is not reached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cases are left</a:t>
            </a:r>
            <a:endParaRPr/>
          </a:p>
        </p:txBody>
      </p:sp>
      <p:sp>
        <p:nvSpPr>
          <p:cNvPr id="196" name="Google Shape;196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case selection </a:t>
            </a:r>
            <a:endParaRPr/>
          </a:p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in product-line engineering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1 → case 2 → case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09" name="Google Shape;209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Preparation</a:t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 as laid out in research protocol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Inform participants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Prepare for data collection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case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Refine as necessary given specific case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Case Preparation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prepared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Site visits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Interview guides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Documents gathering</a:t>
            </a:r>
            <a:endParaRPr/>
          </a:p>
        </p:txBody>
      </p:sp>
      <p:sp>
        <p:nvSpPr>
          <p:cNvPr id="217" name="Google Shape;217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Collection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data collection as planned in protocol, for example,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 observation (“shadowing”)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 observation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Participant interviews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</a:t>
            </a:r>
            <a:r>
              <a:rPr lang="en"/>
              <a:t> materials gathering</a:t>
            </a:r>
            <a:endParaRPr/>
          </a:p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Data Collection</a:t>
            </a:r>
            <a:endParaRPr/>
          </a:p>
        </p:txBody>
      </p:sp>
      <p:sp>
        <p:nvSpPr>
          <p:cNvPr id="230" name="Google Shape;230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31" name="Google Shape;231;p3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{30708C0E-BB41-45BB-B872-416642E8B19A}</a:tableStyleId>
              </a:tblPr>
              <a:tblGrid>
                <a:gridCol w="2148850"/>
                <a:gridCol w="2148850"/>
                <a:gridCol w="2148850"/>
                <a:gridCol w="2148850"/>
              </a:tblGrid>
              <a:tr h="6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Case 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6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Date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2013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No. interviews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No. workshop notes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None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Additional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materials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/>
          <p:nvPr/>
        </p:nvSpPr>
        <p:spPr>
          <a:xfrm>
            <a:off x="6302438" y="4775644"/>
            <a:ext cx="2220600" cy="269400"/>
          </a:xfrm>
          <a:prstGeom prst="rect">
            <a:avLst/>
          </a:prstGeom>
          <a:solidFill>
            <a:srgbClr val="FFFFFF"/>
          </a:solidFill>
          <a:ln cap="flat" cmpd="sng" w="36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925" lIns="82925" spcFirstLastPara="1" rIns="82925" wrap="square" tIns="82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38" name="Google Shape;238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Additional Materials</a:t>
            </a:r>
            <a:endParaRPr/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materials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Calendars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Meeting minutes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Workshop notes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Admin.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Progress reports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Written reports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Archival materials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Public records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Physical artifacts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 of art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Tools and devices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Furniture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/>
        </p:nvSpPr>
        <p:spPr>
          <a:xfrm>
            <a:off x="163276" y="734714"/>
            <a:ext cx="88170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1" marL="7874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248" name="Google Shape;248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 depends on the type (and hence purpose) of the case studies</a:t>
            </a:r>
            <a:endParaRPr/>
          </a:p>
          <a:p>
            <a:pPr indent="-330200" lvl="0" marL="4191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Descriptive case study research</a:t>
            </a:r>
            <a:endParaRPr/>
          </a:p>
          <a:p>
            <a:pPr indent="-292100" lvl="1" marL="8255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Little to no analysis</a:t>
            </a:r>
            <a:endParaRPr/>
          </a:p>
          <a:p>
            <a:pPr indent="-330200" lvl="0" marL="4191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Exploratory case study research</a:t>
            </a:r>
            <a:endParaRPr/>
          </a:p>
          <a:p>
            <a:pPr indent="-292100" lvl="1" marL="8255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QDA for theory building</a:t>
            </a:r>
            <a:endParaRPr/>
          </a:p>
          <a:p>
            <a:pPr indent="-330200" lvl="0" marL="4191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Explanatory case study research</a:t>
            </a:r>
            <a:endParaRPr/>
          </a:p>
          <a:p>
            <a:pPr indent="-292100" lvl="1" marL="8255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QDA linking data to propositions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" y="-1"/>
            <a:ext cx="9143433" cy="7094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Explanatory Case Studies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64" name="Google Shape;264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Explanatory Case Study Research</a:t>
            </a:r>
            <a:endParaRPr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 to identify causal connections between constructs</a:t>
            </a:r>
            <a:endParaRPr/>
          </a:p>
          <a:p>
            <a:pPr indent="-330200" lvl="0" marL="4191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qualitatively evaluating propositions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Thereby </a:t>
            </a:r>
            <a:r>
              <a:rPr lang="en"/>
              <a:t>evaluates</a:t>
            </a:r>
            <a:r>
              <a:rPr lang="en"/>
              <a:t> proposed theory</a:t>
            </a:r>
            <a:endParaRPr/>
          </a:p>
          <a:p>
            <a:pPr indent="-330200" lvl="0" marL="4191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poking holes into propositions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Guidelines for Explanatory Case Study Research (Yin, 2009) </a:t>
            </a:r>
            <a:endParaRPr/>
          </a:p>
        </p:txBody>
      </p:sp>
      <p:sp>
        <p:nvSpPr>
          <p:cNvPr id="271" name="Google Shape;271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data t</a:t>
            </a:r>
            <a:r>
              <a:rPr lang="en"/>
              <a:t>riangulation (evidence from multiple types of sources)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method triangulation (different methods on same data)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Emphasize rival theories and explanations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914400"/>
            <a:ext cx="8595360" cy="35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3"/>
          <p:cNvSpPr/>
          <p:nvPr/>
        </p:nvSpPr>
        <p:spPr>
          <a:xfrm>
            <a:off x="5568636" y="1428690"/>
            <a:ext cx="2469000" cy="2469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r>
              <a:rPr lang="en"/>
              <a:t> Research in a Larger Research Design</a:t>
            </a:r>
            <a:endParaRPr/>
          </a:p>
        </p:txBody>
      </p:sp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Exploration vs. Explanation Revisited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case study research prefers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Theoretical replication </a:t>
            </a:r>
            <a:r>
              <a:rPr b="1" lang="en"/>
              <a:t>to go broad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Explanatory</a:t>
            </a:r>
            <a:r>
              <a:rPr lang="en"/>
              <a:t> case study research prefers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Literal replication </a:t>
            </a:r>
            <a:r>
              <a:rPr b="1" lang="en"/>
              <a:t>to go deep</a:t>
            </a:r>
            <a:endParaRPr b="1"/>
          </a:p>
        </p:txBody>
      </p: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Explanatory Case Study Research</a:t>
            </a:r>
            <a:endParaRPr/>
          </a:p>
        </p:txBody>
      </p:sp>
      <p:sp>
        <p:nvSpPr>
          <p:cNvPr id="293" name="Google Shape;293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94" name="Google Shape;294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 source platform development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inner source more effective for building platforms? If so, why?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Current, ongoing research by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Multiple-Case Design With Replication Logic</a:t>
            </a:r>
            <a:endParaRPr/>
          </a:p>
        </p:txBody>
      </p:sp>
      <p:sp>
        <p:nvSpPr>
          <p:cNvPr id="301" name="Google Shape;301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302" name="Google Shape;302;p4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{E8D32E45-A7EC-4025-BCF0-4CC564FF6A36}</a:tableStyleId>
              </a:tblPr>
              <a:tblGrid>
                <a:gridCol w="1284625"/>
                <a:gridCol w="1284625"/>
                <a:gridCol w="2008700"/>
                <a:gridCol w="2008700"/>
                <a:gridCol w="2008700"/>
              </a:tblGrid>
              <a:tr h="640075">
                <a:tc gridSpan="2"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Inner source approach (IS)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</a:tr>
              <a:tr h="64007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analysis 1, 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case 1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analysis 1, 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case 2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analysis 1, 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case 3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40075">
                <a:tc row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Dedicated organization approach (DO)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anal- ysis 2, case 1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[1] Direct comparison of IS and DO from case 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[a] Cross-case 1 + 2 IS analysis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[b] Cross-case 1 + 3 IS analysis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anal- ysis 2, case 2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[x] Cross-case 1 + 2 DO analysis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[2] Direct comparison,</a:t>
                      </a:r>
                      <a:br>
                        <a:rPr lang="en" sz="1200"/>
                      </a:br>
                      <a:r>
                        <a:rPr lang="en" sz="1200"/>
                        <a:t>[i] Replication of case 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planned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Unit of anal- ysis 2, case 3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[y] Cross-case 1 + 3 DO analysis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Not planned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[3] Direct comparison, [ii] replication of case 1 + 2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Direct comparison = [1], [2], [3]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Cross-case unit-of-analysis comparisons = [a], [b], and [x], [y]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Replication of case analyses = [i], [ii]</a:t>
                      </a:r>
                      <a:endParaRPr sz="1200"/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Quality Assurance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Criteria According to Yin (2009)</a:t>
            </a:r>
            <a:endParaRPr/>
          </a:p>
        </p:txBody>
      </p:sp>
      <p:sp>
        <p:nvSpPr>
          <p:cNvPr id="313" name="Google Shape;313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Internal validity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“Do pattern matching”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“Do explanation building”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“Address rival explanations”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“Use logic models”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External validity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Construct validity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Reliability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…</a:t>
            </a:r>
            <a:endParaRPr/>
          </a:p>
        </p:txBody>
      </p:sp>
      <p:sp>
        <p:nvSpPr>
          <p:cNvPr id="314" name="Google Shape;314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15" name="Google Shape;315;p48"/>
          <p:cNvSpPr txBox="1"/>
          <p:nvPr/>
        </p:nvSpPr>
        <p:spPr>
          <a:xfrm>
            <a:off x="4114800" y="1188720"/>
            <a:ext cx="4389000" cy="2194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 am confused. Maybe this applies to case study research that is trying to pose as theory validation research (hypothesis testing). However, this will never meet the rigor of controlled experiments; it is better to use the quality criteria of naturalistic inquiries. [DR]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Criteria Following Runeson et al. (2012)</a:t>
            </a:r>
            <a:endParaRPr/>
          </a:p>
        </p:txBody>
      </p:sp>
      <p:sp>
        <p:nvSpPr>
          <p:cNvPr id="321" name="Google Shape;321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Methodologies in Comparison</a:t>
            </a:r>
            <a:endParaRPr/>
          </a:p>
        </p:txBody>
      </p:sp>
      <p:sp>
        <p:nvSpPr>
          <p:cNvPr id="328" name="Google Shape;328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29" name="Google Shape;32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35" name="Google Shape;335;p5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41" name="Google Shape;341;p5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42" name="Google Shape;342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
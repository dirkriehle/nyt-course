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ACFEF3-940F-4870-AEDF-2132A78267BC}">
  <a:tblStyle styleId="{45ACFEF3-940F-4870-AEDF-2132A78267B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0D8FF724-58BB-4564-8539-21B0DD37CD4F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c37050ba01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c37050ba01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db5e7c5724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db5e7c5724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177d6b95a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177d6b95a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177d6b95ab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177d6b95ab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177d6b95a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177d6b95a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177d6b95ab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177d6b95ab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2177d6b95ab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2177d6b95ab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c75e44776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c75e44776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c75e44776e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c75e44776e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c75e44776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c75e44776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c7bc9dfd4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c7bc9dfd4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177d6b95ab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177d6b95ab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177d6b95ab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177d6b95ab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c79edfec76_13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c79edfec76_13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177d6b95ab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177d6b95ab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177d6b95ab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177d6b95ab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177d6b95ab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177d6b95ab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177d6b95ab_0_1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2177d6b95ab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177d6b95ab_0_1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2177d6b95ab_0_1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177d6b95ab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2177d6b95ab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c79edfec76_13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2c79edfec76_13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2c7a85386eb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2c7a85386eb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177d6b95ab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177d6b95ab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1a4400568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1a4400568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7a85386eb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7a85386eb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c7a85386e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c7a85386e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13348cfacfd_0_176:notes"/>
          <p:cNvSpPr txBox="1"/>
          <p:nvPr>
            <p:ph idx="1" type="body"/>
          </p:nvPr>
        </p:nvSpPr>
        <p:spPr>
          <a:xfrm>
            <a:off x="489878" y="4618268"/>
            <a:ext cx="5878500" cy="41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13348cfacfd_0_176:notes"/>
          <p:cNvSpPr/>
          <p:nvPr>
            <p:ph idx="2" type="sldImg"/>
          </p:nvPr>
        </p:nvSpPr>
        <p:spPr>
          <a:xfrm>
            <a:off x="489775" y="307885"/>
            <a:ext cx="5878800" cy="4156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2c7a85386eb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2c7a85386eb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c7a85386eb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2c7a85386eb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c7a85386eb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2c7a85386eb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13348cfacfd_0_214:notes"/>
          <p:cNvSpPr txBox="1"/>
          <p:nvPr>
            <p:ph idx="1" type="body"/>
          </p:nvPr>
        </p:nvSpPr>
        <p:spPr>
          <a:xfrm>
            <a:off x="489878" y="4618268"/>
            <a:ext cx="5878500" cy="41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g13348cfacfd_0_214:notes"/>
          <p:cNvSpPr/>
          <p:nvPr>
            <p:ph idx="2" type="sldImg"/>
          </p:nvPr>
        </p:nvSpPr>
        <p:spPr>
          <a:xfrm>
            <a:off x="489775" y="307885"/>
            <a:ext cx="5878800" cy="4156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13348cfacfd_0_237:notes"/>
          <p:cNvSpPr txBox="1"/>
          <p:nvPr>
            <p:ph idx="1" type="body"/>
          </p:nvPr>
        </p:nvSpPr>
        <p:spPr>
          <a:xfrm>
            <a:off x="489878" y="4618268"/>
            <a:ext cx="5878500" cy="41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g13348cfacfd_0_237:notes"/>
          <p:cNvSpPr/>
          <p:nvPr>
            <p:ph idx="2" type="sldImg"/>
          </p:nvPr>
        </p:nvSpPr>
        <p:spPr>
          <a:xfrm>
            <a:off x="489775" y="307885"/>
            <a:ext cx="5878800" cy="4156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3348cfacfd_0_242:notes"/>
          <p:cNvSpPr txBox="1"/>
          <p:nvPr>
            <p:ph idx="1" type="body"/>
          </p:nvPr>
        </p:nvSpPr>
        <p:spPr>
          <a:xfrm>
            <a:off x="489878" y="4618268"/>
            <a:ext cx="5878500" cy="41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g13348cfacfd_0_242:notes"/>
          <p:cNvSpPr/>
          <p:nvPr>
            <p:ph idx="2" type="sldImg"/>
          </p:nvPr>
        </p:nvSpPr>
        <p:spPr>
          <a:xfrm>
            <a:off x="489775" y="307885"/>
            <a:ext cx="5878800" cy="4156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2c7a85386eb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2c7a85386eb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13348cfacfd_0_271:notes"/>
          <p:cNvSpPr txBox="1"/>
          <p:nvPr>
            <p:ph idx="1" type="body"/>
          </p:nvPr>
        </p:nvSpPr>
        <p:spPr>
          <a:xfrm>
            <a:off x="489878" y="4618268"/>
            <a:ext cx="5878500" cy="41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g13348cfacfd_0_271:notes"/>
          <p:cNvSpPr/>
          <p:nvPr>
            <p:ph idx="2" type="sldImg"/>
          </p:nvPr>
        </p:nvSpPr>
        <p:spPr>
          <a:xfrm>
            <a:off x="489775" y="307885"/>
            <a:ext cx="5878800" cy="4156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2c7bc9dfd45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2c7bc9dfd4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2177d6b95ab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2177d6b95ab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21983758b4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21983758b4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c79edfec76_13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c79edfec76_13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177d6b95ab_0_1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177d6b95ab_0_1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c79edfec76_13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c79edfec76_13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c79edfec76_13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2c79edfec76_13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c79edfec76_13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2c79edfec76_13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c7e190d29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c7e190d29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871556be62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3871556be62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871556be62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3871556be62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Research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C05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Content and Structure</a:t>
            </a:r>
            <a:endParaRPr/>
          </a:p>
        </p:txBody>
      </p:sp>
      <p:sp>
        <p:nvSpPr>
          <p:cNvPr id="58" name="Google Shape;58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Overview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science?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Scientific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data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Theory building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AutoNum type="arabicPeriod" startAt="4"/>
            </a:pPr>
            <a:r>
              <a:rPr b="1" lang="en">
                <a:solidFill>
                  <a:schemeClr val="accent3"/>
                </a:solidFill>
              </a:rPr>
              <a:t>Case study research</a:t>
            </a:r>
            <a:endParaRPr b="1">
              <a:solidFill>
                <a:schemeClr val="accent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validation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Theory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Survey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Controlled experiments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Comprehensive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2"/>
            </a:pPr>
            <a:r>
              <a:rPr lang="en"/>
              <a:t>Design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Academia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writing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publishing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6" name="Google Shape;66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Case study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</a:t>
            </a:r>
            <a:r>
              <a:rPr lang="en"/>
              <a:t>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execution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Case preparation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Data collection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Evaluation case studies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Case Study Research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</a:t>
            </a:r>
            <a:r>
              <a:rPr lang="en"/>
              <a:t>Research</a:t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79" name="Google Shape;79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case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contemporary phenomenon in its real-world context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case study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</a:t>
            </a:r>
            <a:r>
              <a:rPr lang="en"/>
              <a:t>empirical in-depth investigation of a case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Case study research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Theory building using case studies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Case study research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even if phenomenon and context are intertwined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Uses multiple sources of evidence in order to triangulate results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Benefits from the prior development of theoretical propositions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sweet spot are contemporary phenomena, but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Historical cases are possible</a:t>
            </a:r>
            <a:endParaRPr/>
          </a:p>
        </p:txBody>
      </p:sp>
      <p:sp>
        <p:nvSpPr>
          <p:cNvPr id="85" name="Google Shape;85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Case Study Research</a:t>
            </a:r>
            <a:endParaRPr/>
          </a:p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Case Study Research Process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research is linear yet iterative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Define research question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Create research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Iterate over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Select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Prepare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Collect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Report findings</a:t>
            </a:r>
            <a:endParaRPr b="1"/>
          </a:p>
        </p:txBody>
      </p:sp>
      <p:pic>
        <p:nvPicPr>
          <p:cNvPr id="94" name="Google Shape;9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3275" y="914400"/>
            <a:ext cx="2386361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Research Methodologies</a:t>
            </a:r>
            <a:endParaRPr/>
          </a:p>
        </p:txBody>
      </p:sp>
      <p:sp>
        <p:nvSpPr>
          <p:cNvPr id="100" name="Google Shape;100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case study research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Yin (2009)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Case study research in software engineering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Runeson et al. (2012)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Case Study Process (Yin, 2009)</a:t>
            </a:r>
            <a:endParaRPr/>
          </a:p>
        </p:txBody>
      </p:sp>
      <p:sp>
        <p:nvSpPr>
          <p:cNvPr id="107" name="Google Shape;107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08" name="Google Shape;10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23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NYT (2024) vs. Yin (2009)</a:t>
            </a:r>
            <a:endParaRPr/>
          </a:p>
        </p:txBody>
      </p:sp>
      <p:sp>
        <p:nvSpPr>
          <p:cNvPr id="114" name="Google Shape;114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115" name="Google Shape;115;p17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{45ACFEF3-940F-4870-AEDF-2132A78267BC}</a:tableStyleId>
              </a:tblPr>
              <a:tblGrid>
                <a:gridCol w="4297675"/>
                <a:gridCol w="4297675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NYT (2024)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Yin (2009)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lang="en"/>
                        <a:t>Define question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lang="en"/>
                        <a:t>Plan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2.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b="1" lang="en"/>
                        <a:t>Create design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2.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b="1" lang="en"/>
                        <a:t>Design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3a.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b="1" lang="en"/>
                        <a:t>Select case(s)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2.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b="1" lang="en"/>
                        <a:t>Design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3b.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b="1" lang="en"/>
                        <a:t>Prepare case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b="1" lang="en"/>
                        <a:t>Prepare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3c.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b="1" lang="en"/>
                        <a:t>Collect data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4.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b="1" lang="en"/>
                        <a:t>Collect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lang="en"/>
                        <a:t>Analyze data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lang="en"/>
                        <a:t>Analyze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lang="en"/>
                        <a:t>Report findings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6.</a:t>
                      </a:r>
                      <a:r>
                        <a:rPr b="1" lang="en">
                          <a:solidFill>
                            <a:schemeClr val="dk1"/>
                          </a:solidFill>
                        </a:rPr>
                        <a:t>	</a:t>
                      </a:r>
                      <a:r>
                        <a:rPr lang="en"/>
                        <a:t>Share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Case Study Research (Yin, 2009)</a:t>
            </a:r>
            <a:endParaRPr/>
          </a:p>
        </p:txBody>
      </p:sp>
      <p:sp>
        <p:nvSpPr>
          <p:cNvPr id="121" name="Google Shape;121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</a:t>
            </a:r>
            <a:r>
              <a:rPr b="1" lang="en"/>
              <a:t>escriptive case study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Collects, analyses, and presents cases for documentation purposes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Exploratory case study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Investigates cases for theory building and hypothesis generation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Explanatory case study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Tries to establish causal relationships between constructs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Research Design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Research Design</a:t>
            </a:r>
            <a:endParaRPr/>
          </a:p>
        </p:txBody>
      </p:sp>
      <p:sp>
        <p:nvSpPr>
          <p:cNvPr id="133" name="Google Shape;133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of a case study research design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research questions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propositions, if any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unit(s) of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data-to-proposition linking logic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interpretation criteria</a:t>
            </a:r>
            <a:endParaRPr/>
          </a:p>
        </p:txBody>
      </p: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 Exploratory Research Question</a:t>
            </a:r>
            <a:endParaRPr/>
          </a:p>
        </p:txBody>
      </p:sp>
      <p:sp>
        <p:nvSpPr>
          <p:cNvPr id="140" name="Google Shape;140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1" name="Google Shape;141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in Product-Line Engineering (PLE)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are current problems in product line engineering and why?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Purpose here was to build an early theory </a:t>
            </a:r>
            <a:endParaRPr/>
          </a:p>
        </p:txBody>
      </p:sp>
      <p:sp>
        <p:nvSpPr>
          <p:cNvPr id="142" name="Google Shape;142;p2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Riehle et al. (2016): Inner source in platform development.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Product-Line Engineering</a:t>
            </a:r>
            <a:endParaRPr/>
          </a:p>
        </p:txBody>
      </p:sp>
      <p:sp>
        <p:nvSpPr>
          <p:cNvPr id="148" name="Google Shape;148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49" name="Google Shape;14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unit of analysis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construct being analyzed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Units of analysis can be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Tangible (e.g. people, products)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Intangible (e.g. theoretical constructs like group dynamics)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the simplest case (no pun intended), the case is the unit of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Unit of Analysis</a:t>
            </a:r>
            <a:endParaRPr/>
          </a:p>
        </p:txBody>
      </p:sp>
      <p:sp>
        <p:nvSpPr>
          <p:cNvPr id="156" name="Google Shape;156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(Potential) Units of Analysis</a:t>
            </a:r>
            <a:endParaRPr/>
          </a:p>
        </p:txBody>
      </p:sp>
      <p:sp>
        <p:nvSpPr>
          <p:cNvPr id="162" name="Google Shape;162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63" name="Google Shape;163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Problems in product-line engineering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overall business unit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product organizational units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platform organizational unit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business unit leader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Engineering managers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Architects / developers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Dimensions of Case Study Research Design 2 / 2</a:t>
            </a:r>
            <a:endParaRPr/>
          </a:p>
        </p:txBody>
      </p:sp>
      <p:sp>
        <p:nvSpPr>
          <p:cNvPr id="169" name="Google Shape;169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70" name="Google Shape;170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Single-Case Case Study Research</a:t>
            </a:r>
            <a:endParaRPr/>
          </a:p>
        </p:txBody>
      </p:sp>
      <p:sp>
        <p:nvSpPr>
          <p:cNvPr id="176" name="Google Shape;176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7" name="Google Shape;177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single-case case study research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</a:t>
            </a:r>
            <a:r>
              <a:rPr b="1" lang="en"/>
              <a:t> typical (representative)</a:t>
            </a:r>
            <a:r>
              <a:rPr lang="en"/>
              <a:t> case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Special cases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</a:t>
            </a:r>
            <a:r>
              <a:rPr b="1" lang="en"/>
              <a:t> critical </a:t>
            </a:r>
            <a:r>
              <a:rPr lang="en"/>
              <a:t>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</a:t>
            </a:r>
            <a:r>
              <a:rPr b="1" lang="en"/>
              <a:t> unique / extreme</a:t>
            </a:r>
            <a:r>
              <a:rPr lang="en"/>
              <a:t> (rare and/or particularly interesting)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</a:t>
            </a:r>
            <a:r>
              <a:rPr b="1" lang="en"/>
              <a:t>revelatory </a:t>
            </a:r>
            <a:r>
              <a:rPr lang="en"/>
              <a:t>case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</a:t>
            </a:r>
            <a:r>
              <a:rPr b="1" lang="en"/>
              <a:t>longitudinal </a:t>
            </a:r>
            <a:r>
              <a:rPr lang="en"/>
              <a:t>case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Multiple-Case Case Study Research</a:t>
            </a:r>
            <a:endParaRPr/>
          </a:p>
        </p:txBody>
      </p:sp>
      <p:sp>
        <p:nvSpPr>
          <p:cNvPr id="183" name="Google Shape;183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replication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Theoretical replication to contrast and extend findings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Literal replication to strengthen findings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Multiple-Case Case Study Research</a:t>
            </a:r>
            <a:endParaRPr/>
          </a:p>
        </p:txBody>
      </p:sp>
      <p:sp>
        <p:nvSpPr>
          <p:cNvPr id="190" name="Google Shape;190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191" name="Google Shape;191;p28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{45ACFEF3-940F-4870-AEDF-2132A78267BC}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Case 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Case 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Case 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Domain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Business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Healthcare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Telco carrier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Age of platform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10 years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10 years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10 years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Number of developers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500 developers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500 developers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500 developers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Distributed (yes/no)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 (same campus)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 (same metro area)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 (same campus)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Developer population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Homogeneous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Homogenous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Homogenous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Organization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Profit / cost center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Profit / cost center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Profit / cost center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Age of company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20 years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20 years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20 years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Size of company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1000 developers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10000 developers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&gt; 10000 developers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023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Case sponsor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Business owner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Platform organization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Internal consulting group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Process Plan</a:t>
            </a:r>
            <a:endParaRPr/>
          </a:p>
        </p:txBody>
      </p:sp>
      <p:sp>
        <p:nvSpPr>
          <p:cNvPr id="197" name="Google Shape;197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1 → case 2 → case 3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Incremental build-out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r>
              <a:rPr lang="en"/>
              <a:t>. Research Execution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 Research Execution</a:t>
            </a:r>
            <a:endParaRPr/>
          </a:p>
        </p:txBody>
      </p:sp>
      <p:sp>
        <p:nvSpPr>
          <p:cNvPr id="209" name="Google Shape;209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Iterate over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Select case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Prepare case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Collect data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Analyze data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11" name="Google Shape;211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83275" y="914400"/>
            <a:ext cx="2386361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Selection</a:t>
            </a:r>
            <a:endParaRPr/>
          </a:p>
        </p:txBody>
      </p:sp>
      <p:sp>
        <p:nvSpPr>
          <p:cNvPr id="217" name="Google Shape;217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</a:t>
            </a:r>
            <a:r>
              <a:rPr lang="en"/>
              <a:t> case from process plan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long as saturation is not reached 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cases are left</a:t>
            </a:r>
            <a:endParaRPr/>
          </a:p>
        </p:txBody>
      </p:sp>
      <p:sp>
        <p:nvSpPr>
          <p:cNvPr id="218" name="Google Shape;218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case selection </a:t>
            </a:r>
            <a:endParaRPr/>
          </a:p>
        </p:txBody>
      </p:sp>
      <p:sp>
        <p:nvSpPr>
          <p:cNvPr id="224" name="Google Shape;224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Problems in product-line engineering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1 → case 2 → case 3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31" name="Google Shape;231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Preparation</a:t>
            </a:r>
            <a:endParaRPr/>
          </a:p>
        </p:txBody>
      </p:sp>
      <p:sp>
        <p:nvSpPr>
          <p:cNvPr id="232" name="Google Shape;232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Prepare as laid out in research protocol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Inform participants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Prepare for data collection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Build case database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Refine as necessary given specific case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Case Preparation</a:t>
            </a:r>
            <a:endParaRPr/>
          </a:p>
        </p:txBody>
      </p:sp>
      <p:sp>
        <p:nvSpPr>
          <p:cNvPr id="238" name="Google Shape;238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prepared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Site visits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Interview guides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Documents gathering</a:t>
            </a:r>
            <a:endParaRPr/>
          </a:p>
        </p:txBody>
      </p:sp>
      <p:sp>
        <p:nvSpPr>
          <p:cNvPr id="239" name="Google Shape;239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Collection</a:t>
            </a:r>
            <a:endParaRPr/>
          </a:p>
        </p:txBody>
      </p:sp>
      <p:sp>
        <p:nvSpPr>
          <p:cNvPr id="245" name="Google Shape;245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 data collection as planned in protocol, for example,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Direct observation (“shadowing”)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 interviews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Additional</a:t>
            </a:r>
            <a:r>
              <a:rPr lang="en"/>
              <a:t> materials gathering</a:t>
            </a:r>
            <a:endParaRPr/>
          </a:p>
        </p:txBody>
      </p:sp>
      <p:sp>
        <p:nvSpPr>
          <p:cNvPr id="246" name="Google Shape;246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Data Collection</a:t>
            </a:r>
            <a:endParaRPr/>
          </a:p>
        </p:txBody>
      </p:sp>
      <p:sp>
        <p:nvSpPr>
          <p:cNvPr id="252" name="Google Shape;252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53" name="Google Shape;253;p37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{45ACFEF3-940F-4870-AEDF-2132A78267BC}</a:tableStyleId>
              </a:tblPr>
              <a:tblGrid>
                <a:gridCol w="2148850"/>
                <a:gridCol w="2148850"/>
                <a:gridCol w="2148850"/>
                <a:gridCol w="2148850"/>
              </a:tblGrid>
              <a:tr h="658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Case 1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Case 2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Case 3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658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Date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2012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2013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2013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No. interviews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58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No. workshop notes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None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Additional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materials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8"/>
          <p:cNvSpPr/>
          <p:nvPr/>
        </p:nvSpPr>
        <p:spPr>
          <a:xfrm>
            <a:off x="6302438" y="4775644"/>
            <a:ext cx="2220600" cy="269400"/>
          </a:xfrm>
          <a:prstGeom prst="rect">
            <a:avLst/>
          </a:prstGeom>
          <a:solidFill>
            <a:srgbClr val="FFFFFF"/>
          </a:solidFill>
          <a:ln cap="flat" cmpd="sng" w="360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2925" lIns="82925" spcFirstLastPara="1" rIns="82925" wrap="square" tIns="82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60" name="Google Shape;260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of Additional Materials</a:t>
            </a:r>
            <a:endParaRPr/>
          </a:p>
        </p:txBody>
      </p:sp>
      <p:sp>
        <p:nvSpPr>
          <p:cNvPr id="261" name="Google Shape;261;p38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materials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Letters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Calendars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Meeting minutes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Workshop notes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Admin. documents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Progress reports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Written reports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38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Archival materials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Public records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Physical artifacts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of art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Tools and devices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Furniture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9"/>
          <p:cNvSpPr txBox="1"/>
          <p:nvPr/>
        </p:nvSpPr>
        <p:spPr>
          <a:xfrm>
            <a:off x="163276" y="734714"/>
            <a:ext cx="8817000" cy="3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4000" lvl="1" marL="787400" marR="0" rtl="0" algn="l"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Noto Sans Symbols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69" name="Google Shape;269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Analysis</a:t>
            </a:r>
            <a:endParaRPr/>
          </a:p>
        </p:txBody>
      </p:sp>
      <p:sp>
        <p:nvSpPr>
          <p:cNvPr id="270" name="Google Shape;270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analysis depends on the type (and hence purpose) of the case studies</a:t>
            </a:r>
            <a:endParaRPr/>
          </a:p>
          <a:p>
            <a:pPr indent="-330200" lvl="0" marL="4191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Descriptive case study research</a:t>
            </a:r>
            <a:endParaRPr b="1"/>
          </a:p>
          <a:p>
            <a:pPr indent="-292100" lvl="1" marL="8255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Descriptive analysis</a:t>
            </a:r>
            <a:endParaRPr/>
          </a:p>
          <a:p>
            <a:pPr indent="-330200" lvl="0" marL="4191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Exploratory case study research</a:t>
            </a:r>
            <a:endParaRPr b="1"/>
          </a:p>
          <a:p>
            <a:pPr indent="-292100" lvl="1" marL="8255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QDA for theory building</a:t>
            </a:r>
            <a:endParaRPr/>
          </a:p>
          <a:p>
            <a:pPr indent="-330200" lvl="0" marL="4191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Explanatory case study research</a:t>
            </a:r>
            <a:endParaRPr/>
          </a:p>
          <a:p>
            <a:pPr indent="-292100" lvl="1" marL="8255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QDA linking data to propositions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9" y="-1"/>
            <a:ext cx="9143433" cy="70941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Explanatory Case Studies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86" name="Google Shape;286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Explanatory Case Study Research</a:t>
            </a:r>
            <a:endParaRPr/>
          </a:p>
        </p:txBody>
      </p:sp>
      <p:sp>
        <p:nvSpPr>
          <p:cNvPr id="287" name="Google Shape;287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Tries to identify causal connections between constructs</a:t>
            </a:r>
            <a:endParaRPr/>
          </a:p>
          <a:p>
            <a:pPr indent="-330200" lvl="0" marL="4191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qualitatively evaluating propositions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Thereby </a:t>
            </a:r>
            <a:r>
              <a:rPr lang="en"/>
              <a:t>evaluates</a:t>
            </a:r>
            <a:r>
              <a:rPr lang="en"/>
              <a:t> proposed theory</a:t>
            </a:r>
            <a:endParaRPr/>
          </a:p>
          <a:p>
            <a:pPr indent="-330200" lvl="0" marL="4191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poking holes into propositions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Guidelines for Explanatory Case Study Research (Yin, 2009) </a:t>
            </a:r>
            <a:endParaRPr/>
          </a:p>
        </p:txBody>
      </p:sp>
      <p:sp>
        <p:nvSpPr>
          <p:cNvPr id="293" name="Google Shape;293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data t</a:t>
            </a:r>
            <a:r>
              <a:rPr lang="en"/>
              <a:t>riangulation (evidence from multiple types of sources)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Use method triangulation (different methods on same data)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Emphasize rival theories and explanations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44"/>
          <p:cNvSpPr/>
          <p:nvPr/>
        </p:nvSpPr>
        <p:spPr>
          <a:xfrm>
            <a:off x="5622424" y="1554480"/>
            <a:ext cx="2469000" cy="2469000"/>
          </a:xfrm>
          <a:prstGeom prst="ellipse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Case Study</a:t>
            </a:r>
            <a:r>
              <a:rPr lang="en"/>
              <a:t> Research in a Larger Research Design</a:t>
            </a:r>
            <a:endParaRPr/>
          </a:p>
        </p:txBody>
      </p:sp>
      <p:sp>
        <p:nvSpPr>
          <p:cNvPr id="302" name="Google Shape;302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Exploration vs. Explanation Revisited</a:t>
            </a:r>
            <a:endParaRPr/>
          </a:p>
        </p:txBody>
      </p:sp>
      <p:sp>
        <p:nvSpPr>
          <p:cNvPr id="308" name="Google Shape;308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Exploratory case study research prefers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Theoretical replication </a:t>
            </a:r>
            <a:r>
              <a:rPr b="1" lang="en"/>
              <a:t>to go broad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Explanatory</a:t>
            </a:r>
            <a:r>
              <a:rPr lang="en"/>
              <a:t> case study research prefers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Literal replication </a:t>
            </a:r>
            <a:r>
              <a:rPr b="1" lang="en"/>
              <a:t>to go deep</a:t>
            </a:r>
            <a:endParaRPr b="1"/>
          </a:p>
        </p:txBody>
      </p:sp>
      <p:sp>
        <p:nvSpPr>
          <p:cNvPr id="309" name="Google Shape;309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Explanatory Case Study Research</a:t>
            </a:r>
            <a:endParaRPr/>
          </a:p>
        </p:txBody>
      </p:sp>
      <p:sp>
        <p:nvSpPr>
          <p:cNvPr id="315" name="Google Shape;315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16" name="Google Shape;316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Inner source platform development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inner source more effective for building platforms? If so, why?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4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Current, ongoing research by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Multiple-Case Design With Replication Logic</a:t>
            </a:r>
            <a:endParaRPr/>
          </a:p>
        </p:txBody>
      </p:sp>
      <p:sp>
        <p:nvSpPr>
          <p:cNvPr id="323" name="Google Shape;323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324" name="Google Shape;324;p47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{0D8FF724-58BB-4564-8539-21B0DD37CD4F}</a:tableStyleId>
              </a:tblPr>
              <a:tblGrid>
                <a:gridCol w="1284625"/>
                <a:gridCol w="1284625"/>
                <a:gridCol w="2008700"/>
                <a:gridCol w="2008700"/>
                <a:gridCol w="2008700"/>
              </a:tblGrid>
              <a:tr h="640075">
                <a:tc gridSpan="2"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rowSpan="2" hMerge="1"/>
                <a:tc gridSpan="3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800">
                          <a:solidFill>
                            <a:schemeClr val="lt1"/>
                          </a:solidFill>
                        </a:rPr>
                        <a:t>Inner source approach (IS)</a:t>
                      </a:r>
                      <a:endParaRPr b="1" sz="18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 hMerge="1"/>
                <a:tc hMerge="1"/>
              </a:tr>
              <a:tr h="640075">
                <a:tc gridSpan="2" vMerge="1"/>
                <a:tc hMerge="1"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Unit of analysis 1, 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case 1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Unit of analysis 1, 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case 2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Unit of analysis 1, 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case 3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640075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Dedicated organization approach (DO)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Unit of anal- ysis 2, case 1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[1] Direct comparison of IS and DO from case 1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[a] Cross-case 1 + 2 IS analysis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[b] Cross-case 1 + 3 IS analysis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Unit of anal- ysis 2, case 2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[x] Cross-case 1 + 2 DO analysis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[2] Direct comparison,</a:t>
                      </a:r>
                      <a:br>
                        <a:rPr lang="en" sz="1200"/>
                      </a:br>
                      <a:r>
                        <a:rPr lang="en" sz="1200"/>
                        <a:t>[i] Replication of case 1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Not planned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200">
                          <a:solidFill>
                            <a:schemeClr val="lt1"/>
                          </a:solidFill>
                        </a:rPr>
                        <a:t>Unit of anal- ysis 2, case 3</a:t>
                      </a:r>
                      <a:endParaRPr b="1"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[y] Cross-case 1 + 3 DO analysis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Not planned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[3] Direct comparison, [ii] replication of case 1 + 2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gridSpan="5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Direct comparison = [1], [2], [3]</a:t>
                      </a:r>
                      <a:endParaRPr sz="12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Cross-case unit-of-analysis comparisons = [a], [b], and [x], [y]</a:t>
                      </a:r>
                      <a:endParaRPr sz="12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Replication of case analyses = [i], [ii]</a:t>
                      </a:r>
                      <a:endParaRPr sz="1200"/>
                    </a:p>
                  </a:txBody>
                  <a:tcPr marT="0" marB="0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Quality Assurance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Criteria According to Yin (2009)</a:t>
            </a:r>
            <a:endParaRPr/>
          </a:p>
        </p:txBody>
      </p:sp>
      <p:sp>
        <p:nvSpPr>
          <p:cNvPr id="335" name="Google Shape;335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Internal validity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“Do pattern matching”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“Do explanation building”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“Address rival explanations”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“Use logic models”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External validity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Construct validity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Reliability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…</a:t>
            </a:r>
            <a:endParaRPr/>
          </a:p>
        </p:txBody>
      </p:sp>
      <p:sp>
        <p:nvSpPr>
          <p:cNvPr id="336" name="Google Shape;336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37" name="Google Shape;337;p49"/>
          <p:cNvSpPr txBox="1"/>
          <p:nvPr/>
        </p:nvSpPr>
        <p:spPr>
          <a:xfrm>
            <a:off x="4114800" y="1188720"/>
            <a:ext cx="4389000" cy="2194500"/>
          </a:xfrm>
          <a:prstGeom prst="rect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I am confused. Maybe this applies to case study research that is trying to pose as theory validation research (hypothesis testing). However, this will never meet the rigor of controlled experiments; it is better to use the quality criteria of naturalistic inquiries. [DR] 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Criteria Following Runeson et al. (2012)</a:t>
            </a:r>
            <a:endParaRPr/>
          </a:p>
        </p:txBody>
      </p:sp>
      <p:sp>
        <p:nvSpPr>
          <p:cNvPr id="343" name="Google Shape;343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Methodologies in Comparison</a:t>
            </a:r>
            <a:endParaRPr/>
          </a:p>
        </p:txBody>
      </p:sp>
      <p:sp>
        <p:nvSpPr>
          <p:cNvPr id="350" name="Google Shape;350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51" name="Google Shape;351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57" name="Google Shape;357;p5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63" name="Google Shape;363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64" name="Google Shape;364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
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g2c22089a40d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 name="Google Shape;35;g2c22089a40d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10b1741a8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 name="Google Shape;41;g10b1741a8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f9bad1e8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 name="Google Shape;48;gf9bad1e8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10b1741a8d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10b1741a8d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0b1741a8d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0b1741a8d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db5ccdfa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db5ccdfa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21c7c35f8a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21c7c35f8a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21c7c35f8a_3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21c7c35f8a_3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21c7c35f8a_3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21c7c35f8a_3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21c7c35f8a_3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21c7c35f8a_3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0b1741a8d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0b1741a8d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21c7c35f8a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21c7c35f8a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21c7c35f8a_3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21c7c35f8a_3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21c7c35f8a_3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21c7c35f8a_3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21c7c35f8a_3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21c7c35f8a_3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21c7c35f8a_3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21c7c35f8a_3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21c7c3660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21c7c366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0b1741a8d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0b1741a8d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39571bf2a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39571bf2a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39571bf2ad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39571bf2a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uni1.de/nyt"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uni1.de/nyt" TargetMode="Externa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uni1.de/nyt"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uni1.de/nyt"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0" y="0"/>
            <a:ext cx="9144000" cy="2388900"/>
          </a:xfrm>
          <a:prstGeom prst="rect">
            <a:avLst/>
          </a:prstGeom>
          <a:noFill/>
        </p:spPr>
        <p:txBody>
          <a:bodyPr anchorCtr="0" anchor="b" bIns="274300" lIns="91425" spcFirstLastPara="1" rIns="91425" wrap="square" tIns="91425">
            <a:noAutofit/>
          </a:bodyPr>
          <a:lstStyle>
            <a:lvl1pPr lvl="0" algn="ctr">
              <a:spcBef>
                <a:spcPts val="0"/>
              </a:spcBef>
              <a:spcAft>
                <a:spcPts val="0"/>
              </a:spcAft>
              <a:buClr>
                <a:schemeClr val="dk1"/>
              </a:buClr>
              <a:buSzPts val="4200"/>
              <a:buNone/>
              <a:defRPr sz="4200">
                <a:solidFill>
                  <a:schemeClr val="dk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0" y="2569475"/>
            <a:ext cx="9144000" cy="2574000"/>
          </a:xfrm>
          <a:prstGeom prst="rect">
            <a:avLst/>
          </a:prstGeom>
        </p:spPr>
        <p:txBody>
          <a:bodyPr anchorCtr="0" anchor="t" bIns="91425" lIns="91425" spcFirstLastPara="1" rIns="91425" wrap="square" tIns="274300">
            <a:noAutofit/>
          </a:bodyPr>
          <a:lstStyle>
            <a:lvl1pPr lvl="0" algn="ctr">
              <a:lnSpc>
                <a:spcPct val="115000"/>
              </a:lnSpc>
              <a:spcBef>
                <a:spcPts val="0"/>
              </a:spcBef>
              <a:spcAft>
                <a:spcPts val="0"/>
              </a:spcAft>
              <a:buSzPts val="3000"/>
              <a:buNone/>
              <a:defRPr sz="3000"/>
            </a:lvl1pPr>
            <a:lvl2pPr lvl="1" algn="ctr">
              <a:lnSpc>
                <a:spcPct val="115000"/>
              </a:lnSpc>
              <a:spcBef>
                <a:spcPts val="0"/>
              </a:spcBef>
              <a:spcAft>
                <a:spcPts val="0"/>
              </a:spcAft>
              <a:buSzPts val="3200"/>
              <a:buNone/>
              <a:defRPr sz="3200"/>
            </a:lvl2pPr>
            <a:lvl3pPr lvl="2" algn="ctr">
              <a:lnSpc>
                <a:spcPct val="115000"/>
              </a:lnSpc>
              <a:spcBef>
                <a:spcPts val="0"/>
              </a:spcBef>
              <a:spcAft>
                <a:spcPts val="0"/>
              </a:spcAft>
              <a:buSzPts val="3200"/>
              <a:buNone/>
              <a:defRPr sz="3200"/>
            </a:lvl3pPr>
            <a:lvl4pPr lvl="3" algn="ctr">
              <a:lnSpc>
                <a:spcPct val="115000"/>
              </a:lnSpc>
              <a:spcBef>
                <a:spcPts val="0"/>
              </a:spcBef>
              <a:spcAft>
                <a:spcPts val="0"/>
              </a:spcAft>
              <a:buSzPts val="3200"/>
              <a:buNone/>
              <a:defRPr sz="3200"/>
            </a:lvl4pPr>
            <a:lvl5pPr lvl="4" algn="ctr">
              <a:lnSpc>
                <a:spcPct val="115000"/>
              </a:lnSpc>
              <a:spcBef>
                <a:spcPts val="0"/>
              </a:spcBef>
              <a:spcAft>
                <a:spcPts val="0"/>
              </a:spcAft>
              <a:buSzPts val="3200"/>
              <a:buNone/>
              <a:defRPr sz="3200"/>
            </a:lvl5pPr>
            <a:lvl6pPr lvl="5" algn="ctr">
              <a:lnSpc>
                <a:spcPct val="115000"/>
              </a:lnSpc>
              <a:spcBef>
                <a:spcPts val="0"/>
              </a:spcBef>
              <a:spcAft>
                <a:spcPts val="0"/>
              </a:spcAft>
              <a:buSzPts val="3200"/>
              <a:buNone/>
              <a:defRPr sz="3200"/>
            </a:lvl6pPr>
            <a:lvl7pPr lvl="6" algn="ctr">
              <a:lnSpc>
                <a:spcPct val="115000"/>
              </a:lnSpc>
              <a:spcBef>
                <a:spcPts val="0"/>
              </a:spcBef>
              <a:spcAft>
                <a:spcPts val="0"/>
              </a:spcAft>
              <a:buSzPts val="3200"/>
              <a:buNone/>
              <a:defRPr sz="3200"/>
            </a:lvl7pPr>
            <a:lvl8pPr lvl="7" algn="ctr">
              <a:lnSpc>
                <a:spcPct val="115000"/>
              </a:lnSpc>
              <a:spcBef>
                <a:spcPts val="0"/>
              </a:spcBef>
              <a:spcAft>
                <a:spcPts val="0"/>
              </a:spcAft>
              <a:buSzPts val="3200"/>
              <a:buNone/>
              <a:defRPr sz="3200"/>
            </a:lvl8pPr>
            <a:lvl9pPr lvl="8" algn="ctr">
              <a:lnSpc>
                <a:spcPct val="115000"/>
              </a:lnSpc>
              <a:spcBef>
                <a:spcPts val="0"/>
              </a:spcBef>
              <a:spcAft>
                <a:spcPts val="0"/>
              </a:spcAft>
              <a:buSzPts val="3200"/>
              <a:buNone/>
              <a:defRPr sz="3200"/>
            </a:lvl9pPr>
          </a:lstStyle>
          <a:p/>
        </p:txBody>
      </p:sp>
      <p:sp>
        <p:nvSpPr>
          <p:cNvPr id="12" name="Google Shape;12;p2"/>
          <p:cNvSpPr/>
          <p:nvPr/>
        </p:nvSpPr>
        <p:spPr>
          <a:xfrm>
            <a:off x="0" y="2388810"/>
            <a:ext cx="9144000" cy="1830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lvl1pPr lvl="0" algn="ctr">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p:nvPr/>
        </p:nvSpPr>
        <p:spPr>
          <a:xfrm>
            <a:off x="0" y="2386584"/>
            <a:ext cx="9144000" cy="91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lvl1pPr lvl="0" rtl="0" algn="r">
              <a:buNone/>
              <a:defRPr b="1" sz="2400">
                <a:solidFill>
                  <a:schemeClr val="dk1"/>
                </a:solidFill>
              </a:defRPr>
            </a:lvl1pPr>
            <a:lvl2pPr lvl="1" rtl="0" algn="r">
              <a:buNone/>
              <a:defRPr b="1" sz="2400">
                <a:solidFill>
                  <a:schemeClr val="dk1"/>
                </a:solidFill>
              </a:defRPr>
            </a:lvl2pPr>
            <a:lvl3pPr lvl="2" rtl="0" algn="r">
              <a:buNone/>
              <a:defRPr b="1" sz="2400">
                <a:solidFill>
                  <a:schemeClr val="dk1"/>
                </a:solidFill>
              </a:defRPr>
            </a:lvl3pPr>
            <a:lvl4pPr lvl="3" rtl="0" algn="r">
              <a:buNone/>
              <a:defRPr b="1" sz="2400">
                <a:solidFill>
                  <a:schemeClr val="dk1"/>
                </a:solidFill>
              </a:defRPr>
            </a:lvl4pPr>
            <a:lvl5pPr lvl="4" rtl="0" algn="r">
              <a:buNone/>
              <a:defRPr b="1" sz="2400">
                <a:solidFill>
                  <a:schemeClr val="dk1"/>
                </a:solidFill>
              </a:defRPr>
            </a:lvl5pPr>
            <a:lvl6pPr lvl="5" rtl="0" algn="r">
              <a:buNone/>
              <a:defRPr b="1" sz="2400">
                <a:solidFill>
                  <a:schemeClr val="dk1"/>
                </a:solidFill>
              </a:defRPr>
            </a:lvl6pPr>
            <a:lvl7pPr lvl="6" rtl="0" algn="r">
              <a:buNone/>
              <a:defRPr b="1" sz="2400">
                <a:solidFill>
                  <a:schemeClr val="dk1"/>
                </a:solidFill>
              </a:defRPr>
            </a:lvl7pPr>
            <a:lvl8pPr lvl="7" rtl="0" algn="r">
              <a:buNone/>
              <a:defRPr b="1" sz="2400">
                <a:solidFill>
                  <a:schemeClr val="dk1"/>
                </a:solidFill>
              </a:defRPr>
            </a:lvl8pPr>
            <a:lvl9pPr lvl="8" rtl="0" algn="r">
              <a:buNone/>
              <a:defRPr b="1" sz="2400">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2"/>
              </a:rPr>
              <a:t>uni1.de/nyt</a:t>
            </a:r>
            <a:r>
              <a:rPr b="0" lang="en" sz="1000"/>
              <a:t> </a:t>
            </a:r>
            <a:endParaRPr b="0" sz="10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274320" y="914400"/>
            <a:ext cx="8595300" cy="41148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p:nvPr/>
        </p:nvSpPr>
        <p:spPr>
          <a:xfrm>
            <a:off x="0" y="685800"/>
            <a:ext cx="9144000" cy="91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lvl1pPr lvl="0" rtl="0" algn="r">
              <a:buNone/>
              <a:defRPr b="1" sz="2400">
                <a:solidFill>
                  <a:schemeClr val="dk1"/>
                </a:solidFill>
              </a:defRPr>
            </a:lvl1pPr>
            <a:lvl2pPr lvl="1" rtl="0" algn="r">
              <a:buNone/>
              <a:defRPr b="1" sz="2400">
                <a:solidFill>
                  <a:schemeClr val="dk1"/>
                </a:solidFill>
              </a:defRPr>
            </a:lvl2pPr>
            <a:lvl3pPr lvl="2" rtl="0" algn="r">
              <a:buNone/>
              <a:defRPr b="1" sz="2400">
                <a:solidFill>
                  <a:schemeClr val="dk1"/>
                </a:solidFill>
              </a:defRPr>
            </a:lvl3pPr>
            <a:lvl4pPr lvl="3" rtl="0" algn="r">
              <a:buNone/>
              <a:defRPr b="1" sz="2400">
                <a:solidFill>
                  <a:schemeClr val="dk1"/>
                </a:solidFill>
              </a:defRPr>
            </a:lvl4pPr>
            <a:lvl5pPr lvl="4" rtl="0" algn="r">
              <a:buNone/>
              <a:defRPr b="1" sz="2400">
                <a:solidFill>
                  <a:schemeClr val="dk1"/>
                </a:solidFill>
              </a:defRPr>
            </a:lvl5pPr>
            <a:lvl6pPr lvl="5" rtl="0" algn="r">
              <a:buNone/>
              <a:defRPr b="1" sz="2400">
                <a:solidFill>
                  <a:schemeClr val="dk1"/>
                </a:solidFill>
              </a:defRPr>
            </a:lvl6pPr>
            <a:lvl7pPr lvl="6" rtl="0" algn="r">
              <a:buNone/>
              <a:defRPr b="1" sz="2400">
                <a:solidFill>
                  <a:schemeClr val="dk1"/>
                </a:solidFill>
              </a:defRPr>
            </a:lvl7pPr>
            <a:lvl8pPr lvl="7" rtl="0" algn="r">
              <a:buNone/>
              <a:defRPr b="1" sz="2400">
                <a:solidFill>
                  <a:schemeClr val="dk1"/>
                </a:solidFill>
              </a:defRPr>
            </a:lvl8pPr>
            <a:lvl9pPr lvl="8" rtl="0" algn="r">
              <a:buNone/>
              <a:defRPr b="1" sz="2400">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2"/>
              </a:rPr>
              <a:t>uni1.de/nyt</a:t>
            </a:r>
            <a:r>
              <a:rPr b="0" lang="en" sz="1000"/>
              <a:t> </a:t>
            </a:r>
            <a:endParaRPr b="0" sz="10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0" y="0"/>
            <a:ext cx="9144000" cy="685800"/>
          </a:xfrm>
          <a:prstGeom prst="rect">
            <a:avLst/>
          </a:prstGeom>
          <a:ln>
            <a:noFill/>
          </a:ln>
        </p:spPr>
        <p:txBody>
          <a:bodyPr anchorCtr="0" anchor="ctr" bIns="0" lIns="27430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274320" y="914400"/>
            <a:ext cx="4114800" cy="41148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5"/>
          <p:cNvSpPr txBox="1"/>
          <p:nvPr>
            <p:ph idx="2" type="body"/>
          </p:nvPr>
        </p:nvSpPr>
        <p:spPr>
          <a:xfrm>
            <a:off x="4846320" y="914400"/>
            <a:ext cx="4114800" cy="41148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 name="Google Shape;26;p5"/>
          <p:cNvSpPr/>
          <p:nvPr/>
        </p:nvSpPr>
        <p:spPr>
          <a:xfrm>
            <a:off x="0" y="685800"/>
            <a:ext cx="9144000" cy="91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lvl1pPr lvl="0" rtl="0" algn="r">
              <a:buNone/>
              <a:defRPr b="1" sz="2400">
                <a:solidFill>
                  <a:schemeClr val="dk1"/>
                </a:solidFill>
              </a:defRPr>
            </a:lvl1pPr>
            <a:lvl2pPr lvl="1" rtl="0" algn="r">
              <a:buNone/>
              <a:defRPr b="1" sz="2400">
                <a:solidFill>
                  <a:schemeClr val="dk1"/>
                </a:solidFill>
              </a:defRPr>
            </a:lvl2pPr>
            <a:lvl3pPr lvl="2" rtl="0" algn="r">
              <a:buNone/>
              <a:defRPr b="1" sz="2400">
                <a:solidFill>
                  <a:schemeClr val="dk1"/>
                </a:solidFill>
              </a:defRPr>
            </a:lvl3pPr>
            <a:lvl4pPr lvl="3" rtl="0" algn="r">
              <a:buNone/>
              <a:defRPr b="1" sz="2400">
                <a:solidFill>
                  <a:schemeClr val="dk1"/>
                </a:solidFill>
              </a:defRPr>
            </a:lvl4pPr>
            <a:lvl5pPr lvl="4" rtl="0" algn="r">
              <a:buNone/>
              <a:defRPr b="1" sz="2400">
                <a:solidFill>
                  <a:schemeClr val="dk1"/>
                </a:solidFill>
              </a:defRPr>
            </a:lvl5pPr>
            <a:lvl6pPr lvl="5" rtl="0" algn="r">
              <a:buNone/>
              <a:defRPr b="1" sz="2400">
                <a:solidFill>
                  <a:schemeClr val="dk1"/>
                </a:solidFill>
              </a:defRPr>
            </a:lvl6pPr>
            <a:lvl7pPr lvl="6" rtl="0" algn="r">
              <a:buNone/>
              <a:defRPr b="1" sz="2400">
                <a:solidFill>
                  <a:schemeClr val="dk1"/>
                </a:solidFill>
              </a:defRPr>
            </a:lvl7pPr>
            <a:lvl8pPr lvl="7" rtl="0" algn="r">
              <a:buNone/>
              <a:defRPr b="1" sz="2400">
                <a:solidFill>
                  <a:schemeClr val="dk1"/>
                </a:solidFill>
              </a:defRPr>
            </a:lvl8pPr>
            <a:lvl9pPr lvl="8" rtl="0" algn="r">
              <a:buNone/>
              <a:defRPr b="1" sz="2400">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2"/>
              </a:rPr>
              <a:t>uni1.de/nyt</a:t>
            </a:r>
            <a:r>
              <a:rPr b="0" lang="en" sz="1000"/>
              <a:t> </a:t>
            </a:r>
            <a:endParaRPr b="0" sz="10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0" y="0"/>
            <a:ext cx="9144000" cy="685800"/>
          </a:xfrm>
          <a:prstGeom prst="rect">
            <a:avLst/>
          </a:prstGeom>
        </p:spPr>
        <p:txBody>
          <a:bodyPr anchorCtr="0" anchor="ctr" bIns="0" lIns="27430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p:nvPr/>
        </p:nvSpPr>
        <p:spPr>
          <a:xfrm>
            <a:off x="0" y="685800"/>
            <a:ext cx="9144000" cy="91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6"/>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lvl1pPr lvl="0" rtl="0" algn="r">
              <a:buNone/>
              <a:defRPr b="1" sz="2400">
                <a:solidFill>
                  <a:schemeClr val="dk1"/>
                </a:solidFill>
              </a:defRPr>
            </a:lvl1pPr>
            <a:lvl2pPr lvl="1" rtl="0" algn="r">
              <a:buNone/>
              <a:defRPr b="1" sz="2400">
                <a:solidFill>
                  <a:schemeClr val="dk1"/>
                </a:solidFill>
              </a:defRPr>
            </a:lvl2pPr>
            <a:lvl3pPr lvl="2" rtl="0" algn="r">
              <a:buNone/>
              <a:defRPr b="1" sz="2400">
                <a:solidFill>
                  <a:schemeClr val="dk1"/>
                </a:solidFill>
              </a:defRPr>
            </a:lvl3pPr>
            <a:lvl4pPr lvl="3" rtl="0" algn="r">
              <a:buNone/>
              <a:defRPr b="1" sz="2400">
                <a:solidFill>
                  <a:schemeClr val="dk1"/>
                </a:solidFill>
              </a:defRPr>
            </a:lvl4pPr>
            <a:lvl5pPr lvl="4" rtl="0" algn="r">
              <a:buNone/>
              <a:defRPr b="1" sz="2400">
                <a:solidFill>
                  <a:schemeClr val="dk1"/>
                </a:solidFill>
              </a:defRPr>
            </a:lvl5pPr>
            <a:lvl6pPr lvl="5" rtl="0" algn="r">
              <a:buNone/>
              <a:defRPr b="1" sz="2400">
                <a:solidFill>
                  <a:schemeClr val="dk1"/>
                </a:solidFill>
              </a:defRPr>
            </a:lvl6pPr>
            <a:lvl7pPr lvl="6" rtl="0" algn="r">
              <a:buNone/>
              <a:defRPr b="1" sz="2400">
                <a:solidFill>
                  <a:schemeClr val="dk1"/>
                </a:solidFill>
              </a:defRPr>
            </a:lvl7pPr>
            <a:lvl8pPr lvl="7" rtl="0" algn="r">
              <a:buNone/>
              <a:defRPr b="1" sz="2400">
                <a:solidFill>
                  <a:schemeClr val="dk1"/>
                </a:solidFill>
              </a:defRPr>
            </a:lvl8pPr>
            <a:lvl9pPr lvl="8" rtl="0" algn="r">
              <a:buNone/>
              <a:defRPr b="1" sz="2400">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2"/>
              </a:rPr>
              <a:t>uni1.de/nyt</a:t>
            </a:r>
            <a:r>
              <a:rPr b="0" lang="en" sz="1000"/>
              <a:t> </a:t>
            </a:r>
            <a:endParaRPr b="0" sz="10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 name="Shape 3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hyperlink" Target="http://uni1.de/nyt" TargetMode="Externa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9144000" cy="685800"/>
          </a:xfrm>
          <a:prstGeom prst="rect">
            <a:avLst/>
          </a:prstGeom>
          <a:noFill/>
          <a:ln>
            <a:noFill/>
          </a:ln>
        </p:spPr>
        <p:txBody>
          <a:bodyPr anchorCtr="0" anchor="ctr" bIns="0" lIns="274300" spcFirstLastPara="1" rIns="0" wrap="square" tIns="0">
            <a:noAutofit/>
          </a:bodyPr>
          <a:lstStyle>
            <a:lvl1pPr lvl="0">
              <a:spcBef>
                <a:spcPts val="0"/>
              </a:spcBef>
              <a:spcAft>
                <a:spcPts val="0"/>
              </a:spcAft>
              <a:buClr>
                <a:schemeClr val="dk1"/>
              </a:buClr>
              <a:buSzPts val="2400"/>
              <a:buNone/>
              <a:defRPr b="1" sz="24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74320" y="914400"/>
            <a:ext cx="8595300" cy="4114800"/>
          </a:xfrm>
          <a:prstGeom prst="rect">
            <a:avLst/>
          </a:prstGeom>
          <a:noFill/>
          <a:ln>
            <a:noFill/>
          </a:ln>
        </p:spPr>
        <p:txBody>
          <a:bodyPr anchorCtr="0" anchor="t" bIns="0" lIns="0" spcFirstLastPara="1" rIns="0" wrap="square" tIns="0">
            <a:noAutofit/>
          </a:bodyPr>
          <a:lstStyle>
            <a:lvl1pPr indent="-342900" lvl="0" marL="457200">
              <a:lnSpc>
                <a:spcPct val="115000"/>
              </a:lnSpc>
              <a:spcBef>
                <a:spcPts val="0"/>
              </a:spcBef>
              <a:spcAft>
                <a:spcPts val="0"/>
              </a:spcAft>
              <a:buClr>
                <a:schemeClr val="dk1"/>
              </a:buClr>
              <a:buSzPts val="1800"/>
              <a:buChar char="●"/>
              <a:defRPr sz="1800">
                <a:solidFill>
                  <a:schemeClr val="dk1"/>
                </a:solidFill>
              </a:defRPr>
            </a:lvl1pPr>
            <a:lvl2pPr indent="-317500" lvl="1" marL="914400">
              <a:lnSpc>
                <a:spcPct val="115000"/>
              </a:lnSpc>
              <a:spcBef>
                <a:spcPts val="0"/>
              </a:spcBef>
              <a:spcAft>
                <a:spcPts val="0"/>
              </a:spcAft>
              <a:buClr>
                <a:schemeClr val="dk1"/>
              </a:buClr>
              <a:buSzPts val="1400"/>
              <a:buChar char="○"/>
              <a:defRPr>
                <a:solidFill>
                  <a:schemeClr val="dk1"/>
                </a:solidFill>
              </a:defRPr>
            </a:lvl2pPr>
            <a:lvl3pPr indent="-317500" lvl="2" marL="1371600">
              <a:lnSpc>
                <a:spcPct val="115000"/>
              </a:lnSpc>
              <a:spcBef>
                <a:spcPts val="0"/>
              </a:spcBef>
              <a:spcAft>
                <a:spcPts val="0"/>
              </a:spcAft>
              <a:buClr>
                <a:schemeClr val="dk1"/>
              </a:buClr>
              <a:buSzPts val="1400"/>
              <a:buChar char="■"/>
              <a:defRPr>
                <a:solidFill>
                  <a:schemeClr val="dk1"/>
                </a:solidFill>
              </a:defRPr>
            </a:lvl3pPr>
            <a:lvl4pPr indent="-317500" lvl="3" marL="1828800">
              <a:lnSpc>
                <a:spcPct val="115000"/>
              </a:lnSpc>
              <a:spcBef>
                <a:spcPts val="0"/>
              </a:spcBef>
              <a:spcAft>
                <a:spcPts val="0"/>
              </a:spcAft>
              <a:buClr>
                <a:schemeClr val="dk1"/>
              </a:buClr>
              <a:buSzPts val="1400"/>
              <a:buChar char="●"/>
              <a:defRPr>
                <a:solidFill>
                  <a:schemeClr val="dk1"/>
                </a:solidFill>
              </a:defRPr>
            </a:lvl4pPr>
            <a:lvl5pPr indent="-317500" lvl="4" marL="2286000">
              <a:lnSpc>
                <a:spcPct val="115000"/>
              </a:lnSpc>
              <a:spcBef>
                <a:spcPts val="0"/>
              </a:spcBef>
              <a:spcAft>
                <a:spcPts val="0"/>
              </a:spcAft>
              <a:buClr>
                <a:schemeClr val="dk1"/>
              </a:buClr>
              <a:buSzPts val="1400"/>
              <a:buChar char="○"/>
              <a:defRPr>
                <a:solidFill>
                  <a:schemeClr val="dk1"/>
                </a:solidFill>
              </a:defRPr>
            </a:lvl5pPr>
            <a:lvl6pPr indent="-317500" lvl="5" marL="2743200">
              <a:lnSpc>
                <a:spcPct val="115000"/>
              </a:lnSpc>
              <a:spcBef>
                <a:spcPts val="0"/>
              </a:spcBef>
              <a:spcAft>
                <a:spcPts val="0"/>
              </a:spcAft>
              <a:buClr>
                <a:schemeClr val="dk1"/>
              </a:buClr>
              <a:buSzPts val="1400"/>
              <a:buChar char="■"/>
              <a:defRPr>
                <a:solidFill>
                  <a:schemeClr val="dk1"/>
                </a:solidFill>
              </a:defRPr>
            </a:lvl6pPr>
            <a:lvl7pPr indent="-317500" lvl="6" marL="3200400">
              <a:lnSpc>
                <a:spcPct val="115000"/>
              </a:lnSpc>
              <a:spcBef>
                <a:spcPts val="0"/>
              </a:spcBef>
              <a:spcAft>
                <a:spcPts val="0"/>
              </a:spcAft>
              <a:buClr>
                <a:schemeClr val="dk1"/>
              </a:buClr>
              <a:buSzPts val="1400"/>
              <a:buChar char="●"/>
              <a:defRPr>
                <a:solidFill>
                  <a:schemeClr val="dk1"/>
                </a:solidFill>
              </a:defRPr>
            </a:lvl7pPr>
            <a:lvl8pPr indent="-317500" lvl="7" marL="3657600">
              <a:lnSpc>
                <a:spcPct val="115000"/>
              </a:lnSpc>
              <a:spcBef>
                <a:spcPts val="0"/>
              </a:spcBef>
              <a:spcAft>
                <a:spcPts val="0"/>
              </a:spcAft>
              <a:buClr>
                <a:schemeClr val="dk1"/>
              </a:buClr>
              <a:buSzPts val="1400"/>
              <a:buChar char="○"/>
              <a:defRPr>
                <a:solidFill>
                  <a:schemeClr val="dk1"/>
                </a:solidFill>
              </a:defRPr>
            </a:lvl8pPr>
            <a:lvl9pPr indent="-317500" lvl="8" marL="4114800">
              <a:lnSpc>
                <a:spcPct val="115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7315209" y="4229101"/>
            <a:ext cx="1828800" cy="914400"/>
          </a:xfrm>
          <a:prstGeom prst="rect">
            <a:avLst/>
          </a:prstGeom>
          <a:noFill/>
          <a:ln>
            <a:noFill/>
          </a:ln>
        </p:spPr>
        <p:txBody>
          <a:bodyPr anchorCtr="0" anchor="b" bIns="91425" lIns="91425" spcFirstLastPara="1" rIns="91425" wrap="square" tIns="91425">
            <a:noAutofit/>
          </a:bodyPr>
          <a:lstStyle>
            <a:lvl1pPr lvl="0" rtl="0" algn="r">
              <a:buNone/>
              <a:defRPr b="1" sz="2400">
                <a:solidFill>
                  <a:schemeClr val="dk1"/>
                </a:solidFill>
              </a:defRPr>
            </a:lvl1pPr>
            <a:lvl2pPr lvl="1" rtl="0" algn="r">
              <a:buNone/>
              <a:defRPr b="1" sz="2400">
                <a:solidFill>
                  <a:schemeClr val="dk1"/>
                </a:solidFill>
              </a:defRPr>
            </a:lvl2pPr>
            <a:lvl3pPr lvl="2" rtl="0" algn="r">
              <a:buNone/>
              <a:defRPr b="1" sz="2400">
                <a:solidFill>
                  <a:schemeClr val="dk1"/>
                </a:solidFill>
              </a:defRPr>
            </a:lvl3pPr>
            <a:lvl4pPr lvl="3" rtl="0" algn="r">
              <a:buNone/>
              <a:defRPr b="1" sz="2400">
                <a:solidFill>
                  <a:schemeClr val="dk1"/>
                </a:solidFill>
              </a:defRPr>
            </a:lvl4pPr>
            <a:lvl5pPr lvl="4" rtl="0" algn="r">
              <a:buNone/>
              <a:defRPr b="1" sz="2400">
                <a:solidFill>
                  <a:schemeClr val="dk1"/>
                </a:solidFill>
              </a:defRPr>
            </a:lvl5pPr>
            <a:lvl6pPr lvl="5" rtl="0" algn="r">
              <a:buNone/>
              <a:defRPr b="1" sz="2400">
                <a:solidFill>
                  <a:schemeClr val="dk1"/>
                </a:solidFill>
              </a:defRPr>
            </a:lvl6pPr>
            <a:lvl7pPr lvl="6" rtl="0" algn="r">
              <a:buNone/>
              <a:defRPr b="1" sz="2400">
                <a:solidFill>
                  <a:schemeClr val="dk1"/>
                </a:solidFill>
              </a:defRPr>
            </a:lvl7pPr>
            <a:lvl8pPr lvl="7" rtl="0" algn="r">
              <a:buNone/>
              <a:defRPr b="1" sz="2400">
                <a:solidFill>
                  <a:schemeClr val="dk1"/>
                </a:solidFill>
              </a:defRPr>
            </a:lvl8pPr>
            <a:lvl9pPr lvl="8" rtl="0" algn="r">
              <a:buNone/>
              <a:defRPr b="1" sz="2400">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1"/>
              </a:rPr>
              <a:t>uni1.de/nyt</a:t>
            </a:r>
            <a:r>
              <a:rPr b="0" lang="en" sz="1000"/>
              <a:t> </a:t>
            </a:r>
            <a:endParaRPr b="0" sz="1000"/>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creativecommons.org/licenses/by/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uni1.de/ny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uni1.de/ny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uni1.de/ny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hyperlink" Target="http://uni1.de/ny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uni1.de/ny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uni1.de/ny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uni1.de/ny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uni1.de/nyt"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uni1.de/ny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uni1.de/ny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uni1.de/nyt"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uni1.de/ny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hyperlink" Target="http://uni1.de/nyt" TargetMode="External"/><Relationship Id="rId4" Type="http://schemas.openxmlformats.org/officeDocument/2006/relationships/image" Target="../media/image2.png"/><Relationship Id="rId5" Type="http://schemas.openxmlformats.org/officeDocument/2006/relationships/hyperlink" Target="https://phdcomics.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uni1.de/nyt"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mailto:dirk.riehle@fau.de" TargetMode="External"/><Relationship Id="rId4" Type="http://schemas.openxmlformats.org/officeDocument/2006/relationships/hyperlink" Target="https://oss.cs.fau.de" TargetMode="External"/><Relationship Id="rId5" Type="http://schemas.openxmlformats.org/officeDocument/2006/relationships/hyperlink" Target="mailto:dirk@riehle.org" TargetMode="External"/><Relationship Id="rId6" Type="http://schemas.openxmlformats.org/officeDocument/2006/relationships/hyperlink" Target="https://dirkriehle.com" TargetMode="External"/><Relationship Id="rId7" Type="http://schemas.openxmlformats.org/officeDocument/2006/relationships/hyperlink" Target="https://twitter.com/dirkriehl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uni1.de/nyt" TargetMode="External"/><Relationship Id="rId4" Type="http://schemas.openxmlformats.org/officeDocument/2006/relationships/hyperlink" Target="http://creativecommons.org/licenses/by/4.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8"/>
          <p:cNvSpPr txBox="1"/>
          <p:nvPr>
            <p:ph type="ctrTitle"/>
          </p:nvPr>
        </p:nvSpPr>
        <p:spPr>
          <a:xfrm>
            <a:off x="0" y="0"/>
            <a:ext cx="9144000" cy="23889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How to</a:t>
            </a:r>
            <a:endParaRPr/>
          </a:p>
          <a:p>
            <a:pPr indent="0" lvl="0" marL="0" rtl="0" algn="ctr">
              <a:spcBef>
                <a:spcPts val="0"/>
              </a:spcBef>
              <a:spcAft>
                <a:spcPts val="0"/>
              </a:spcAft>
              <a:buNone/>
            </a:pPr>
            <a:r>
              <a:rPr lang="en"/>
              <a:t>Summarize an Article</a:t>
            </a:r>
            <a:endParaRPr/>
          </a:p>
        </p:txBody>
      </p:sp>
      <p:sp>
        <p:nvSpPr>
          <p:cNvPr id="38" name="Google Shape;38;p8"/>
          <p:cNvSpPr txBox="1"/>
          <p:nvPr>
            <p:ph idx="1" type="subTitle"/>
          </p:nvPr>
        </p:nvSpPr>
        <p:spPr>
          <a:xfrm>
            <a:off x="0" y="2569475"/>
            <a:ext cx="9144000" cy="2574000"/>
          </a:xfrm>
          <a:prstGeom prst="rect">
            <a:avLst/>
          </a:prstGeom>
        </p:spPr>
        <p:txBody>
          <a:bodyPr anchorCtr="0" anchor="t" bIns="91425" lIns="91425" spcFirstLastPara="1" rIns="91425" wrap="square" tIns="274300">
            <a:noAutofit/>
          </a:bodyPr>
          <a:lstStyle/>
          <a:p>
            <a:pPr indent="0" lvl="0" marL="0" rtl="0" algn="ctr">
              <a:spcBef>
                <a:spcPts val="0"/>
              </a:spcBef>
              <a:spcAft>
                <a:spcPts val="0"/>
              </a:spcAft>
              <a:buNone/>
            </a:pPr>
            <a:r>
              <a:rPr lang="en"/>
              <a:t>Dirk Riehle, FAU Erlangen</a:t>
            </a:r>
            <a:endParaRPr/>
          </a:p>
          <a:p>
            <a:pPr indent="0" lvl="0" marL="0" rtl="0" algn="ctr">
              <a:spcBef>
                <a:spcPts val="0"/>
              </a:spcBef>
              <a:spcAft>
                <a:spcPts val="0"/>
              </a:spcAft>
              <a:buNone/>
            </a:pPr>
            <a:r>
              <a:t/>
            </a:r>
            <a:endParaRPr/>
          </a:p>
          <a:p>
            <a:pPr indent="0" lvl="0" marL="0" rtl="0" algn="ctr">
              <a:spcBef>
                <a:spcPts val="0"/>
              </a:spcBef>
              <a:spcAft>
                <a:spcPts val="0"/>
              </a:spcAft>
              <a:buNone/>
            </a:pPr>
            <a:r>
              <a:rPr b="1" lang="en"/>
              <a:t>NYT A01</a:t>
            </a:r>
            <a:endParaRPr b="1"/>
          </a:p>
          <a:p>
            <a:pPr indent="0" lvl="0" marL="0" rtl="0" algn="ctr">
              <a:spcBef>
                <a:spcPts val="0"/>
              </a:spcBef>
              <a:spcAft>
                <a:spcPts val="0"/>
              </a:spcAft>
              <a:buNone/>
            </a:pPr>
            <a:r>
              <a:rPr lang="en" sz="1800"/>
              <a:t>Licensed under </a:t>
            </a:r>
            <a:r>
              <a:rPr lang="en" sz="1800" u="sng">
                <a:solidFill>
                  <a:schemeClr val="hlink"/>
                </a:solidFill>
                <a:hlinkClick r:id="rId3"/>
              </a:rPr>
              <a:t>CC BY 4.0 International</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9"/>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Agenda</a:t>
            </a:r>
            <a:endParaRPr/>
          </a:p>
        </p:txBody>
      </p:sp>
      <p:sp>
        <p:nvSpPr>
          <p:cNvPr id="44" name="Google Shape;44;p9"/>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eriod"/>
            </a:pPr>
            <a:r>
              <a:rPr lang="en"/>
              <a:t>Summary p</a:t>
            </a:r>
            <a:r>
              <a:rPr lang="en"/>
              <a:t>urpose</a:t>
            </a:r>
            <a:endParaRPr/>
          </a:p>
          <a:p>
            <a:pPr indent="-342900" lvl="0" marL="457200" rtl="0" algn="l">
              <a:spcBef>
                <a:spcPts val="0"/>
              </a:spcBef>
              <a:spcAft>
                <a:spcPts val="0"/>
              </a:spcAft>
              <a:buSzPts val="1800"/>
              <a:buAutoNum type="arabicPeriod"/>
            </a:pPr>
            <a:r>
              <a:rPr lang="en"/>
              <a:t>Structured analysis</a:t>
            </a:r>
            <a:endParaRPr/>
          </a:p>
          <a:p>
            <a:pPr indent="-342900" lvl="0" marL="457200" rtl="0" algn="l">
              <a:spcBef>
                <a:spcPts val="0"/>
              </a:spcBef>
              <a:spcAft>
                <a:spcPts val="0"/>
              </a:spcAft>
              <a:buSzPts val="1800"/>
              <a:buAutoNum type="arabicPeriod"/>
            </a:pPr>
            <a:r>
              <a:rPr lang="en"/>
              <a:t>Written Summary</a:t>
            </a:r>
            <a:endParaRPr/>
          </a:p>
        </p:txBody>
      </p:sp>
      <p:sp>
        <p:nvSpPr>
          <p:cNvPr id="45" name="Google Shape;45;p9"/>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0"/>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1. Summary Purpose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1"/>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Purpose of Summary Exercises</a:t>
            </a:r>
            <a:endParaRPr/>
          </a:p>
        </p:txBody>
      </p:sp>
      <p:sp>
        <p:nvSpPr>
          <p:cNvPr id="56" name="Google Shape;56;p11"/>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Analysing and summarizing are crucial skills (for any job) </a:t>
            </a:r>
            <a:endParaRPr/>
          </a:p>
          <a:p>
            <a:pPr indent="-342900" lvl="0" marL="457200" rtl="0" algn="l">
              <a:spcBef>
                <a:spcPts val="1200"/>
              </a:spcBef>
              <a:spcAft>
                <a:spcPts val="0"/>
              </a:spcAft>
              <a:buSzPts val="1800"/>
              <a:buChar char="●"/>
            </a:pPr>
            <a:r>
              <a:rPr lang="en"/>
              <a:t>Analysis</a:t>
            </a:r>
            <a:endParaRPr/>
          </a:p>
          <a:p>
            <a:pPr indent="-317500" lvl="1" marL="914400" rtl="0" algn="l">
              <a:spcBef>
                <a:spcPts val="0"/>
              </a:spcBef>
              <a:spcAft>
                <a:spcPts val="0"/>
              </a:spcAft>
              <a:buSzPts val="1400"/>
              <a:buChar char="○"/>
            </a:pPr>
            <a:r>
              <a:rPr lang="en"/>
              <a:t>Reading: Absorb the text</a:t>
            </a:r>
            <a:endParaRPr/>
          </a:p>
          <a:p>
            <a:pPr indent="-317500" lvl="1" marL="914400" rtl="0" algn="l">
              <a:spcBef>
                <a:spcPts val="0"/>
              </a:spcBef>
              <a:spcAft>
                <a:spcPts val="0"/>
              </a:spcAft>
              <a:buSzPts val="1400"/>
              <a:buChar char="○"/>
            </a:pPr>
            <a:r>
              <a:rPr lang="en"/>
              <a:t>Extracting: Extract information</a:t>
            </a:r>
            <a:endParaRPr/>
          </a:p>
          <a:p>
            <a:pPr indent="-317500" lvl="1" marL="914400" rtl="0" algn="l">
              <a:spcBef>
                <a:spcPts val="0"/>
              </a:spcBef>
              <a:spcAft>
                <a:spcPts val="0"/>
              </a:spcAft>
              <a:buSzPts val="1400"/>
              <a:buChar char="○"/>
            </a:pPr>
            <a:r>
              <a:rPr lang="en"/>
              <a:t>Synthesizing: Gain understanding</a:t>
            </a:r>
            <a:endParaRPr/>
          </a:p>
          <a:p>
            <a:pPr indent="-342900" lvl="0" marL="457200" rtl="0" algn="l">
              <a:spcBef>
                <a:spcPts val="1000"/>
              </a:spcBef>
              <a:spcAft>
                <a:spcPts val="0"/>
              </a:spcAft>
              <a:buSzPts val="1800"/>
              <a:buChar char="●"/>
            </a:pPr>
            <a:r>
              <a:rPr lang="en"/>
              <a:t>Summary</a:t>
            </a:r>
            <a:endParaRPr/>
          </a:p>
          <a:p>
            <a:pPr indent="-317500" lvl="1" marL="914400" rtl="0" algn="l">
              <a:spcBef>
                <a:spcPts val="0"/>
              </a:spcBef>
              <a:spcAft>
                <a:spcPts val="0"/>
              </a:spcAft>
              <a:buSzPts val="1400"/>
              <a:buChar char="○"/>
            </a:pPr>
            <a:r>
              <a:rPr lang="en"/>
              <a:t>Summarizing: Explain to others</a:t>
            </a:r>
            <a:endParaRPr/>
          </a:p>
        </p:txBody>
      </p:sp>
      <p:sp>
        <p:nvSpPr>
          <p:cNvPr id="57" name="Google Shape;57;p11"/>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2"/>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2</a:t>
            </a:r>
            <a:r>
              <a:rPr lang="en"/>
              <a:t>. Structured Analysis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Structured Analysis Process</a:t>
            </a:r>
            <a:endParaRPr/>
          </a:p>
        </p:txBody>
      </p:sp>
      <p:sp>
        <p:nvSpPr>
          <p:cNvPr id="68" name="Google Shape;68;p13"/>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Step 1: Extract notes</a:t>
            </a:r>
            <a:endParaRPr/>
          </a:p>
          <a:p>
            <a:pPr indent="-342900" lvl="0" marL="457200" rtl="0" algn="l">
              <a:spcBef>
                <a:spcPts val="1200"/>
              </a:spcBef>
              <a:spcAft>
                <a:spcPts val="0"/>
              </a:spcAft>
              <a:buSzPts val="1800"/>
              <a:buChar char="●"/>
            </a:pPr>
            <a:r>
              <a:rPr lang="en"/>
              <a:t>Read and markup text</a:t>
            </a:r>
            <a:endParaRPr/>
          </a:p>
          <a:p>
            <a:pPr indent="-342900" lvl="0" marL="457200" rtl="0" algn="l">
              <a:spcBef>
                <a:spcPts val="0"/>
              </a:spcBef>
              <a:spcAft>
                <a:spcPts val="0"/>
              </a:spcAft>
              <a:buSzPts val="1800"/>
              <a:buChar char="●"/>
            </a:pPr>
            <a:r>
              <a:rPr lang="en"/>
              <a:t>Annotate (“code”) marked text</a:t>
            </a:r>
            <a:endParaRPr/>
          </a:p>
          <a:p>
            <a:pPr indent="0" lvl="0" marL="0" rtl="0" algn="l">
              <a:spcBef>
                <a:spcPts val="1200"/>
              </a:spcBef>
              <a:spcAft>
                <a:spcPts val="0"/>
              </a:spcAft>
              <a:buNone/>
            </a:pPr>
            <a:r>
              <a:rPr lang="en"/>
              <a:t>Step 2: Synthesize insights</a:t>
            </a:r>
            <a:endParaRPr/>
          </a:p>
          <a:p>
            <a:pPr indent="-342900" lvl="0" marL="457200" rtl="0" algn="l">
              <a:spcBef>
                <a:spcPts val="1200"/>
              </a:spcBef>
              <a:spcAft>
                <a:spcPts val="0"/>
              </a:spcAft>
              <a:buSzPts val="1800"/>
              <a:buChar char="●"/>
            </a:pPr>
            <a:r>
              <a:rPr lang="en"/>
              <a:t>Synthesize concepts </a:t>
            </a:r>
            <a:endParaRPr/>
          </a:p>
          <a:p>
            <a:pPr indent="-342900" lvl="0" marL="457200" rtl="0" algn="l">
              <a:spcBef>
                <a:spcPts val="0"/>
              </a:spcBef>
              <a:spcAft>
                <a:spcPts val="0"/>
              </a:spcAft>
              <a:buSzPts val="1800"/>
              <a:buChar char="●"/>
            </a:pPr>
            <a:r>
              <a:rPr lang="en"/>
              <a:t>Sift and s</a:t>
            </a:r>
            <a:r>
              <a:rPr lang="en"/>
              <a:t>ort into categories</a:t>
            </a:r>
            <a:endParaRPr/>
          </a:p>
          <a:p>
            <a:pPr indent="0" lvl="0" marL="0" rtl="0" algn="l">
              <a:spcBef>
                <a:spcPts val="1200"/>
              </a:spcBef>
              <a:spcAft>
                <a:spcPts val="1200"/>
              </a:spcAft>
              <a:buNone/>
            </a:pPr>
            <a:r>
              <a:rPr lang="en"/>
              <a:t>Will reappear as qualitative data analysis</a:t>
            </a:r>
            <a:endParaRPr/>
          </a:p>
        </p:txBody>
      </p:sp>
      <p:sp>
        <p:nvSpPr>
          <p:cNvPr id="69" name="Google Shape;69;p13"/>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4"/>
          <p:cNvPicPr preferRelativeResize="0"/>
          <p:nvPr/>
        </p:nvPicPr>
        <p:blipFill>
          <a:blip r:embed="rId3">
            <a:alphaModFix/>
          </a:blip>
          <a:stretch>
            <a:fillRect/>
          </a:stretch>
        </p:blipFill>
        <p:spPr>
          <a:xfrm>
            <a:off x="0" y="792600"/>
            <a:ext cx="6524818" cy="4503299"/>
          </a:xfrm>
          <a:prstGeom prst="rect">
            <a:avLst/>
          </a:prstGeom>
          <a:noFill/>
          <a:ln>
            <a:noFill/>
          </a:ln>
        </p:spPr>
      </p:pic>
      <p:sp>
        <p:nvSpPr>
          <p:cNvPr id="75" name="Google Shape;75;p14"/>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Step 1.a: Markup Text</a:t>
            </a:r>
            <a:endParaRPr/>
          </a:p>
        </p:txBody>
      </p:sp>
      <p:sp>
        <p:nvSpPr>
          <p:cNvPr id="76" name="Google Shape;76;p14"/>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4"/>
              </a:rPr>
              <a:t>uni1.de/nyt</a:t>
            </a:r>
            <a:r>
              <a:rPr b="0" lang="en" sz="1000"/>
              <a:t> </a:t>
            </a:r>
            <a:endParaRPr b="0"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Step 1.b: Annotate Text  </a:t>
            </a:r>
            <a:endParaRPr/>
          </a:p>
        </p:txBody>
      </p:sp>
      <p:sp>
        <p:nvSpPr>
          <p:cNvPr id="82" name="Google Shape;82;p15"/>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
        <p:nvSpPr>
          <p:cNvPr id="83" name="Google Shape;83;p15"/>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 sz="1000"/>
              <a:t>Historically, out of crazy ideas, science</a:t>
            </a:r>
            <a:endParaRPr sz="1000"/>
          </a:p>
          <a:p>
            <a:pPr indent="-292100" lvl="0" marL="457200" rtl="0" algn="l">
              <a:spcBef>
                <a:spcPts val="0"/>
              </a:spcBef>
              <a:spcAft>
                <a:spcPts val="0"/>
              </a:spcAft>
              <a:buSzPts val="1000"/>
              <a:buChar char="●"/>
            </a:pPr>
            <a:r>
              <a:rPr lang="en" sz="1000"/>
              <a:t>Method of science: eliminate crazy ideas</a:t>
            </a:r>
            <a:endParaRPr sz="1000"/>
          </a:p>
          <a:p>
            <a:pPr indent="-292100" lvl="0" marL="457200" rtl="0" algn="l">
              <a:spcBef>
                <a:spcPts val="0"/>
              </a:spcBef>
              <a:spcAft>
                <a:spcPts val="0"/>
              </a:spcAft>
              <a:buSzPts val="1000"/>
              <a:buChar char="●"/>
            </a:pPr>
            <a:r>
              <a:rPr lang="en" sz="1000"/>
              <a:t>Crazy unscientific ideas are still alive</a:t>
            </a:r>
            <a:endParaRPr sz="1000"/>
          </a:p>
          <a:p>
            <a:pPr indent="-292100" lvl="0" marL="457200" rtl="0" algn="l">
              <a:spcBef>
                <a:spcPts val="0"/>
              </a:spcBef>
              <a:spcAft>
                <a:spcPts val="0"/>
              </a:spcAft>
              <a:buSzPts val="1000"/>
              <a:buChar char="●"/>
            </a:pPr>
            <a:r>
              <a:rPr lang="en" sz="1000"/>
              <a:t>Apparently, people like crazy ideas</a:t>
            </a:r>
            <a:endParaRPr sz="1000"/>
          </a:p>
          <a:p>
            <a:pPr indent="-292100" lvl="0" marL="457200" rtl="0" algn="l">
              <a:spcBef>
                <a:spcPts val="0"/>
              </a:spcBef>
              <a:spcAft>
                <a:spcPts val="0"/>
              </a:spcAft>
              <a:buSzPts val="1000"/>
              <a:buChar char="●"/>
            </a:pPr>
            <a:r>
              <a:rPr lang="en" sz="1000"/>
              <a:t>Why do people cling to crazy ideas?</a:t>
            </a:r>
            <a:endParaRPr sz="1000"/>
          </a:p>
          <a:p>
            <a:pPr indent="-292100" lvl="0" marL="457200" rtl="0" algn="l">
              <a:spcBef>
                <a:spcPts val="0"/>
              </a:spcBef>
              <a:spcAft>
                <a:spcPts val="0"/>
              </a:spcAft>
              <a:buSzPts val="1000"/>
              <a:buChar char="●"/>
            </a:pPr>
            <a:r>
              <a:rPr lang="en" sz="1000"/>
              <a:t>We believe in not-obviously crazy ideas as well, despite them not working</a:t>
            </a:r>
            <a:endParaRPr sz="1000"/>
          </a:p>
          <a:p>
            <a:pPr indent="-292100" lvl="0" marL="457200" rtl="0" algn="l">
              <a:spcBef>
                <a:spcPts val="0"/>
              </a:spcBef>
              <a:spcAft>
                <a:spcPts val="0"/>
              </a:spcAft>
              <a:buSzPts val="1000"/>
              <a:buChar char="●"/>
            </a:pPr>
            <a:r>
              <a:rPr lang="en" sz="1000"/>
              <a:t>Examples are today's methods of teaching, ways of treating criminals</a:t>
            </a:r>
            <a:endParaRPr sz="1000"/>
          </a:p>
          <a:p>
            <a:pPr indent="-292100" lvl="0" marL="457200" rtl="0" algn="l">
              <a:spcBef>
                <a:spcPts val="0"/>
              </a:spcBef>
              <a:spcAft>
                <a:spcPts val="0"/>
              </a:spcAft>
              <a:buSzPts val="1000"/>
              <a:buChar char="●"/>
            </a:pPr>
            <a:r>
              <a:rPr lang="en" sz="1000"/>
              <a:t>Sometimes good commonsense ideas are overruled by “science”</a:t>
            </a:r>
            <a:endParaRPr sz="1000"/>
          </a:p>
          <a:p>
            <a:pPr indent="-292100" lvl="0" marL="457200" rtl="0" algn="l">
              <a:spcBef>
                <a:spcPts val="0"/>
              </a:spcBef>
              <a:spcAft>
                <a:spcPts val="0"/>
              </a:spcAft>
              <a:buSzPts val="1000"/>
              <a:buChar char="●"/>
            </a:pPr>
            <a:r>
              <a:rPr lang="en" sz="1000"/>
              <a:t>The main measure of theory is: “does it work?”</a:t>
            </a:r>
            <a:endParaRPr sz="1000"/>
          </a:p>
          <a:p>
            <a:pPr indent="-292100" lvl="0" marL="457200" rtl="0" algn="l">
              <a:spcBef>
                <a:spcPts val="0"/>
              </a:spcBef>
              <a:spcAft>
                <a:spcPts val="0"/>
              </a:spcAft>
              <a:buSzPts val="1000"/>
              <a:buChar char="●"/>
            </a:pPr>
            <a:r>
              <a:rPr lang="en" sz="1000"/>
              <a:t>If a theory does not work, it is not science</a:t>
            </a:r>
            <a:endParaRPr sz="1000"/>
          </a:p>
          <a:p>
            <a:pPr indent="-292100" lvl="0" marL="457200" rtl="0" algn="l">
              <a:spcBef>
                <a:spcPts val="0"/>
              </a:spcBef>
              <a:spcAft>
                <a:spcPts val="0"/>
              </a:spcAft>
              <a:buClr>
                <a:schemeClr val="lt1"/>
              </a:buClr>
              <a:buSzPts val="1000"/>
              <a:buChar char="●"/>
            </a:pPr>
            <a:r>
              <a:rPr b="1" lang="en" sz="1000">
                <a:solidFill>
                  <a:schemeClr val="lt1"/>
                </a:solidFill>
                <a:highlight>
                  <a:schemeClr val="accent3"/>
                </a:highlight>
              </a:rPr>
              <a:t>Pseudoscience is nonsense that pretends to be science</a:t>
            </a:r>
            <a:endParaRPr b="1" sz="1000">
              <a:solidFill>
                <a:schemeClr val="lt1"/>
              </a:solidFill>
              <a:highlight>
                <a:schemeClr val="accent3"/>
              </a:highlight>
            </a:endParaRPr>
          </a:p>
          <a:p>
            <a:pPr indent="-292100" lvl="0" marL="457200" rtl="0" algn="l">
              <a:spcBef>
                <a:spcPts val="0"/>
              </a:spcBef>
              <a:spcAft>
                <a:spcPts val="0"/>
              </a:spcAft>
              <a:buSzPts val="1000"/>
              <a:buChar char="●"/>
            </a:pPr>
            <a:r>
              <a:rPr lang="en" sz="1000"/>
              <a:t>There is a lot of pseudoscience in psychology and education</a:t>
            </a:r>
            <a:endParaRPr sz="1000"/>
          </a:p>
          <a:p>
            <a:pPr indent="-292100" lvl="0" marL="457200" rtl="0" algn="l">
              <a:spcBef>
                <a:spcPts val="0"/>
              </a:spcBef>
              <a:spcAft>
                <a:spcPts val="0"/>
              </a:spcAft>
              <a:buSzPts val="1000"/>
              <a:buChar char="●"/>
            </a:pPr>
            <a:r>
              <a:rPr lang="en" sz="1000"/>
              <a:t>The cargo cult is an example of a people going through the motions without understanding</a:t>
            </a:r>
            <a:endParaRPr sz="1000"/>
          </a:p>
          <a:p>
            <a:pPr indent="-292100" lvl="0" marL="457200" rtl="0" algn="l">
              <a:spcBef>
                <a:spcPts val="0"/>
              </a:spcBef>
              <a:spcAft>
                <a:spcPts val="0"/>
              </a:spcAft>
              <a:buSzPts val="1000"/>
              <a:buChar char="●"/>
            </a:pPr>
            <a:r>
              <a:rPr lang="en" sz="1000"/>
              <a:t>Cargo cult science is pseudoscience---assumed science without understanding</a:t>
            </a:r>
            <a:endParaRPr sz="1000"/>
          </a:p>
          <a:p>
            <a:pPr indent="-292100" lvl="0" marL="457200" rtl="0" algn="l">
              <a:spcBef>
                <a:spcPts val="0"/>
              </a:spcBef>
              <a:spcAft>
                <a:spcPts val="0"/>
              </a:spcAft>
              <a:buSzPts val="1000"/>
              <a:buChar char="●"/>
            </a:pPr>
            <a:r>
              <a:rPr lang="en" sz="1000"/>
              <a:t>Cargo cult science lacks integrity, a key ingredient of science</a:t>
            </a:r>
            <a:endParaRPr sz="1000"/>
          </a:p>
          <a:p>
            <a:pPr indent="-292100" lvl="0" marL="457200" rtl="0" algn="l">
              <a:spcBef>
                <a:spcPts val="0"/>
              </a:spcBef>
              <a:spcAft>
                <a:spcPts val="0"/>
              </a:spcAft>
              <a:buSzPts val="1000"/>
              <a:buChar char="●"/>
            </a:pPr>
            <a:r>
              <a:rPr lang="en" sz="1000"/>
              <a:t>Integrity in science means reporting everything about an experiment</a:t>
            </a:r>
            <a:endParaRPr sz="1000"/>
          </a:p>
          <a:p>
            <a:pPr indent="-292100" lvl="0" marL="457200" rtl="0" algn="l">
              <a:spcBef>
                <a:spcPts val="0"/>
              </a:spcBef>
              <a:spcAft>
                <a:spcPts val="0"/>
              </a:spcAft>
              <a:buSzPts val="1000"/>
              <a:buChar char="●"/>
            </a:pPr>
            <a:r>
              <a:rPr lang="en" sz="1000"/>
              <a:t>In particular if the information invalidates an experiment</a:t>
            </a:r>
            <a:endParaRPr sz="1000"/>
          </a:p>
          <a:p>
            <a:pPr indent="-292100" lvl="0" marL="457200" rtl="0" algn="l">
              <a:spcBef>
                <a:spcPts val="0"/>
              </a:spcBef>
              <a:spcAft>
                <a:spcPts val="0"/>
              </a:spcAft>
              <a:buSzPts val="1000"/>
              <a:buChar char="●"/>
            </a:pPr>
            <a:r>
              <a:rPr lang="en" sz="1000"/>
              <a:t>When describing a theory, provide all facts you know, for and against it</a:t>
            </a:r>
            <a:endParaRPr sz="1000"/>
          </a:p>
          <a:p>
            <a:pPr indent="-292100" lvl="0" marL="457200" rtl="0" algn="l">
              <a:spcBef>
                <a:spcPts val="0"/>
              </a:spcBef>
              <a:spcAft>
                <a:spcPts val="0"/>
              </a:spcAft>
              <a:buClr>
                <a:schemeClr val="lt1"/>
              </a:buClr>
              <a:buSzPts val="1000"/>
              <a:buChar char="●"/>
            </a:pPr>
            <a:r>
              <a:rPr b="1" lang="en" sz="1000">
                <a:solidFill>
                  <a:schemeClr val="lt1"/>
                </a:solidFill>
                <a:highlight>
                  <a:schemeClr val="accent3"/>
                </a:highlight>
              </a:rPr>
              <a:t>Hallmark of a theory is that it predicts something in addition to know facts</a:t>
            </a:r>
            <a:endParaRPr b="1" sz="1000">
              <a:solidFill>
                <a:schemeClr val="lt1"/>
              </a:solidFill>
              <a:highlight>
                <a:schemeClr val="accent3"/>
              </a:highlight>
            </a:endParaRPr>
          </a:p>
          <a:p>
            <a:pPr indent="-292100" lvl="0" marL="457200" rtl="0" algn="l">
              <a:spcBef>
                <a:spcPts val="0"/>
              </a:spcBef>
              <a:spcAft>
                <a:spcPts val="0"/>
              </a:spcAft>
              <a:buSzPts val="1000"/>
              <a:buChar char="●"/>
            </a:pPr>
            <a:r>
              <a:rPr lang="en" sz="1000"/>
              <a:t>When doing science, empower others to properly judge your work</a:t>
            </a:r>
            <a:endParaRPr sz="1000"/>
          </a:p>
          <a:p>
            <a:pPr indent="-292100" lvl="0" marL="457200" rtl="0" algn="l">
              <a:spcBef>
                <a:spcPts val="0"/>
              </a:spcBef>
              <a:spcAft>
                <a:spcPts val="0"/>
              </a:spcAft>
              <a:buSzPts val="1000"/>
              <a:buChar char="●"/>
            </a:pPr>
            <a:r>
              <a:rPr lang="en" sz="1000"/>
              <a:t>Scientific integrity is more than just being honest; list all facts, cover all contexts</a:t>
            </a:r>
            <a:endParaRPr sz="1000"/>
          </a:p>
          <a:p>
            <a:pPr indent="-292100" lvl="0" marL="457200" rtl="0" algn="l">
              <a:spcBef>
                <a:spcPts val="0"/>
              </a:spcBef>
              <a:spcAft>
                <a:spcPts val="0"/>
              </a:spcAft>
              <a:buSzPts val="1000"/>
              <a:buChar char="●"/>
            </a:pPr>
            <a:r>
              <a:rPr lang="en" sz="1000"/>
              <a:t>Your reputation as a scientist depends on continued displayed integrity</a:t>
            </a:r>
            <a:endParaRPr sz="1000"/>
          </a:p>
          <a:p>
            <a:pPr indent="-292100" lvl="0" marL="457200" rtl="0" algn="l">
              <a:spcBef>
                <a:spcPts val="0"/>
              </a:spcBef>
              <a:spcAft>
                <a:spcPts val="0"/>
              </a:spcAft>
              <a:buSzPts val="1000"/>
              <a:buChar char="●"/>
            </a:pPr>
            <a:r>
              <a:rPr lang="en" sz="1000"/>
              <a:t>Scientists after Millikan were consciously or subconsciously anchored by his results</a:t>
            </a:r>
            <a:endParaRPr sz="1000"/>
          </a:p>
          <a:p>
            <a:pPr indent="-292100" lvl="0" marL="457200" rtl="0" algn="l">
              <a:spcBef>
                <a:spcPts val="0"/>
              </a:spcBef>
              <a:spcAft>
                <a:spcPts val="0"/>
              </a:spcAft>
              <a:buSzPts val="1000"/>
              <a:buChar char="●"/>
            </a:pPr>
            <a:r>
              <a:rPr lang="en" sz="1000"/>
              <a:t>Scientists manipulated results to conform with assumed truth</a:t>
            </a:r>
            <a:endParaRPr sz="1000"/>
          </a:p>
          <a:p>
            <a:pPr indent="-292100" lvl="0" marL="457200" rtl="0" algn="l">
              <a:spcBef>
                <a:spcPts val="0"/>
              </a:spcBef>
              <a:spcAft>
                <a:spcPts val="0"/>
              </a:spcAft>
              <a:buClr>
                <a:schemeClr val="lt1"/>
              </a:buClr>
              <a:buSzPts val="1000"/>
              <a:buChar char="●"/>
            </a:pPr>
            <a:r>
              <a:rPr b="1" lang="en" sz="1000">
                <a:solidFill>
                  <a:schemeClr val="lt1"/>
                </a:solidFill>
                <a:highlight>
                  <a:schemeClr val="accent3"/>
                </a:highlight>
              </a:rPr>
              <a:t>Science is a social endeavor</a:t>
            </a:r>
            <a:endParaRPr b="1" sz="1000">
              <a:solidFill>
                <a:schemeClr val="lt1"/>
              </a:solidFill>
              <a:highlight>
                <a:schemeClr val="accent3"/>
              </a:highlight>
            </a:endParaRPr>
          </a:p>
          <a:p>
            <a:pPr indent="-292100" lvl="0" marL="457200" rtl="0" algn="l">
              <a:spcBef>
                <a:spcPts val="0"/>
              </a:spcBef>
              <a:spcAft>
                <a:spcPts val="0"/>
              </a:spcAft>
              <a:buSzPts val="1000"/>
              <a:buChar char="●"/>
            </a:pPr>
            <a:r>
              <a:rPr lang="en" sz="1000"/>
              <a:t>First principle of scientific integrity: Don't fool yourself</a:t>
            </a:r>
            <a:endParaRPr sz="1000"/>
          </a:p>
          <a:p>
            <a:pPr indent="-292100" lvl="0" marL="457200" rtl="0" algn="l">
              <a:spcBef>
                <a:spcPts val="0"/>
              </a:spcBef>
              <a:spcAft>
                <a:spcPts val="0"/>
              </a:spcAft>
              <a:buSzPts val="1000"/>
              <a:buChar char="●"/>
            </a:pPr>
            <a:r>
              <a:rPr lang="en" sz="1000"/>
              <a:t>Second principle of scientific integrity: Don't fool others</a:t>
            </a:r>
            <a:endParaRPr sz="1000"/>
          </a:p>
          <a:p>
            <a:pPr indent="-292100" lvl="0" marL="457200" rtl="0" algn="l">
              <a:spcBef>
                <a:spcPts val="0"/>
              </a:spcBef>
              <a:spcAft>
                <a:spcPts val="0"/>
              </a:spcAft>
              <a:buSzPts val="1000"/>
              <a:buChar char="●"/>
            </a:pPr>
            <a:r>
              <a:rPr lang="en" sz="1000"/>
              <a:t>Also, don't lie to non-experts; treat them with the same integrity as other scientists</a:t>
            </a:r>
            <a:endParaRPr sz="1000"/>
          </a:p>
          <a:p>
            <a:pPr indent="-292100" lvl="0" marL="457200" rtl="0" algn="l">
              <a:spcBef>
                <a:spcPts val="0"/>
              </a:spcBef>
              <a:spcAft>
                <a:spcPts val="0"/>
              </a:spcAft>
              <a:buSzPts val="1000"/>
              <a:buChar char="●"/>
            </a:pPr>
            <a:r>
              <a:rPr lang="en" sz="1000"/>
              <a:t>Publish all your findings; those matching your theory and those which don't</a:t>
            </a:r>
            <a:endParaRPr sz="1000"/>
          </a:p>
          <a:p>
            <a:pPr indent="-292100" lvl="0" marL="457200" rtl="0" algn="l">
              <a:spcBef>
                <a:spcPts val="0"/>
              </a:spcBef>
              <a:spcAft>
                <a:spcPts val="0"/>
              </a:spcAft>
              <a:buSzPts val="1000"/>
              <a:buChar char="●"/>
            </a:pPr>
            <a:r>
              <a:rPr lang="en" sz="1000"/>
              <a:t>Do not be swayed by inconvenient results; remain honest and publish anyway</a:t>
            </a:r>
            <a:endParaRPr sz="1000"/>
          </a:p>
          <a:p>
            <a:pPr indent="-292100" lvl="0" marL="457200" rtl="0" algn="l">
              <a:spcBef>
                <a:spcPts val="0"/>
              </a:spcBef>
              <a:spcAft>
                <a:spcPts val="0"/>
              </a:spcAft>
              <a:buSzPts val="1000"/>
              <a:buChar char="●"/>
            </a:pPr>
            <a:r>
              <a:rPr lang="en" sz="1000"/>
              <a:t>Repeating experiments is necessary to build on them properly</a:t>
            </a:r>
            <a:endParaRPr sz="1000"/>
          </a:p>
          <a:p>
            <a:pPr indent="-292100" lvl="0" marL="457200" rtl="0" algn="l">
              <a:spcBef>
                <a:spcPts val="0"/>
              </a:spcBef>
              <a:spcAft>
                <a:spcPts val="0"/>
              </a:spcAft>
              <a:buSzPts val="1000"/>
              <a:buChar char="●"/>
            </a:pPr>
            <a:r>
              <a:rPr lang="en" sz="1000"/>
              <a:t>It is not of integrity to skip repeating experiments just because you don't get time/money/publications for it</a:t>
            </a:r>
            <a:endParaRPr sz="1000"/>
          </a:p>
          <a:p>
            <a:pPr indent="-292100" lvl="0" marL="457200" rtl="0" algn="l">
              <a:spcBef>
                <a:spcPts val="0"/>
              </a:spcBef>
              <a:spcAft>
                <a:spcPts val="0"/>
              </a:spcAft>
              <a:buSzPts val="1000"/>
              <a:buChar char="●"/>
            </a:pPr>
            <a:r>
              <a:rPr lang="en" sz="1000"/>
              <a:t>Pay attention to method, build understanding, don't run on assumptions</a:t>
            </a:r>
            <a:endParaRPr sz="1000"/>
          </a:p>
          <a:p>
            <a:pPr indent="-292100" lvl="0" marL="457200" rtl="0" algn="l">
              <a:spcBef>
                <a:spcPts val="0"/>
              </a:spcBef>
              <a:spcAft>
                <a:spcPts val="0"/>
              </a:spcAft>
              <a:buSzPts val="1000"/>
              <a:buChar char="●"/>
            </a:pPr>
            <a:r>
              <a:rPr b="1" lang="en" sz="1000">
                <a:highlight>
                  <a:schemeClr val="lt1"/>
                </a:highlight>
              </a:rPr>
              <a:t>A key property of science is that experiments are repeatable</a:t>
            </a:r>
            <a:endParaRPr b="1" sz="1000">
              <a:highlight>
                <a:schemeClr val="lt1"/>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Step 2.a: Synthesize Concepts </a:t>
            </a:r>
            <a:endParaRPr/>
          </a:p>
        </p:txBody>
      </p:sp>
      <p:sp>
        <p:nvSpPr>
          <p:cNvPr id="89" name="Google Shape;89;p16"/>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
        <p:nvSpPr>
          <p:cNvPr id="90" name="Google Shape;90;p16"/>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292100" lvl="0" marL="457200" rtl="0" algn="l">
              <a:spcBef>
                <a:spcPts val="0"/>
              </a:spcBef>
              <a:spcAft>
                <a:spcPts val="0"/>
              </a:spcAft>
              <a:buClr>
                <a:schemeClr val="lt1"/>
              </a:buClr>
              <a:buSzPts val="1000"/>
              <a:buChar char="●"/>
            </a:pPr>
            <a:r>
              <a:rPr b="1" lang="en" sz="1000">
                <a:solidFill>
                  <a:schemeClr val="lt1"/>
                </a:solidFill>
                <a:highlight>
                  <a:schemeClr val="accent3"/>
                </a:highlight>
              </a:rPr>
              <a:t>Crazy ideas historically</a:t>
            </a:r>
            <a:endParaRPr b="1" sz="1000">
              <a:solidFill>
                <a:schemeClr val="lt1"/>
              </a:solidFill>
              <a:highlight>
                <a:schemeClr val="accent3"/>
              </a:highlight>
            </a:endParaRPr>
          </a:p>
          <a:p>
            <a:pPr indent="-292100" lvl="1" marL="914400" rtl="0" algn="l">
              <a:spcBef>
                <a:spcPts val="0"/>
              </a:spcBef>
              <a:spcAft>
                <a:spcPts val="0"/>
              </a:spcAft>
              <a:buSzPts val="1000"/>
              <a:buChar char="○"/>
            </a:pPr>
            <a:r>
              <a:rPr lang="en" sz="1000"/>
              <a:t>Historically, out of crazy ideas, science</a:t>
            </a:r>
            <a:endParaRPr sz="1000"/>
          </a:p>
          <a:p>
            <a:pPr indent="-292100" lvl="1" marL="914400" rtl="0" algn="l">
              <a:spcBef>
                <a:spcPts val="0"/>
              </a:spcBef>
              <a:spcAft>
                <a:spcPts val="0"/>
              </a:spcAft>
              <a:buSzPts val="1000"/>
              <a:buChar char="○"/>
            </a:pPr>
            <a:r>
              <a:rPr lang="en" sz="1000"/>
              <a:t>The method of science: eliminate crazy ideas</a:t>
            </a:r>
            <a:endParaRPr sz="1000"/>
          </a:p>
          <a:p>
            <a:pPr indent="-292100" lvl="0" marL="457200" rtl="0" algn="l">
              <a:spcBef>
                <a:spcPts val="0"/>
              </a:spcBef>
              <a:spcAft>
                <a:spcPts val="0"/>
              </a:spcAft>
              <a:buClr>
                <a:schemeClr val="lt1"/>
              </a:buClr>
              <a:buSzPts val="1000"/>
              <a:buChar char="●"/>
            </a:pPr>
            <a:r>
              <a:rPr b="1" lang="en" sz="1000">
                <a:solidFill>
                  <a:schemeClr val="lt1"/>
                </a:solidFill>
                <a:highlight>
                  <a:schemeClr val="accent3"/>
                </a:highlight>
              </a:rPr>
              <a:t>Crazy ideas today</a:t>
            </a:r>
            <a:endParaRPr b="1" sz="1000">
              <a:solidFill>
                <a:schemeClr val="lt1"/>
              </a:solidFill>
              <a:highlight>
                <a:schemeClr val="accent3"/>
              </a:highlight>
            </a:endParaRPr>
          </a:p>
          <a:p>
            <a:pPr indent="-292100" lvl="1" marL="914400" rtl="0" algn="l">
              <a:spcBef>
                <a:spcPts val="0"/>
              </a:spcBef>
              <a:spcAft>
                <a:spcPts val="0"/>
              </a:spcAft>
              <a:buSzPts val="1000"/>
              <a:buChar char="○"/>
            </a:pPr>
            <a:r>
              <a:rPr lang="en" sz="1000"/>
              <a:t>Crazy unscientific ideas are still alive</a:t>
            </a:r>
            <a:endParaRPr sz="1000"/>
          </a:p>
          <a:p>
            <a:pPr indent="-292100" lvl="1" marL="914400" rtl="0" algn="l">
              <a:spcBef>
                <a:spcPts val="0"/>
              </a:spcBef>
              <a:spcAft>
                <a:spcPts val="0"/>
              </a:spcAft>
              <a:buSzPts val="1000"/>
              <a:buChar char="○"/>
            </a:pPr>
            <a:r>
              <a:rPr lang="en" sz="1000"/>
              <a:t>Apparently, people like crazy ideas</a:t>
            </a:r>
            <a:endParaRPr sz="1000"/>
          </a:p>
          <a:p>
            <a:pPr indent="-292100" lvl="1" marL="914400" rtl="0" algn="l">
              <a:spcBef>
                <a:spcPts val="0"/>
              </a:spcBef>
              <a:spcAft>
                <a:spcPts val="0"/>
              </a:spcAft>
              <a:buSzPts val="1000"/>
              <a:buChar char="○"/>
            </a:pPr>
            <a:r>
              <a:rPr lang="en" sz="1000"/>
              <a:t>Why do people cling to crazy ideas?</a:t>
            </a:r>
            <a:endParaRPr sz="1000"/>
          </a:p>
          <a:p>
            <a:pPr indent="-292100" lvl="1" marL="914400" rtl="0" algn="l">
              <a:spcBef>
                <a:spcPts val="0"/>
              </a:spcBef>
              <a:spcAft>
                <a:spcPts val="0"/>
              </a:spcAft>
              <a:buSzPts val="1000"/>
              <a:buChar char="○"/>
            </a:pPr>
            <a:r>
              <a:rPr lang="en" sz="1000"/>
              <a:t>We believe in not-obviously crazy ideas as well, despite them not working</a:t>
            </a:r>
            <a:endParaRPr sz="1000"/>
          </a:p>
          <a:p>
            <a:pPr indent="-292100" lvl="1" marL="914400" rtl="0" algn="l">
              <a:spcBef>
                <a:spcPts val="0"/>
              </a:spcBef>
              <a:spcAft>
                <a:spcPts val="0"/>
              </a:spcAft>
              <a:buSzPts val="1000"/>
              <a:buChar char="○"/>
            </a:pPr>
            <a:r>
              <a:rPr lang="en" sz="1000"/>
              <a:t>Examples are methods of teaching, decreasing crime by treating criminals</a:t>
            </a:r>
            <a:endParaRPr sz="1000"/>
          </a:p>
          <a:p>
            <a:pPr indent="-292100" lvl="0" marL="457200" rtl="0" algn="l">
              <a:spcBef>
                <a:spcPts val="0"/>
              </a:spcBef>
              <a:spcAft>
                <a:spcPts val="0"/>
              </a:spcAft>
              <a:buClr>
                <a:schemeClr val="lt1"/>
              </a:buClr>
              <a:buSzPts val="1000"/>
              <a:buChar char="●"/>
            </a:pPr>
            <a:r>
              <a:rPr b="1" lang="en" sz="1000">
                <a:solidFill>
                  <a:schemeClr val="lt1"/>
                </a:solidFill>
                <a:highlight>
                  <a:schemeClr val="accent3"/>
                </a:highlight>
              </a:rPr>
              <a:t>Pseudoscience as one form of today's crazy ideas</a:t>
            </a:r>
            <a:endParaRPr b="1" sz="1000">
              <a:solidFill>
                <a:schemeClr val="lt1"/>
              </a:solidFill>
              <a:highlight>
                <a:schemeClr val="accent3"/>
              </a:highlight>
            </a:endParaRPr>
          </a:p>
          <a:p>
            <a:pPr indent="-292100" lvl="1" marL="914400" rtl="0" algn="l">
              <a:spcBef>
                <a:spcPts val="0"/>
              </a:spcBef>
              <a:spcAft>
                <a:spcPts val="0"/>
              </a:spcAft>
              <a:buSzPts val="1000"/>
              <a:buChar char="○"/>
            </a:pPr>
            <a:r>
              <a:rPr lang="en" sz="1000"/>
              <a:t>Sometimes good commonsense ideas are overruled by „science“</a:t>
            </a:r>
            <a:endParaRPr sz="1000"/>
          </a:p>
          <a:p>
            <a:pPr indent="-292100" lvl="1" marL="914400" rtl="0" algn="l">
              <a:spcBef>
                <a:spcPts val="0"/>
              </a:spcBef>
              <a:spcAft>
                <a:spcPts val="0"/>
              </a:spcAft>
              <a:buClr>
                <a:schemeClr val="lt1"/>
              </a:buClr>
              <a:buSzPts val="1000"/>
              <a:buChar char="○"/>
            </a:pPr>
            <a:r>
              <a:rPr b="1" lang="en" sz="1000">
                <a:solidFill>
                  <a:schemeClr val="lt1"/>
                </a:solidFill>
                <a:highlight>
                  <a:schemeClr val="accent3"/>
                </a:highlight>
              </a:rPr>
              <a:t>Pseudoscience is nonsense that pretends to be science</a:t>
            </a:r>
            <a:endParaRPr b="1" sz="1000">
              <a:solidFill>
                <a:schemeClr val="lt1"/>
              </a:solidFill>
              <a:highlight>
                <a:schemeClr val="accent3"/>
              </a:highlight>
            </a:endParaRPr>
          </a:p>
          <a:p>
            <a:pPr indent="-292100" lvl="1" marL="914400" rtl="0" algn="l">
              <a:spcBef>
                <a:spcPts val="0"/>
              </a:spcBef>
              <a:spcAft>
                <a:spcPts val="0"/>
              </a:spcAft>
              <a:buSzPts val="1000"/>
              <a:buChar char="○"/>
            </a:pPr>
            <a:r>
              <a:rPr lang="en" sz="1000"/>
              <a:t>There is a lot of pseudoscience in psychology and education</a:t>
            </a:r>
            <a:endParaRPr sz="1000"/>
          </a:p>
          <a:p>
            <a:pPr indent="-292100" lvl="1" marL="914400" rtl="0" algn="l">
              <a:spcBef>
                <a:spcPts val="0"/>
              </a:spcBef>
              <a:spcAft>
                <a:spcPts val="0"/>
              </a:spcAft>
              <a:buSzPts val="1000"/>
              <a:buChar char="○"/>
            </a:pPr>
            <a:r>
              <a:rPr lang="en" sz="1000"/>
              <a:t>The cargo cult is an example of a people going through the motions without understanding</a:t>
            </a:r>
            <a:endParaRPr sz="1000"/>
          </a:p>
          <a:p>
            <a:pPr indent="-292100" lvl="1" marL="914400" rtl="0" algn="l">
              <a:spcBef>
                <a:spcPts val="0"/>
              </a:spcBef>
              <a:spcAft>
                <a:spcPts val="0"/>
              </a:spcAft>
              <a:buSzPts val="1000"/>
              <a:buChar char="○"/>
            </a:pPr>
            <a:r>
              <a:rPr lang="en" sz="1000"/>
              <a:t>Cargo cult science is pseudoscience---assumed science without understanding</a:t>
            </a:r>
            <a:endParaRPr sz="1000"/>
          </a:p>
          <a:p>
            <a:pPr indent="-292100" lvl="0" marL="457200" rtl="0" algn="l">
              <a:spcBef>
                <a:spcPts val="0"/>
              </a:spcBef>
              <a:spcAft>
                <a:spcPts val="0"/>
              </a:spcAft>
              <a:buClr>
                <a:schemeClr val="lt1"/>
              </a:buClr>
              <a:buSzPts val="1000"/>
              <a:buChar char="●"/>
            </a:pPr>
            <a:r>
              <a:rPr b="1" lang="en" sz="1000">
                <a:solidFill>
                  <a:schemeClr val="lt1"/>
                </a:solidFill>
                <a:highlight>
                  <a:schemeClr val="accent3"/>
                </a:highlight>
              </a:rPr>
              <a:t>Main criteria that define good science</a:t>
            </a:r>
            <a:endParaRPr b="1" sz="1000">
              <a:solidFill>
                <a:schemeClr val="lt1"/>
              </a:solidFill>
              <a:highlight>
                <a:schemeClr val="accent3"/>
              </a:highlight>
            </a:endParaRPr>
          </a:p>
          <a:p>
            <a:pPr indent="-292100" lvl="1" marL="914400" rtl="0" algn="l">
              <a:spcBef>
                <a:spcPts val="0"/>
              </a:spcBef>
              <a:spcAft>
                <a:spcPts val="0"/>
              </a:spcAft>
              <a:buSzPts val="1000"/>
              <a:buChar char="○"/>
            </a:pPr>
            <a:r>
              <a:rPr lang="en" sz="1000"/>
              <a:t>The main measure of theory is: “does it work?”</a:t>
            </a:r>
            <a:endParaRPr sz="1000"/>
          </a:p>
          <a:p>
            <a:pPr indent="-292100" lvl="1" marL="914400" rtl="0" algn="l">
              <a:spcBef>
                <a:spcPts val="0"/>
              </a:spcBef>
              <a:spcAft>
                <a:spcPts val="0"/>
              </a:spcAft>
              <a:buSzPts val="1000"/>
              <a:buChar char="○"/>
            </a:pPr>
            <a:r>
              <a:rPr lang="en" sz="1000"/>
              <a:t>If a theory does not work, it is not science</a:t>
            </a:r>
            <a:endParaRPr sz="1000"/>
          </a:p>
          <a:p>
            <a:pPr indent="-292100" lvl="1" marL="914400" rtl="0" algn="l">
              <a:spcBef>
                <a:spcPts val="0"/>
              </a:spcBef>
              <a:spcAft>
                <a:spcPts val="0"/>
              </a:spcAft>
              <a:buSzPts val="1000"/>
              <a:buChar char="○"/>
            </a:pPr>
            <a:r>
              <a:rPr lang="en" sz="1000"/>
              <a:t>Cargo cult science lacks integrity, a key ingredient of science</a:t>
            </a:r>
            <a:endParaRPr sz="1000"/>
          </a:p>
          <a:p>
            <a:pPr indent="-292100" lvl="1" marL="914400" rtl="0" algn="l">
              <a:spcBef>
                <a:spcPts val="0"/>
              </a:spcBef>
              <a:spcAft>
                <a:spcPts val="0"/>
              </a:spcAft>
              <a:buSzPts val="1000"/>
              <a:buChar char="○"/>
            </a:pPr>
            <a:r>
              <a:rPr lang="en" sz="1000"/>
              <a:t>When describing a theory, provide all facts you know, for and against it</a:t>
            </a:r>
            <a:endParaRPr sz="1000"/>
          </a:p>
          <a:p>
            <a:pPr indent="-292100" lvl="1" marL="914400" rtl="0" algn="l">
              <a:spcBef>
                <a:spcPts val="0"/>
              </a:spcBef>
              <a:spcAft>
                <a:spcPts val="0"/>
              </a:spcAft>
              <a:buClr>
                <a:schemeClr val="lt1"/>
              </a:buClr>
              <a:buSzPts val="1000"/>
              <a:buChar char="○"/>
            </a:pPr>
            <a:r>
              <a:rPr b="1" lang="en" sz="1000">
                <a:solidFill>
                  <a:schemeClr val="lt1"/>
                </a:solidFill>
                <a:highlight>
                  <a:schemeClr val="accent3"/>
                </a:highlight>
              </a:rPr>
              <a:t>Hallmark of a theory is that it predicts something in addition to know facts</a:t>
            </a:r>
            <a:endParaRPr b="1" sz="1000">
              <a:solidFill>
                <a:schemeClr val="lt1"/>
              </a:solidFill>
              <a:highlight>
                <a:schemeClr val="accent3"/>
              </a:highlight>
            </a:endParaRPr>
          </a:p>
          <a:p>
            <a:pPr indent="-292100" lvl="1" marL="914400" rtl="0" algn="l">
              <a:spcBef>
                <a:spcPts val="0"/>
              </a:spcBef>
              <a:spcAft>
                <a:spcPts val="0"/>
              </a:spcAft>
              <a:buSzPts val="1000"/>
              <a:buChar char="○"/>
            </a:pPr>
            <a:r>
              <a:rPr lang="en" sz="1000"/>
              <a:t>When doing science, empower others to properly judge your work</a:t>
            </a:r>
            <a:endParaRPr sz="1000"/>
          </a:p>
          <a:p>
            <a:pPr indent="-292100" lvl="1" marL="914400" rtl="0" algn="l">
              <a:spcBef>
                <a:spcPts val="0"/>
              </a:spcBef>
              <a:spcAft>
                <a:spcPts val="0"/>
              </a:spcAft>
              <a:buSzPts val="1000"/>
              <a:buChar char="○"/>
            </a:pPr>
            <a:r>
              <a:rPr lang="en" sz="1000"/>
              <a:t>Scientific integrity is more than just being honest; list all facts, cover all contexts</a:t>
            </a:r>
            <a:endParaRPr sz="1000"/>
          </a:p>
          <a:p>
            <a:pPr indent="-292100" lvl="1" marL="914400" rtl="0" algn="l">
              <a:spcBef>
                <a:spcPts val="0"/>
              </a:spcBef>
              <a:spcAft>
                <a:spcPts val="0"/>
              </a:spcAft>
              <a:buSzPts val="1000"/>
              <a:buChar char="○"/>
            </a:pPr>
            <a:r>
              <a:rPr lang="en" sz="1000"/>
              <a:t>Your reputation as a scientist depends on continued displayed integrity</a:t>
            </a:r>
            <a:endParaRPr sz="1000"/>
          </a:p>
          <a:p>
            <a:pPr indent="-292100" lvl="1" marL="914400" rtl="0" algn="l">
              <a:spcBef>
                <a:spcPts val="0"/>
              </a:spcBef>
              <a:spcAft>
                <a:spcPts val="0"/>
              </a:spcAft>
              <a:buSzPts val="1000"/>
              <a:buChar char="○"/>
            </a:pPr>
            <a:r>
              <a:rPr lang="en" sz="1000"/>
              <a:t>Publish all your findings; those matching your theory and those which don't</a:t>
            </a:r>
            <a:endParaRPr sz="1000"/>
          </a:p>
          <a:p>
            <a:pPr indent="-292100" lvl="1" marL="914400" rtl="0" algn="l">
              <a:spcBef>
                <a:spcPts val="0"/>
              </a:spcBef>
              <a:spcAft>
                <a:spcPts val="0"/>
              </a:spcAft>
              <a:buSzPts val="1000"/>
              <a:buChar char="○"/>
            </a:pPr>
            <a:r>
              <a:rPr lang="en" sz="1000"/>
              <a:t>Do not be swayed by inconvenient results; remain honest and publish anyway</a:t>
            </a:r>
            <a:endParaRPr sz="1000"/>
          </a:p>
          <a:p>
            <a:pPr indent="-292100" lvl="0" marL="457200" rtl="0" algn="l">
              <a:spcBef>
                <a:spcPts val="0"/>
              </a:spcBef>
              <a:spcAft>
                <a:spcPts val="0"/>
              </a:spcAft>
              <a:buClr>
                <a:schemeClr val="lt1"/>
              </a:buClr>
              <a:buSzPts val="1000"/>
              <a:buChar char="●"/>
            </a:pPr>
            <a:r>
              <a:rPr b="1" lang="en" sz="1000">
                <a:solidFill>
                  <a:schemeClr val="lt1"/>
                </a:solidFill>
                <a:highlight>
                  <a:schemeClr val="accent3"/>
                </a:highlight>
              </a:rPr>
              <a:t>Experiments as a key method of science</a:t>
            </a:r>
            <a:endParaRPr b="1" sz="1000">
              <a:solidFill>
                <a:schemeClr val="lt1"/>
              </a:solidFill>
              <a:highlight>
                <a:schemeClr val="accent3"/>
              </a:highlight>
            </a:endParaRPr>
          </a:p>
          <a:p>
            <a:pPr indent="-292100" lvl="1" marL="914400" rtl="0" algn="l">
              <a:spcBef>
                <a:spcPts val="0"/>
              </a:spcBef>
              <a:spcAft>
                <a:spcPts val="0"/>
              </a:spcAft>
              <a:buSzPts val="1000"/>
              <a:buChar char="○"/>
            </a:pPr>
            <a:r>
              <a:rPr lang="en" sz="1000"/>
              <a:t>Integrity in science means reporting everything about an experiment</a:t>
            </a:r>
            <a:endParaRPr sz="1000"/>
          </a:p>
          <a:p>
            <a:pPr indent="-292100" lvl="1" marL="914400" rtl="0" algn="l">
              <a:spcBef>
                <a:spcPts val="0"/>
              </a:spcBef>
              <a:spcAft>
                <a:spcPts val="0"/>
              </a:spcAft>
              <a:buSzPts val="1000"/>
              <a:buChar char="○"/>
            </a:pPr>
            <a:r>
              <a:rPr lang="en" sz="1000"/>
              <a:t>In particular if the information invalidates an experiment</a:t>
            </a:r>
            <a:endParaRPr sz="1000"/>
          </a:p>
          <a:p>
            <a:pPr indent="-292100" lvl="1" marL="914400" rtl="0" algn="l">
              <a:spcBef>
                <a:spcPts val="0"/>
              </a:spcBef>
              <a:spcAft>
                <a:spcPts val="0"/>
              </a:spcAft>
              <a:buSzPts val="1000"/>
              <a:buChar char="○"/>
            </a:pPr>
            <a:r>
              <a:rPr lang="en" sz="1000"/>
              <a:t>Scientists after Millikan were consciously or subconsciously anchored by his results</a:t>
            </a:r>
            <a:endParaRPr sz="1000"/>
          </a:p>
          <a:p>
            <a:pPr indent="-292100" lvl="1" marL="914400" rtl="0" algn="l">
              <a:spcBef>
                <a:spcPts val="0"/>
              </a:spcBef>
              <a:spcAft>
                <a:spcPts val="0"/>
              </a:spcAft>
              <a:buSzPts val="1000"/>
              <a:buChar char="○"/>
            </a:pPr>
            <a:r>
              <a:rPr lang="en" sz="1000"/>
              <a:t>Scientists manipulated results to conform with assumed truth</a:t>
            </a:r>
            <a:endParaRPr sz="1000"/>
          </a:p>
          <a:p>
            <a:pPr indent="-292100" lvl="1" marL="914400" rtl="0" algn="l">
              <a:spcBef>
                <a:spcPts val="0"/>
              </a:spcBef>
              <a:spcAft>
                <a:spcPts val="0"/>
              </a:spcAft>
              <a:buSzPts val="1000"/>
              <a:buChar char="○"/>
            </a:pPr>
            <a:r>
              <a:rPr lang="en" sz="1000"/>
              <a:t>Repeating experiments is necessary to build on them properly</a:t>
            </a:r>
            <a:endParaRPr sz="1000"/>
          </a:p>
          <a:p>
            <a:pPr indent="-292100" lvl="1" marL="914400" rtl="0" algn="l">
              <a:spcBef>
                <a:spcPts val="0"/>
              </a:spcBef>
              <a:spcAft>
                <a:spcPts val="0"/>
              </a:spcAft>
              <a:buSzPts val="1000"/>
              <a:buChar char="○"/>
            </a:pPr>
            <a:r>
              <a:rPr lang="en" sz="1000"/>
              <a:t>It is not of integrity to not repeat experiments because you don't get time/money/publications for it</a:t>
            </a:r>
            <a:endParaRPr sz="1000"/>
          </a:p>
          <a:p>
            <a:pPr indent="-292100" lvl="1" marL="914400" rtl="0" algn="l">
              <a:spcBef>
                <a:spcPts val="0"/>
              </a:spcBef>
              <a:spcAft>
                <a:spcPts val="0"/>
              </a:spcAft>
              <a:buSzPts val="1000"/>
              <a:buChar char="○"/>
            </a:pPr>
            <a:r>
              <a:rPr lang="en" sz="1000"/>
              <a:t>Pay attention to method, build understanding, don't run on assumptions</a:t>
            </a:r>
            <a:endParaRPr sz="1000"/>
          </a:p>
          <a:p>
            <a:pPr indent="-292100" lvl="1" marL="914400" rtl="0" algn="l">
              <a:spcBef>
                <a:spcPts val="0"/>
              </a:spcBef>
              <a:spcAft>
                <a:spcPts val="0"/>
              </a:spcAft>
              <a:buClr>
                <a:schemeClr val="lt1"/>
              </a:buClr>
              <a:buSzPts val="1000"/>
              <a:buChar char="○"/>
            </a:pPr>
            <a:r>
              <a:rPr b="1" lang="en" sz="1000">
                <a:solidFill>
                  <a:schemeClr val="lt1"/>
                </a:solidFill>
                <a:highlight>
                  <a:schemeClr val="accent3"/>
                </a:highlight>
              </a:rPr>
              <a:t>A key property of science is that experiments are repeatable</a:t>
            </a:r>
            <a:endParaRPr b="1" sz="1000">
              <a:solidFill>
                <a:schemeClr val="lt1"/>
              </a:solidFill>
              <a:highlight>
                <a:schemeClr val="accent3"/>
              </a:highlight>
            </a:endParaRPr>
          </a:p>
          <a:p>
            <a:pPr indent="-292100" lvl="0" marL="457200" rtl="0" algn="l">
              <a:spcBef>
                <a:spcPts val="0"/>
              </a:spcBef>
              <a:spcAft>
                <a:spcPts val="0"/>
              </a:spcAft>
              <a:buClr>
                <a:schemeClr val="lt1"/>
              </a:buClr>
              <a:buSzPts val="1000"/>
              <a:buChar char="●"/>
            </a:pPr>
            <a:r>
              <a:rPr b="1" lang="en" sz="1000">
                <a:solidFill>
                  <a:schemeClr val="lt1"/>
                </a:solidFill>
                <a:highlight>
                  <a:schemeClr val="accent3"/>
                </a:highlight>
              </a:rPr>
              <a:t>Integrity in science</a:t>
            </a:r>
            <a:endParaRPr b="1" sz="1000">
              <a:solidFill>
                <a:schemeClr val="lt1"/>
              </a:solidFill>
              <a:highlight>
                <a:schemeClr val="accent3"/>
              </a:highlight>
            </a:endParaRPr>
          </a:p>
          <a:p>
            <a:pPr indent="-292100" lvl="1" marL="914400" rtl="0" algn="l">
              <a:spcBef>
                <a:spcPts val="0"/>
              </a:spcBef>
              <a:spcAft>
                <a:spcPts val="0"/>
              </a:spcAft>
              <a:buSzPts val="1000"/>
              <a:buChar char="○"/>
            </a:pPr>
            <a:r>
              <a:rPr lang="en" sz="1000"/>
              <a:t>First principle of scientific integrity: Don't fool yourself</a:t>
            </a:r>
            <a:endParaRPr sz="1000"/>
          </a:p>
          <a:p>
            <a:pPr indent="-292100" lvl="1" marL="914400" rtl="0" algn="l">
              <a:spcBef>
                <a:spcPts val="0"/>
              </a:spcBef>
              <a:spcAft>
                <a:spcPts val="0"/>
              </a:spcAft>
              <a:buSzPts val="1000"/>
              <a:buChar char="○"/>
            </a:pPr>
            <a:r>
              <a:rPr lang="en" sz="1000"/>
              <a:t>Second principle of scientific integrity: Don't fool others</a:t>
            </a:r>
            <a:endParaRPr sz="1000"/>
          </a:p>
          <a:p>
            <a:pPr indent="-292100" lvl="1" marL="914400" rtl="0" algn="l">
              <a:spcBef>
                <a:spcPts val="0"/>
              </a:spcBef>
              <a:spcAft>
                <a:spcPts val="0"/>
              </a:spcAft>
              <a:buSzPts val="1000"/>
              <a:buChar char="○"/>
            </a:pPr>
            <a:r>
              <a:rPr lang="en" sz="1000"/>
              <a:t>Also, don't lie to non-experts; treat them with the same integrity as other scientists</a:t>
            </a:r>
            <a:endParaRPr sz="1000"/>
          </a:p>
          <a:p>
            <a:pPr indent="-292100" lvl="0" marL="457200" rtl="0" algn="l">
              <a:spcBef>
                <a:spcPts val="0"/>
              </a:spcBef>
              <a:spcAft>
                <a:spcPts val="0"/>
              </a:spcAft>
              <a:buClr>
                <a:schemeClr val="lt1"/>
              </a:buClr>
              <a:buSzPts val="1000"/>
              <a:buChar char="●"/>
            </a:pPr>
            <a:r>
              <a:rPr b="1" lang="en" sz="1000">
                <a:solidFill>
                  <a:schemeClr val="lt1"/>
                </a:solidFill>
                <a:highlight>
                  <a:schemeClr val="accent3"/>
                </a:highlight>
              </a:rPr>
              <a:t>Science is a social endeavor</a:t>
            </a:r>
            <a:endParaRPr b="1" sz="1000">
              <a:solidFill>
                <a:schemeClr val="lt1"/>
              </a:solidFill>
              <a:highlight>
                <a:schemeClr val="accent3"/>
              </a:highlight>
            </a:endParaRPr>
          </a:p>
          <a:p>
            <a:pPr indent="0" lvl="0" marL="0" rtl="0" algn="l">
              <a:spcBef>
                <a:spcPts val="1200"/>
              </a:spcBef>
              <a:spcAft>
                <a:spcPts val="1200"/>
              </a:spcAft>
              <a:buNone/>
            </a:pPr>
            <a:r>
              <a:t/>
            </a:r>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Step 2.b: Sort Into Categories </a:t>
            </a:r>
            <a:endParaRPr/>
          </a:p>
        </p:txBody>
      </p:sp>
      <p:sp>
        <p:nvSpPr>
          <p:cNvPr id="96" name="Google Shape;96;p17"/>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
        <p:nvSpPr>
          <p:cNvPr id="97" name="Google Shape;97;p17"/>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292100" lvl="0" marL="457200" rtl="0" algn="l">
              <a:spcBef>
                <a:spcPts val="0"/>
              </a:spcBef>
              <a:spcAft>
                <a:spcPts val="0"/>
              </a:spcAft>
              <a:buClr>
                <a:schemeClr val="lt1"/>
              </a:buClr>
              <a:buSzPts val="1000"/>
              <a:buChar char="●"/>
            </a:pPr>
            <a:r>
              <a:rPr b="1" lang="en" sz="1000">
                <a:solidFill>
                  <a:schemeClr val="lt1"/>
                </a:solidFill>
                <a:highlight>
                  <a:schemeClr val="accent5"/>
                </a:highlight>
              </a:rPr>
              <a:t>Crazy ideas</a:t>
            </a:r>
            <a:endParaRPr b="1" sz="1000">
              <a:solidFill>
                <a:schemeClr val="lt1"/>
              </a:solidFill>
              <a:highlight>
                <a:schemeClr val="accent5"/>
              </a:highlight>
            </a:endParaRPr>
          </a:p>
          <a:p>
            <a:pPr indent="-292100" lvl="1" marL="914400" rtl="0" algn="l">
              <a:spcBef>
                <a:spcPts val="0"/>
              </a:spcBef>
              <a:spcAft>
                <a:spcPts val="0"/>
              </a:spcAft>
              <a:buSzPts val="1000"/>
              <a:buChar char="○"/>
            </a:pPr>
            <a:r>
              <a:rPr lang="en" sz="1000"/>
              <a:t>Crazy ideas historically</a:t>
            </a:r>
            <a:endParaRPr sz="1000"/>
          </a:p>
          <a:p>
            <a:pPr indent="-317500" lvl="2" marL="1371600" rtl="0" algn="l">
              <a:spcBef>
                <a:spcPts val="0"/>
              </a:spcBef>
              <a:spcAft>
                <a:spcPts val="0"/>
              </a:spcAft>
              <a:buSzPts val="1400"/>
              <a:buChar char="■"/>
            </a:pPr>
            <a:r>
              <a:rPr lang="en"/>
              <a:t>Historically, out of crazy ideas, science</a:t>
            </a:r>
            <a:endParaRPr/>
          </a:p>
          <a:p>
            <a:pPr indent="-317500" lvl="2" marL="1371600" rtl="0" algn="l">
              <a:spcBef>
                <a:spcPts val="0"/>
              </a:spcBef>
              <a:spcAft>
                <a:spcPts val="0"/>
              </a:spcAft>
              <a:buSzPts val="1400"/>
              <a:buChar char="■"/>
            </a:pPr>
            <a:r>
              <a:rPr lang="en"/>
              <a:t>The method of science: eliminate crazy ideas</a:t>
            </a:r>
            <a:endParaRPr/>
          </a:p>
          <a:p>
            <a:pPr indent="-292100" lvl="1" marL="914400" rtl="0" algn="l">
              <a:spcBef>
                <a:spcPts val="0"/>
              </a:spcBef>
              <a:spcAft>
                <a:spcPts val="0"/>
              </a:spcAft>
              <a:buSzPts val="1000"/>
              <a:buChar char="○"/>
            </a:pPr>
            <a:r>
              <a:rPr lang="en" sz="1000"/>
              <a:t>Crazy ideas today</a:t>
            </a:r>
            <a:endParaRPr sz="1000"/>
          </a:p>
          <a:p>
            <a:pPr indent="-317500" lvl="2" marL="1371600" rtl="0" algn="l">
              <a:spcBef>
                <a:spcPts val="0"/>
              </a:spcBef>
              <a:spcAft>
                <a:spcPts val="0"/>
              </a:spcAft>
              <a:buSzPts val="1400"/>
              <a:buChar char="■"/>
            </a:pPr>
            <a:r>
              <a:rPr lang="en"/>
              <a:t>Crazy unscientific ideas are still alive</a:t>
            </a:r>
            <a:endParaRPr/>
          </a:p>
          <a:p>
            <a:pPr indent="-317500" lvl="2" marL="1371600" rtl="0" algn="l">
              <a:spcBef>
                <a:spcPts val="0"/>
              </a:spcBef>
              <a:spcAft>
                <a:spcPts val="0"/>
              </a:spcAft>
              <a:buSzPts val="1400"/>
              <a:buChar char="■"/>
            </a:pPr>
            <a:r>
              <a:rPr lang="en"/>
              <a:t>Apparently, people like crazy ideas</a:t>
            </a:r>
            <a:endParaRPr/>
          </a:p>
          <a:p>
            <a:pPr indent="-317500" lvl="2" marL="1371600" rtl="0" algn="l">
              <a:spcBef>
                <a:spcPts val="0"/>
              </a:spcBef>
              <a:spcAft>
                <a:spcPts val="0"/>
              </a:spcAft>
              <a:buSzPts val="1400"/>
              <a:buChar char="■"/>
            </a:pPr>
            <a:r>
              <a:rPr lang="en"/>
              <a:t>Why do people cling to crazy ideas?</a:t>
            </a:r>
            <a:endParaRPr/>
          </a:p>
          <a:p>
            <a:pPr indent="-317500" lvl="2" marL="1371600" rtl="0" algn="l">
              <a:spcBef>
                <a:spcPts val="0"/>
              </a:spcBef>
              <a:spcAft>
                <a:spcPts val="0"/>
              </a:spcAft>
              <a:buSzPts val="1400"/>
              <a:buChar char="■"/>
            </a:pPr>
            <a:r>
              <a:rPr lang="en"/>
              <a:t>We believe in not-obviously crazy ideas as well, despite them not working</a:t>
            </a:r>
            <a:endParaRPr/>
          </a:p>
          <a:p>
            <a:pPr indent="-317500" lvl="2" marL="1371600" rtl="0" algn="l">
              <a:spcBef>
                <a:spcPts val="0"/>
              </a:spcBef>
              <a:spcAft>
                <a:spcPts val="0"/>
              </a:spcAft>
              <a:buSzPts val="1400"/>
              <a:buChar char="■"/>
            </a:pPr>
            <a:r>
              <a:rPr lang="en"/>
              <a:t>Examples are methods of teaching, decreasing crime by treating criminals</a:t>
            </a:r>
            <a:endParaRPr/>
          </a:p>
          <a:p>
            <a:pPr indent="-292100" lvl="0" marL="457200" rtl="0" algn="l">
              <a:spcBef>
                <a:spcPts val="0"/>
              </a:spcBef>
              <a:spcAft>
                <a:spcPts val="0"/>
              </a:spcAft>
              <a:buClr>
                <a:schemeClr val="lt1"/>
              </a:buClr>
              <a:buSzPts val="1000"/>
              <a:buChar char="●"/>
            </a:pPr>
            <a:r>
              <a:rPr b="1" lang="en" sz="1000">
                <a:solidFill>
                  <a:schemeClr val="lt1"/>
                </a:solidFill>
                <a:highlight>
                  <a:schemeClr val="accent5"/>
                </a:highlight>
              </a:rPr>
              <a:t>Pseudoscience</a:t>
            </a:r>
            <a:endParaRPr b="1" sz="1000">
              <a:solidFill>
                <a:schemeClr val="lt1"/>
              </a:solidFill>
              <a:highlight>
                <a:schemeClr val="accent5"/>
              </a:highlight>
            </a:endParaRPr>
          </a:p>
          <a:p>
            <a:pPr indent="-292100" lvl="1" marL="914400" rtl="0" algn="l">
              <a:spcBef>
                <a:spcPts val="0"/>
              </a:spcBef>
              <a:spcAft>
                <a:spcPts val="0"/>
              </a:spcAft>
              <a:buSzPts val="1000"/>
              <a:buChar char="○"/>
            </a:pPr>
            <a:r>
              <a:rPr lang="en" sz="1000"/>
              <a:t>Pseudoscience as one form of today's crazy ideas</a:t>
            </a:r>
            <a:endParaRPr sz="1000"/>
          </a:p>
          <a:p>
            <a:pPr indent="-317500" lvl="2" marL="1371600" rtl="0" algn="l">
              <a:spcBef>
                <a:spcPts val="0"/>
              </a:spcBef>
              <a:spcAft>
                <a:spcPts val="0"/>
              </a:spcAft>
              <a:buSzPts val="1400"/>
              <a:buChar char="■"/>
            </a:pPr>
            <a:r>
              <a:rPr lang="en"/>
              <a:t>Sometimes good commonsense ideas are overruled by „science“</a:t>
            </a:r>
            <a:endParaRPr/>
          </a:p>
          <a:p>
            <a:pPr indent="-317500" lvl="2" marL="1371600" rtl="0" algn="l">
              <a:spcBef>
                <a:spcPts val="0"/>
              </a:spcBef>
              <a:spcAft>
                <a:spcPts val="0"/>
              </a:spcAft>
              <a:buSzPts val="1400"/>
              <a:buChar char="■"/>
            </a:pPr>
            <a:r>
              <a:rPr lang="en"/>
              <a:t>Pseudoscience is nonsense that pretends to be science</a:t>
            </a:r>
            <a:endParaRPr/>
          </a:p>
          <a:p>
            <a:pPr indent="-317500" lvl="2" marL="1371600" rtl="0" algn="l">
              <a:spcBef>
                <a:spcPts val="0"/>
              </a:spcBef>
              <a:spcAft>
                <a:spcPts val="0"/>
              </a:spcAft>
              <a:buSzPts val="1400"/>
              <a:buChar char="■"/>
            </a:pPr>
            <a:r>
              <a:rPr lang="en"/>
              <a:t>There is a lot of pseudoscience in psychology and education</a:t>
            </a:r>
            <a:endParaRPr/>
          </a:p>
          <a:p>
            <a:pPr indent="-317500" lvl="2" marL="1371600" rtl="0" algn="l">
              <a:spcBef>
                <a:spcPts val="0"/>
              </a:spcBef>
              <a:spcAft>
                <a:spcPts val="0"/>
              </a:spcAft>
              <a:buSzPts val="1400"/>
              <a:buChar char="■"/>
            </a:pPr>
            <a:r>
              <a:rPr lang="en"/>
              <a:t>The cargo cult is an example of a people going through the motions without understanding</a:t>
            </a:r>
            <a:endParaRPr/>
          </a:p>
          <a:p>
            <a:pPr indent="-317500" lvl="2" marL="1371600" rtl="0" algn="l">
              <a:spcBef>
                <a:spcPts val="0"/>
              </a:spcBef>
              <a:spcAft>
                <a:spcPts val="0"/>
              </a:spcAft>
              <a:buSzPts val="1400"/>
              <a:buChar char="■"/>
            </a:pPr>
            <a:r>
              <a:rPr lang="en"/>
              <a:t>Cargo cult science is pseudoscience---assumed science without understanding</a:t>
            </a:r>
            <a:endParaRPr/>
          </a:p>
          <a:p>
            <a:pPr indent="-292100" lvl="0" marL="457200" rtl="0" algn="l">
              <a:spcBef>
                <a:spcPts val="0"/>
              </a:spcBef>
              <a:spcAft>
                <a:spcPts val="0"/>
              </a:spcAft>
              <a:buClr>
                <a:schemeClr val="lt1"/>
              </a:buClr>
              <a:buSzPts val="1000"/>
              <a:buChar char="●"/>
            </a:pPr>
            <a:r>
              <a:rPr b="1" lang="en" sz="1000">
                <a:solidFill>
                  <a:schemeClr val="lt1"/>
                </a:solidFill>
                <a:highlight>
                  <a:schemeClr val="accent5"/>
                </a:highlight>
              </a:rPr>
              <a:t>Good science</a:t>
            </a:r>
            <a:endParaRPr b="1" sz="1000">
              <a:solidFill>
                <a:schemeClr val="lt1"/>
              </a:solidFill>
              <a:highlight>
                <a:schemeClr val="accent5"/>
              </a:highlight>
            </a:endParaRPr>
          </a:p>
          <a:p>
            <a:pPr indent="-292100" lvl="1" marL="914400" rtl="0" algn="l">
              <a:spcBef>
                <a:spcPts val="0"/>
              </a:spcBef>
              <a:spcAft>
                <a:spcPts val="0"/>
              </a:spcAft>
              <a:buSzPts val="1000"/>
              <a:buChar char="○"/>
            </a:pPr>
            <a:r>
              <a:rPr lang="en" sz="1000"/>
              <a:t>Main criteria that define good science</a:t>
            </a:r>
            <a:endParaRPr sz="1000"/>
          </a:p>
          <a:p>
            <a:pPr indent="-317500" lvl="2" marL="1371600" rtl="0" algn="l">
              <a:spcBef>
                <a:spcPts val="0"/>
              </a:spcBef>
              <a:spcAft>
                <a:spcPts val="0"/>
              </a:spcAft>
              <a:buSzPts val="1400"/>
              <a:buChar char="■"/>
            </a:pPr>
            <a:r>
              <a:rPr lang="en"/>
              <a:t>The main measure of theory is: “does it work?”</a:t>
            </a:r>
            <a:endParaRPr/>
          </a:p>
          <a:p>
            <a:pPr indent="-317500" lvl="2" marL="1371600" rtl="0" algn="l">
              <a:spcBef>
                <a:spcPts val="0"/>
              </a:spcBef>
              <a:spcAft>
                <a:spcPts val="0"/>
              </a:spcAft>
              <a:buSzPts val="1400"/>
              <a:buChar char="■"/>
            </a:pPr>
            <a:r>
              <a:rPr lang="en"/>
              <a:t>If a theory does not work, it is not science</a:t>
            </a:r>
            <a:endParaRPr/>
          </a:p>
          <a:p>
            <a:pPr indent="-317500" lvl="2" marL="1371600" rtl="0" algn="l">
              <a:spcBef>
                <a:spcPts val="0"/>
              </a:spcBef>
              <a:spcAft>
                <a:spcPts val="0"/>
              </a:spcAft>
              <a:buSzPts val="1400"/>
              <a:buChar char="■"/>
            </a:pPr>
            <a:r>
              <a:rPr lang="en"/>
              <a:t>Cargo cult science lacks integrity, a key ingredient of science</a:t>
            </a:r>
            <a:endParaRPr/>
          </a:p>
          <a:p>
            <a:pPr indent="-317500" lvl="2" marL="1371600" rtl="0" algn="l">
              <a:spcBef>
                <a:spcPts val="0"/>
              </a:spcBef>
              <a:spcAft>
                <a:spcPts val="0"/>
              </a:spcAft>
              <a:buSzPts val="1400"/>
              <a:buChar char="■"/>
            </a:pPr>
            <a:r>
              <a:rPr lang="en"/>
              <a:t>When describing a theory, provide all facts you know, for and against it</a:t>
            </a:r>
            <a:endParaRPr/>
          </a:p>
          <a:p>
            <a:pPr indent="-317500" lvl="2" marL="1371600" rtl="0" algn="l">
              <a:spcBef>
                <a:spcPts val="0"/>
              </a:spcBef>
              <a:spcAft>
                <a:spcPts val="0"/>
              </a:spcAft>
              <a:buSzPts val="1400"/>
              <a:buChar char="■"/>
            </a:pPr>
            <a:r>
              <a:rPr lang="en"/>
              <a:t>Hallmark of a theory is that it predicts something in addition to know facts</a:t>
            </a:r>
            <a:endParaRPr/>
          </a:p>
          <a:p>
            <a:pPr indent="-317500" lvl="2" marL="1371600" rtl="0" algn="l">
              <a:spcBef>
                <a:spcPts val="0"/>
              </a:spcBef>
              <a:spcAft>
                <a:spcPts val="0"/>
              </a:spcAft>
              <a:buSzPts val="1400"/>
              <a:buChar char="■"/>
            </a:pPr>
            <a:r>
              <a:rPr lang="en"/>
              <a:t>When doing science, empower others to properly judge your work</a:t>
            </a:r>
            <a:endParaRPr/>
          </a:p>
          <a:p>
            <a:pPr indent="-317500" lvl="2" marL="1371600" rtl="0" algn="l">
              <a:spcBef>
                <a:spcPts val="0"/>
              </a:spcBef>
              <a:spcAft>
                <a:spcPts val="0"/>
              </a:spcAft>
              <a:buSzPts val="1400"/>
              <a:buChar char="■"/>
            </a:pPr>
            <a:r>
              <a:rPr lang="en"/>
              <a:t>Scientific integrity is more than just being honest; list all facts, cover all contexts</a:t>
            </a:r>
            <a:endParaRPr/>
          </a:p>
          <a:p>
            <a:pPr indent="-317500" lvl="2" marL="1371600" rtl="0" algn="l">
              <a:spcBef>
                <a:spcPts val="0"/>
              </a:spcBef>
              <a:spcAft>
                <a:spcPts val="0"/>
              </a:spcAft>
              <a:buSzPts val="1400"/>
              <a:buChar char="■"/>
            </a:pPr>
            <a:r>
              <a:rPr lang="en"/>
              <a:t>Your reputation as a scientist depends on continued displayed integrity</a:t>
            </a:r>
            <a:endParaRPr/>
          </a:p>
          <a:p>
            <a:pPr indent="-317500" lvl="2" marL="1371600" rtl="0" algn="l">
              <a:spcBef>
                <a:spcPts val="0"/>
              </a:spcBef>
              <a:spcAft>
                <a:spcPts val="0"/>
              </a:spcAft>
              <a:buSzPts val="1400"/>
              <a:buChar char="■"/>
            </a:pPr>
            <a:r>
              <a:rPr lang="en"/>
              <a:t>Publish all your findings; those matching your theory and those which don't</a:t>
            </a:r>
            <a:endParaRPr/>
          </a:p>
          <a:p>
            <a:pPr indent="-317500" lvl="2" marL="1371600" rtl="0" algn="l">
              <a:spcBef>
                <a:spcPts val="0"/>
              </a:spcBef>
              <a:spcAft>
                <a:spcPts val="0"/>
              </a:spcAft>
              <a:buSzPts val="1400"/>
              <a:buChar char="■"/>
            </a:pPr>
            <a:r>
              <a:rPr lang="en"/>
              <a:t>Do not be swayed by inconvenient results; remain honest and publish anyway</a:t>
            </a:r>
            <a:endParaRPr/>
          </a:p>
          <a:p>
            <a:pPr indent="-292100" lvl="1" marL="914400" rtl="0" algn="l">
              <a:spcBef>
                <a:spcPts val="0"/>
              </a:spcBef>
              <a:spcAft>
                <a:spcPts val="0"/>
              </a:spcAft>
              <a:buSzPts val="1000"/>
              <a:buChar char="○"/>
            </a:pPr>
            <a:r>
              <a:rPr lang="en" sz="1000"/>
              <a:t>Experiments as a key method of science</a:t>
            </a:r>
            <a:endParaRPr sz="1000"/>
          </a:p>
          <a:p>
            <a:pPr indent="-317500" lvl="2" marL="1371600" rtl="0" algn="l">
              <a:spcBef>
                <a:spcPts val="0"/>
              </a:spcBef>
              <a:spcAft>
                <a:spcPts val="0"/>
              </a:spcAft>
              <a:buSzPts val="1400"/>
              <a:buChar char="■"/>
            </a:pPr>
            <a:r>
              <a:rPr lang="en"/>
              <a:t>Integrity in science means reporting everything about an experiment</a:t>
            </a:r>
            <a:endParaRPr/>
          </a:p>
          <a:p>
            <a:pPr indent="-317500" lvl="2" marL="1371600" rtl="0" algn="l">
              <a:spcBef>
                <a:spcPts val="0"/>
              </a:spcBef>
              <a:spcAft>
                <a:spcPts val="0"/>
              </a:spcAft>
              <a:buSzPts val="1400"/>
              <a:buChar char="■"/>
            </a:pPr>
            <a:r>
              <a:rPr lang="en"/>
              <a:t>In particular if the information invalidates an experiment</a:t>
            </a:r>
            <a:endParaRPr/>
          </a:p>
          <a:p>
            <a:pPr indent="-317500" lvl="2" marL="1371600" rtl="0" algn="l">
              <a:spcBef>
                <a:spcPts val="0"/>
              </a:spcBef>
              <a:spcAft>
                <a:spcPts val="0"/>
              </a:spcAft>
              <a:buSzPts val="1400"/>
              <a:buChar char="■"/>
            </a:pPr>
            <a:r>
              <a:rPr lang="en"/>
              <a:t>Scientists after Millikan were consciously or subconsciously anchored by his results</a:t>
            </a:r>
            <a:endParaRPr/>
          </a:p>
          <a:p>
            <a:pPr indent="-317500" lvl="2" marL="1371600" rtl="0" algn="l">
              <a:spcBef>
                <a:spcPts val="0"/>
              </a:spcBef>
              <a:spcAft>
                <a:spcPts val="0"/>
              </a:spcAft>
              <a:buSzPts val="1400"/>
              <a:buChar char="■"/>
            </a:pPr>
            <a:r>
              <a:rPr lang="en"/>
              <a:t>Scientists manipulated results to conform with assumed truth</a:t>
            </a:r>
            <a:endParaRPr/>
          </a:p>
          <a:p>
            <a:pPr indent="-317500" lvl="2" marL="1371600" rtl="0" algn="l">
              <a:spcBef>
                <a:spcPts val="0"/>
              </a:spcBef>
              <a:spcAft>
                <a:spcPts val="0"/>
              </a:spcAft>
              <a:buSzPts val="1400"/>
              <a:buChar char="■"/>
            </a:pPr>
            <a:r>
              <a:rPr lang="en"/>
              <a:t>Repeating experiments is necessary to build on them properly</a:t>
            </a:r>
            <a:endParaRPr/>
          </a:p>
          <a:p>
            <a:pPr indent="-317500" lvl="2" marL="1371600" rtl="0" algn="l">
              <a:spcBef>
                <a:spcPts val="0"/>
              </a:spcBef>
              <a:spcAft>
                <a:spcPts val="0"/>
              </a:spcAft>
              <a:buSzPts val="1400"/>
              <a:buChar char="■"/>
            </a:pPr>
            <a:r>
              <a:rPr lang="en"/>
              <a:t>It is not of integrity to not repeat experiments because you don't get time/money/publications for it</a:t>
            </a:r>
            <a:endParaRPr/>
          </a:p>
          <a:p>
            <a:pPr indent="-317500" lvl="2" marL="1371600" rtl="0" algn="l">
              <a:spcBef>
                <a:spcPts val="0"/>
              </a:spcBef>
              <a:spcAft>
                <a:spcPts val="0"/>
              </a:spcAft>
              <a:buSzPts val="1400"/>
              <a:buChar char="■"/>
            </a:pPr>
            <a:r>
              <a:rPr lang="en"/>
              <a:t>Pay attention to method, build understanding, don't run on assumptions</a:t>
            </a:r>
            <a:endParaRPr/>
          </a:p>
          <a:p>
            <a:pPr indent="-317500" lvl="2" marL="1371600" rtl="0" algn="l">
              <a:spcBef>
                <a:spcPts val="0"/>
              </a:spcBef>
              <a:spcAft>
                <a:spcPts val="0"/>
              </a:spcAft>
              <a:buSzPts val="1400"/>
              <a:buChar char="■"/>
            </a:pPr>
            <a:r>
              <a:rPr lang="en"/>
              <a:t>A key property of science is that experiments are repeatable</a:t>
            </a:r>
            <a:endParaRPr/>
          </a:p>
          <a:p>
            <a:pPr indent="-292100" lvl="1" marL="914400" rtl="0" algn="l">
              <a:spcBef>
                <a:spcPts val="0"/>
              </a:spcBef>
              <a:spcAft>
                <a:spcPts val="0"/>
              </a:spcAft>
              <a:buSzPts val="1000"/>
              <a:buChar char="○"/>
            </a:pPr>
            <a:r>
              <a:rPr lang="en" sz="1000"/>
              <a:t>Integrity in science</a:t>
            </a:r>
            <a:endParaRPr sz="1000"/>
          </a:p>
          <a:p>
            <a:pPr indent="-317500" lvl="2" marL="1371600" rtl="0" algn="l">
              <a:spcBef>
                <a:spcPts val="0"/>
              </a:spcBef>
              <a:spcAft>
                <a:spcPts val="0"/>
              </a:spcAft>
              <a:buSzPts val="1400"/>
              <a:buChar char="■"/>
            </a:pPr>
            <a:r>
              <a:rPr lang="en"/>
              <a:t>First principle of scientific integrity: Don't fool yourself</a:t>
            </a:r>
            <a:endParaRPr/>
          </a:p>
          <a:p>
            <a:pPr indent="-317500" lvl="2" marL="1371600" rtl="0" algn="l">
              <a:spcBef>
                <a:spcPts val="0"/>
              </a:spcBef>
              <a:spcAft>
                <a:spcPts val="0"/>
              </a:spcAft>
              <a:buSzPts val="1400"/>
              <a:buChar char="■"/>
            </a:pPr>
            <a:r>
              <a:rPr lang="en"/>
              <a:t>Second principle of scientific integrity: Don't fool others</a:t>
            </a:r>
            <a:endParaRPr/>
          </a:p>
          <a:p>
            <a:pPr indent="-317500" lvl="2" marL="1371600" rtl="0" algn="l">
              <a:spcBef>
                <a:spcPts val="0"/>
              </a:spcBef>
              <a:spcAft>
                <a:spcPts val="0"/>
              </a:spcAft>
              <a:buSzPts val="1400"/>
              <a:buChar char="■"/>
            </a:pPr>
            <a:r>
              <a:rPr lang="en"/>
              <a:t>Also, don't lie to non-experts; treat them with the same integrity as other scientists</a:t>
            </a:r>
            <a:endParaRPr/>
          </a:p>
          <a:p>
            <a:pPr indent="-292100" lvl="0" marL="457200" rtl="0" algn="l">
              <a:spcBef>
                <a:spcPts val="0"/>
              </a:spcBef>
              <a:spcAft>
                <a:spcPts val="0"/>
              </a:spcAft>
              <a:buSzPts val="1000"/>
              <a:buChar char="●"/>
            </a:pPr>
            <a:r>
              <a:rPr b="1" lang="en" sz="1000">
                <a:highlight>
                  <a:schemeClr val="accent5"/>
                </a:highlight>
              </a:rPr>
              <a:t>Science is a social endeavor</a:t>
            </a:r>
            <a:endParaRPr b="1" sz="1000">
              <a:highlight>
                <a:schemeClr val="accent5"/>
              </a:highlight>
            </a:endParaRPr>
          </a:p>
          <a:p>
            <a:pPr indent="0" lvl="0" marL="0" rtl="0" algn="l">
              <a:spcBef>
                <a:spcPts val="1200"/>
              </a:spcBef>
              <a:spcAft>
                <a:spcPts val="1200"/>
              </a:spcAft>
              <a:buNone/>
            </a:pPr>
            <a:r>
              <a:t/>
            </a:r>
            <a:endParaRPr sz="1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3. Written Summary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Written</a:t>
            </a:r>
            <a:r>
              <a:rPr lang="en"/>
              <a:t> Summary Process</a:t>
            </a:r>
            <a:endParaRPr/>
          </a:p>
        </p:txBody>
      </p:sp>
      <p:sp>
        <p:nvSpPr>
          <p:cNvPr id="108" name="Google Shape;108;p19"/>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Step 3: Outline summary</a:t>
            </a:r>
            <a:endParaRPr/>
          </a:p>
          <a:p>
            <a:pPr indent="-342900" lvl="0" marL="457200" rtl="0" algn="l">
              <a:spcBef>
                <a:spcPts val="1200"/>
              </a:spcBef>
              <a:spcAft>
                <a:spcPts val="0"/>
              </a:spcAft>
              <a:buSzPts val="1800"/>
              <a:buChar char="●"/>
            </a:pPr>
            <a:r>
              <a:rPr lang="en"/>
              <a:t>Identify key insights</a:t>
            </a:r>
            <a:endParaRPr/>
          </a:p>
          <a:p>
            <a:pPr indent="-342900" lvl="0" marL="457200" rtl="0" algn="l">
              <a:spcBef>
                <a:spcPts val="0"/>
              </a:spcBef>
              <a:spcAft>
                <a:spcPts val="0"/>
              </a:spcAft>
              <a:buSzPts val="1800"/>
              <a:buChar char="●"/>
            </a:pPr>
            <a:r>
              <a:rPr lang="en"/>
              <a:t>Bring insights into proper order</a:t>
            </a:r>
            <a:endParaRPr/>
          </a:p>
          <a:p>
            <a:pPr indent="0" lvl="0" marL="0" rtl="0" algn="l">
              <a:spcBef>
                <a:spcPts val="1200"/>
              </a:spcBef>
              <a:spcAft>
                <a:spcPts val="0"/>
              </a:spcAft>
              <a:buNone/>
            </a:pPr>
            <a:r>
              <a:rPr lang="en"/>
              <a:t>Step 4: </a:t>
            </a:r>
            <a:r>
              <a:rPr lang="en"/>
              <a:t>Write</a:t>
            </a:r>
            <a:r>
              <a:rPr lang="en"/>
              <a:t> summary</a:t>
            </a:r>
            <a:endParaRPr/>
          </a:p>
          <a:p>
            <a:pPr indent="-342900" lvl="0" marL="457200" rtl="0" algn="l">
              <a:spcBef>
                <a:spcPts val="1200"/>
              </a:spcBef>
              <a:spcAft>
                <a:spcPts val="0"/>
              </a:spcAft>
              <a:buSzPts val="1800"/>
              <a:buChar char="●"/>
            </a:pPr>
            <a:r>
              <a:rPr lang="en"/>
              <a:t>Decide on framing</a:t>
            </a:r>
            <a:endParaRPr/>
          </a:p>
          <a:p>
            <a:pPr indent="-342900" lvl="0" marL="457200" rtl="0" algn="l">
              <a:spcBef>
                <a:spcPts val="0"/>
              </a:spcBef>
              <a:spcAft>
                <a:spcPts val="0"/>
              </a:spcAft>
              <a:buSzPts val="1800"/>
              <a:buChar char="●"/>
            </a:pPr>
            <a:r>
              <a:rPr lang="en"/>
              <a:t>Expand insights into summary</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09" name="Google Shape;109;p19"/>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Step 3.a: Identify Key Insights </a:t>
            </a:r>
            <a:endParaRPr/>
          </a:p>
        </p:txBody>
      </p:sp>
      <p:sp>
        <p:nvSpPr>
          <p:cNvPr id="115" name="Google Shape;115;p20"/>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
        <p:nvSpPr>
          <p:cNvPr id="116" name="Google Shape;116;p20"/>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eriod"/>
            </a:pPr>
            <a:r>
              <a:rPr b="1" lang="en">
                <a:solidFill>
                  <a:schemeClr val="lt1"/>
                </a:solidFill>
                <a:highlight>
                  <a:schemeClr val="accent3"/>
                </a:highlight>
              </a:rPr>
              <a:t>Crazy ideas</a:t>
            </a:r>
            <a:r>
              <a:rPr lang="en"/>
              <a:t> always existed; they gave birth to modern science and the scientific method as a counteraction</a:t>
            </a:r>
            <a:endParaRPr/>
          </a:p>
          <a:p>
            <a:pPr indent="-342900" lvl="0" marL="457200" rtl="0" algn="l">
              <a:spcBef>
                <a:spcPts val="0"/>
              </a:spcBef>
              <a:spcAft>
                <a:spcPts val="0"/>
              </a:spcAft>
              <a:buSzPts val="1800"/>
              <a:buAutoNum type="arabicPeriod"/>
            </a:pPr>
            <a:r>
              <a:rPr b="1" lang="en">
                <a:solidFill>
                  <a:schemeClr val="lt1"/>
                </a:solidFill>
                <a:highlight>
                  <a:schemeClr val="accent3"/>
                </a:highlight>
              </a:rPr>
              <a:t>Pseudoscience</a:t>
            </a:r>
            <a:r>
              <a:rPr lang="en"/>
              <a:t> is modern form of crazy ideas; differs from real science by lack of integrity, does not follow scientific method</a:t>
            </a:r>
            <a:endParaRPr/>
          </a:p>
          <a:p>
            <a:pPr indent="-342900" lvl="0" marL="457200" rtl="0" algn="l">
              <a:spcBef>
                <a:spcPts val="0"/>
              </a:spcBef>
              <a:spcAft>
                <a:spcPts val="0"/>
              </a:spcAft>
              <a:buSzPts val="1800"/>
              <a:buAutoNum type="arabicPeriod"/>
            </a:pPr>
            <a:r>
              <a:rPr b="1" lang="en">
                <a:solidFill>
                  <a:schemeClr val="lt1"/>
                </a:solidFill>
                <a:highlight>
                  <a:schemeClr val="accent3"/>
                </a:highlight>
              </a:rPr>
              <a:t>Proper science</a:t>
            </a:r>
            <a:r>
              <a:rPr lang="en"/>
              <a:t> uses proper methods, specifically experiments; experimenters need to be of full integrity; report everything; don't fool yourself, don't fool others.</a:t>
            </a:r>
            <a:endParaRPr/>
          </a:p>
          <a:p>
            <a:pPr indent="-342900" lvl="0" marL="457200" rtl="0" algn="l">
              <a:spcBef>
                <a:spcPts val="0"/>
              </a:spcBef>
              <a:spcAft>
                <a:spcPts val="0"/>
              </a:spcAft>
              <a:buSzPts val="1800"/>
              <a:buAutoNum type="arabicPeriod"/>
            </a:pPr>
            <a:r>
              <a:rPr b="1" lang="en">
                <a:solidFill>
                  <a:schemeClr val="lt1"/>
                </a:solidFill>
                <a:highlight>
                  <a:schemeClr val="accent3"/>
                </a:highlight>
              </a:rPr>
              <a:t>Science is a social endeavor;</a:t>
            </a:r>
            <a:r>
              <a:rPr lang="en"/>
              <a:t> will be difficult even in the future not to fool ourselves; expect failures to continue; keep striving</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Step 3.b: Bring Insights Into Proper Order</a:t>
            </a:r>
            <a:endParaRPr/>
          </a:p>
        </p:txBody>
      </p:sp>
      <p:sp>
        <p:nvSpPr>
          <p:cNvPr id="122" name="Google Shape;122;p21"/>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
        <p:nvSpPr>
          <p:cNvPr id="123" name="Google Shape;123;p21"/>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eriod"/>
            </a:pPr>
            <a:r>
              <a:rPr lang="en"/>
              <a:t>Crazy ideas always existed; they gave birth to modern science and the scientific method as a counteraction</a:t>
            </a:r>
            <a:endParaRPr/>
          </a:p>
          <a:p>
            <a:pPr indent="-342900" lvl="0" marL="457200" rtl="0" algn="l">
              <a:spcBef>
                <a:spcPts val="0"/>
              </a:spcBef>
              <a:spcAft>
                <a:spcPts val="0"/>
              </a:spcAft>
              <a:buClr>
                <a:schemeClr val="lt1"/>
              </a:buClr>
              <a:buSzPts val="1800"/>
              <a:buAutoNum type="arabicPeriod"/>
            </a:pPr>
            <a:r>
              <a:rPr lang="en">
                <a:solidFill>
                  <a:schemeClr val="lt1"/>
                </a:solidFill>
                <a:highlight>
                  <a:schemeClr val="accent3"/>
                </a:highlight>
              </a:rPr>
              <a:t>Proper science uses proper methods, specifically experiments; experimenters need to be of full integrity; report everything; don't fool yourself, don't fool others.</a:t>
            </a:r>
            <a:endParaRPr>
              <a:solidFill>
                <a:schemeClr val="lt1"/>
              </a:solidFill>
              <a:highlight>
                <a:schemeClr val="accent3"/>
              </a:highlight>
            </a:endParaRPr>
          </a:p>
          <a:p>
            <a:pPr indent="-342900" lvl="0" marL="457200" rtl="0" algn="l">
              <a:spcBef>
                <a:spcPts val="0"/>
              </a:spcBef>
              <a:spcAft>
                <a:spcPts val="0"/>
              </a:spcAft>
              <a:buClr>
                <a:schemeClr val="lt1"/>
              </a:buClr>
              <a:buSzPts val="1800"/>
              <a:buAutoNum type="arabicPeriod"/>
            </a:pPr>
            <a:r>
              <a:rPr lang="en">
                <a:solidFill>
                  <a:schemeClr val="lt1"/>
                </a:solidFill>
                <a:highlight>
                  <a:schemeClr val="accent3"/>
                </a:highlight>
              </a:rPr>
              <a:t>Pseudoscience is modern form of crazy ideas; differs from real science by lack of integrity, does not follow scientific method</a:t>
            </a:r>
            <a:endParaRPr>
              <a:solidFill>
                <a:schemeClr val="lt1"/>
              </a:solidFill>
              <a:highlight>
                <a:schemeClr val="accent3"/>
              </a:highlight>
            </a:endParaRPr>
          </a:p>
          <a:p>
            <a:pPr indent="-342900" lvl="0" marL="457200" rtl="0" algn="l">
              <a:spcBef>
                <a:spcPts val="0"/>
              </a:spcBef>
              <a:spcAft>
                <a:spcPts val="0"/>
              </a:spcAft>
              <a:buSzPts val="1800"/>
              <a:buAutoNum type="arabicPeriod"/>
            </a:pPr>
            <a:r>
              <a:rPr lang="en"/>
              <a:t>Science is a social endeavor; will be difficult even in the future not to fool ourselves; expect failures to continue; keep striving</a:t>
            </a:r>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Step 4.a: Decide on Framing</a:t>
            </a:r>
            <a:endParaRPr/>
          </a:p>
        </p:txBody>
      </p:sp>
      <p:sp>
        <p:nvSpPr>
          <p:cNvPr id="129" name="Google Shape;129;p22"/>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eriod"/>
            </a:pPr>
            <a:r>
              <a:rPr lang="en"/>
              <a:t>Add introduction (optional)</a:t>
            </a:r>
            <a:endParaRPr/>
          </a:p>
          <a:p>
            <a:pPr indent="-342900" lvl="0" marL="457200" rtl="0" algn="l">
              <a:spcBef>
                <a:spcPts val="0"/>
              </a:spcBef>
              <a:spcAft>
                <a:spcPts val="0"/>
              </a:spcAft>
              <a:buSzPts val="1800"/>
              <a:buAutoNum type="arabicPeriod"/>
            </a:pPr>
            <a:r>
              <a:rPr lang="en"/>
              <a:t>Decide on conclusion</a:t>
            </a:r>
            <a:endParaRPr/>
          </a:p>
        </p:txBody>
      </p:sp>
      <p:sp>
        <p:nvSpPr>
          <p:cNvPr id="130" name="Google Shape;130;p22"/>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Step 4b: Expand Insights Into Summary</a:t>
            </a:r>
            <a:endParaRPr/>
          </a:p>
        </p:txBody>
      </p:sp>
      <p:sp>
        <p:nvSpPr>
          <p:cNvPr id="136" name="Google Shape;136;p23"/>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
        <p:nvSpPr>
          <p:cNvPr id="137" name="Google Shape;137;p23"/>
          <p:cNvSpPr txBox="1"/>
          <p:nvPr>
            <p:ph idx="1" type="body"/>
          </p:nvPr>
        </p:nvSpPr>
        <p:spPr>
          <a:xfrm>
            <a:off x="274320" y="914400"/>
            <a:ext cx="8595300" cy="4114800"/>
          </a:xfrm>
          <a:prstGeom prst="rect">
            <a:avLst/>
          </a:prstGeom>
        </p:spPr>
        <p:txBody>
          <a:bodyPr anchorCtr="0" anchor="t" bIns="0" lIns="0" spcFirstLastPara="1" rIns="0" wrap="square" tIns="0">
            <a:normAutofit fontScale="62500" lnSpcReduction="10000"/>
          </a:bodyPr>
          <a:lstStyle/>
          <a:p>
            <a:pPr indent="0" lvl="0" marL="0" rtl="0" algn="l">
              <a:lnSpc>
                <a:spcPct val="100000"/>
              </a:lnSpc>
              <a:spcBef>
                <a:spcPts val="0"/>
              </a:spcBef>
              <a:spcAft>
                <a:spcPts val="0"/>
              </a:spcAft>
              <a:buClr>
                <a:schemeClr val="dk1"/>
              </a:buClr>
              <a:buSzPct val="61111"/>
              <a:buFont typeface="Arial"/>
              <a:buNone/>
            </a:pPr>
            <a:r>
              <a:rPr lang="en"/>
              <a:t>In his Caltech 1974 commencement speech, physics Nobel prize laureate Richard Feynman addresses the graduates on the topic of science and scientific integrity. He discusses crazy ideas, pseudoscience and real science, and the method of science, with the purpose of admonishing graduates to live a life of scientific integrity.</a:t>
            </a:r>
            <a:endParaRPr/>
          </a:p>
          <a:p>
            <a:pPr indent="0" lvl="0" marL="0" rtl="0" algn="l">
              <a:lnSpc>
                <a:spcPct val="100000"/>
              </a:lnSpc>
              <a:spcBef>
                <a:spcPts val="1200"/>
              </a:spcBef>
              <a:spcAft>
                <a:spcPts val="0"/>
              </a:spcAft>
              <a:buClr>
                <a:schemeClr val="dk1"/>
              </a:buClr>
              <a:buSzPct val="61111"/>
              <a:buFont typeface="Arial"/>
              <a:buNone/>
            </a:pPr>
            <a:r>
              <a:rPr lang="en"/>
              <a:t>Before science, there were “crazy ideas” (Feynman's words), that is theories about the world that had no scientific basis. A reason is that the scientific method did not yet exist. However, out of crazy ideas not working, men invented the scientific method, which is the process of elimination of ideas not working until only ideas (or theories) remain which we have not yet been proved wrong.</a:t>
            </a:r>
            <a:endParaRPr/>
          </a:p>
          <a:p>
            <a:pPr indent="0" lvl="0" marL="0" rtl="0" algn="l">
              <a:lnSpc>
                <a:spcPct val="100000"/>
              </a:lnSpc>
              <a:spcBef>
                <a:spcPts val="1200"/>
              </a:spcBef>
              <a:spcAft>
                <a:spcPts val="0"/>
              </a:spcAft>
              <a:buClr>
                <a:schemeClr val="dk1"/>
              </a:buClr>
              <a:buSzPct val="61111"/>
              <a:buFont typeface="Arial"/>
              <a:buNone/>
            </a:pPr>
            <a:r>
              <a:rPr lang="en"/>
              <a:t>Science then is the human endeavor of discovering the truth by way of appropriate methods, specifically experiments. In experiments, scientists try to answer a question by enacting the effect they have a question about. They do so by trying out all possible variations and circumstances of context that affect the answer to their question, until they can clearly identify a relationship between those circumstances and the observed effects. Science is a process with many unknowns, so it is of utmost importance that the scientist be of highest integrity, which specifically means that he or she report about everything they observe, whether it supports their answers to their question or not.</a:t>
            </a:r>
            <a:endParaRPr/>
          </a:p>
          <a:p>
            <a:pPr indent="0" lvl="0" marL="0" rtl="0" algn="l">
              <a:lnSpc>
                <a:spcPct val="100000"/>
              </a:lnSpc>
              <a:spcBef>
                <a:spcPts val="1200"/>
              </a:spcBef>
              <a:spcAft>
                <a:spcPts val="0"/>
              </a:spcAft>
              <a:buClr>
                <a:schemeClr val="dk1"/>
              </a:buClr>
              <a:buSzPct val="61111"/>
              <a:buFont typeface="Arial"/>
              <a:buNone/>
            </a:pPr>
            <a:r>
              <a:rPr lang="en"/>
              <a:t>Despite science and the invention of the scientific method, crazy ideas still exist today in the form of “pseudoscience”. Feynman also calls pseudoscience “cargo cult science”, based on the cargo cult of a people of the South Seas. That people had once experienced superior American technology, which had done them well. When the Americans left, they tried to recreate it by simulating landing airplanes in the form of wooden replicas. Pseudoscience is like the cargo cult: It goes through the motions without proper understanding. It fails to setup the necessary requisites, In short, it does not apply the scientific method properly and lacks integrity.</a:t>
            </a:r>
            <a:endParaRPr/>
          </a:p>
          <a:p>
            <a:pPr indent="0" lvl="0" marL="0" rtl="0" algn="l">
              <a:lnSpc>
                <a:spcPct val="100000"/>
              </a:lnSpc>
              <a:spcBef>
                <a:spcPts val="1200"/>
              </a:spcBef>
              <a:spcAft>
                <a:spcPts val="1200"/>
              </a:spcAft>
              <a:buNone/>
            </a:pPr>
            <a:r>
              <a:rPr lang="en"/>
              <a:t>There are many ways in how honest scientists can fail to apply the scientific method properly. Social pressure is one reason. Science is a social endeavor and we must be aware that what we consider truth today may actually be false, not only because we overlooked something technical or made a mistake, but also because the social context of science leads us to wrong conclusions and to fool ourselves and others. Thus, science or the search for truth is a never ending process.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The Research Cycle [1]</a:t>
            </a:r>
            <a:endParaRPr/>
          </a:p>
        </p:txBody>
      </p:sp>
      <p:sp>
        <p:nvSpPr>
          <p:cNvPr id="143" name="Google Shape;143;p24"/>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pic>
        <p:nvPicPr>
          <p:cNvPr id="144" name="Google Shape;144;p24"/>
          <p:cNvPicPr preferRelativeResize="0"/>
          <p:nvPr/>
        </p:nvPicPr>
        <p:blipFill>
          <a:blip r:embed="rId4">
            <a:alphaModFix/>
          </a:blip>
          <a:stretch>
            <a:fillRect/>
          </a:stretch>
        </p:blipFill>
        <p:spPr>
          <a:xfrm>
            <a:off x="274320" y="822960"/>
            <a:ext cx="8595360" cy="3963416"/>
          </a:xfrm>
          <a:prstGeom prst="rect">
            <a:avLst/>
          </a:prstGeom>
          <a:noFill/>
          <a:ln>
            <a:noFill/>
          </a:ln>
        </p:spPr>
      </p:pic>
      <p:sp>
        <p:nvSpPr>
          <p:cNvPr id="145" name="Google Shape;145;p24"/>
          <p:cNvSpPr txBox="1"/>
          <p:nvPr/>
        </p:nvSpPr>
        <p:spPr>
          <a:xfrm>
            <a:off x="0" y="4233672"/>
            <a:ext cx="7315200" cy="914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[1] See </a:t>
            </a:r>
            <a:r>
              <a:rPr lang="en" u="sng">
                <a:solidFill>
                  <a:schemeClr val="hlink"/>
                </a:solidFill>
                <a:hlinkClick r:id="rId5"/>
              </a:rPr>
              <a:t>https://phdcomics.com</a:t>
            </a:r>
            <a:r>
              <a:rPr lang="en"/>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Summary</a:t>
            </a:r>
            <a:endParaRPr/>
          </a:p>
        </p:txBody>
      </p:sp>
      <p:sp>
        <p:nvSpPr>
          <p:cNvPr id="151" name="Google Shape;151;p25"/>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eriod"/>
            </a:pPr>
            <a:r>
              <a:rPr lang="en"/>
              <a:t>Summary purpose</a:t>
            </a:r>
            <a:endParaRPr/>
          </a:p>
          <a:p>
            <a:pPr indent="-342900" lvl="0" marL="457200" rtl="0" algn="l">
              <a:spcBef>
                <a:spcPts val="0"/>
              </a:spcBef>
              <a:spcAft>
                <a:spcPts val="0"/>
              </a:spcAft>
              <a:buSzPts val="1800"/>
              <a:buAutoNum type="arabicPeriod"/>
            </a:pPr>
            <a:r>
              <a:rPr lang="en"/>
              <a:t>Structured analysis</a:t>
            </a:r>
            <a:endParaRPr/>
          </a:p>
          <a:p>
            <a:pPr indent="-342900" lvl="0" marL="457200" rtl="0" algn="l">
              <a:spcBef>
                <a:spcPts val="0"/>
              </a:spcBef>
              <a:spcAft>
                <a:spcPts val="0"/>
              </a:spcAft>
              <a:buSzPts val="1800"/>
              <a:buAutoNum type="arabicPeriod"/>
            </a:pPr>
            <a:r>
              <a:rPr lang="en"/>
              <a:t>Written Summary</a:t>
            </a:r>
            <a:endParaRPr/>
          </a:p>
          <a:p>
            <a:pPr indent="0" lvl="0" marL="0" rtl="0" algn="l">
              <a:spcBef>
                <a:spcPts val="1200"/>
              </a:spcBef>
              <a:spcAft>
                <a:spcPts val="1200"/>
              </a:spcAft>
              <a:buNone/>
            </a:pPr>
            <a:r>
              <a:t/>
            </a:r>
            <a:endParaRPr/>
          </a:p>
        </p:txBody>
      </p:sp>
      <p:sp>
        <p:nvSpPr>
          <p:cNvPr id="152" name="Google Shape;152;p25"/>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ctrTitle"/>
          </p:nvPr>
        </p:nvSpPr>
        <p:spPr>
          <a:xfrm>
            <a:off x="0" y="0"/>
            <a:ext cx="9144000" cy="23889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Thank you! Any questions?</a:t>
            </a:r>
            <a:endParaRPr/>
          </a:p>
        </p:txBody>
      </p:sp>
      <p:sp>
        <p:nvSpPr>
          <p:cNvPr id="158" name="Google Shape;158;p26"/>
          <p:cNvSpPr txBox="1"/>
          <p:nvPr>
            <p:ph idx="1" type="subTitle"/>
          </p:nvPr>
        </p:nvSpPr>
        <p:spPr>
          <a:xfrm>
            <a:off x="0" y="2569475"/>
            <a:ext cx="9144000" cy="2574000"/>
          </a:xfrm>
          <a:prstGeom prst="rect">
            <a:avLst/>
          </a:prstGeom>
        </p:spPr>
        <p:txBody>
          <a:bodyPr anchorCtr="0" anchor="t" bIns="91425" lIns="91425" spcFirstLastPara="1" rIns="91425" wrap="square" tIns="274300">
            <a:noAutofit/>
          </a:bodyPr>
          <a:lstStyle/>
          <a:p>
            <a:pPr indent="0" lvl="0" marL="0" rtl="0" algn="ctr">
              <a:lnSpc>
                <a:spcPct val="150000"/>
              </a:lnSpc>
              <a:spcBef>
                <a:spcPts val="0"/>
              </a:spcBef>
              <a:spcAft>
                <a:spcPts val="0"/>
              </a:spcAft>
              <a:buNone/>
            </a:pPr>
            <a:r>
              <a:rPr lang="en" u="sng">
                <a:solidFill>
                  <a:schemeClr val="hlink"/>
                </a:solidFill>
                <a:hlinkClick r:id="rId3"/>
              </a:rPr>
              <a:t>dirk.riehle@fau.de</a:t>
            </a:r>
            <a:r>
              <a:rPr lang="en"/>
              <a:t> </a:t>
            </a:r>
            <a:r>
              <a:rPr lang="en" sz="2400"/>
              <a:t>–</a:t>
            </a:r>
            <a:r>
              <a:rPr lang="en"/>
              <a:t> </a:t>
            </a:r>
            <a:r>
              <a:rPr lang="en" u="sng">
                <a:solidFill>
                  <a:schemeClr val="hlink"/>
                </a:solidFill>
                <a:hlinkClick r:id="rId4"/>
              </a:rPr>
              <a:t>https://oss.cs.fau.de</a:t>
            </a:r>
            <a:endParaRPr/>
          </a:p>
          <a:p>
            <a:pPr indent="0" lvl="0" marL="0" rtl="0" algn="ctr">
              <a:lnSpc>
                <a:spcPct val="150000"/>
              </a:lnSpc>
              <a:spcBef>
                <a:spcPts val="0"/>
              </a:spcBef>
              <a:spcAft>
                <a:spcPts val="0"/>
              </a:spcAft>
              <a:buNone/>
            </a:pPr>
            <a:r>
              <a:rPr lang="en" sz="2400" u="sng">
                <a:solidFill>
                  <a:schemeClr val="hlink"/>
                </a:solidFill>
                <a:hlinkClick r:id="rId5"/>
              </a:rPr>
              <a:t>dirk@riehle.org</a:t>
            </a:r>
            <a:r>
              <a:rPr lang="en" sz="2400"/>
              <a:t> – </a:t>
            </a:r>
            <a:r>
              <a:rPr lang="en" sz="2400" u="sng">
                <a:solidFill>
                  <a:schemeClr val="hlink"/>
                </a:solidFill>
                <a:hlinkClick r:id="rId6"/>
              </a:rPr>
              <a:t>https://dirkriehle.com</a:t>
            </a:r>
            <a:r>
              <a:rPr lang="en" sz="2400"/>
              <a:t> – </a:t>
            </a:r>
            <a:r>
              <a:rPr lang="en" sz="2400" u="sng">
                <a:solidFill>
                  <a:schemeClr val="hlink"/>
                </a:solidFill>
                <a:hlinkClick r:id="rId7"/>
              </a:rPr>
              <a:t>@dirkriehle</a:t>
            </a:r>
            <a:endParaRPr sz="2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Legal Notices</a:t>
            </a:r>
            <a:endParaRPr/>
          </a:p>
        </p:txBody>
      </p:sp>
      <p:sp>
        <p:nvSpPr>
          <p:cNvPr id="164" name="Google Shape;164;p27"/>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
        <p:nvSpPr>
          <p:cNvPr id="165" name="Google Shape;165;p27"/>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License</a:t>
            </a:r>
            <a:endParaRPr/>
          </a:p>
          <a:p>
            <a:pPr indent="-342900" lvl="0" marL="457200" rtl="0" algn="l">
              <a:spcBef>
                <a:spcPts val="1200"/>
              </a:spcBef>
              <a:spcAft>
                <a:spcPts val="0"/>
              </a:spcAft>
              <a:buSzPts val="1800"/>
              <a:buChar char="●"/>
            </a:pPr>
            <a:r>
              <a:rPr lang="en"/>
              <a:t>Licensed under the </a:t>
            </a:r>
            <a:r>
              <a:rPr lang="en" u="sng">
                <a:solidFill>
                  <a:schemeClr val="hlink"/>
                </a:solidFill>
                <a:hlinkClick r:id="rId4"/>
              </a:rPr>
              <a:t>CC BY 4.0 International</a:t>
            </a:r>
            <a:r>
              <a:rPr lang="en"/>
              <a:t> license</a:t>
            </a:r>
            <a:endParaRPr/>
          </a:p>
          <a:p>
            <a:pPr indent="0" lvl="0" marL="0" rtl="0" algn="l">
              <a:spcBef>
                <a:spcPts val="1200"/>
              </a:spcBef>
              <a:spcAft>
                <a:spcPts val="0"/>
              </a:spcAft>
              <a:buNone/>
            </a:pPr>
            <a:r>
              <a:rPr lang="en"/>
              <a:t>Copyright</a:t>
            </a:r>
            <a:endParaRPr/>
          </a:p>
          <a:p>
            <a:pPr indent="-342900" lvl="0" marL="457200" rtl="0" algn="l">
              <a:spcBef>
                <a:spcPts val="1200"/>
              </a:spcBef>
              <a:spcAft>
                <a:spcPts val="0"/>
              </a:spcAft>
              <a:buSzPts val="1800"/>
              <a:buChar char="●"/>
            </a:pPr>
            <a:r>
              <a:rPr lang="en"/>
              <a:t>© 2025 Dirk Riehle, some rights reserved</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NYT Slides Template">
  <a:themeElements>
    <a:clrScheme name="Simple Light">
      <a:dk1>
        <a:srgbClr val="000000"/>
      </a:dk1>
      <a:lt1>
        <a:srgbClr val="FFFFFF"/>
      </a:lt1>
      <a:dk2>
        <a:srgbClr val="404040"/>
      </a:dk2>
      <a:lt2>
        <a:srgbClr val="808080"/>
      </a:lt2>
      <a:accent1>
        <a:srgbClr val="D0D0D0"/>
      </a:accent1>
      <a:accent2>
        <a:srgbClr val="4169E1"/>
      </a:accent2>
      <a:accent3>
        <a:srgbClr val="D50D01"/>
      </a:accent3>
      <a:accent4>
        <a:srgbClr val="FEB612"/>
      </a:accent4>
      <a:accent5>
        <a:srgbClr val="4CAF50"/>
      </a:accent5>
      <a:accent6>
        <a:srgbClr val="8E44AD"/>
      </a:accent6>
      <a:hlink>
        <a:srgbClr val="34A3C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
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Dirk RIEHL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11T15:47:21.956">
    <p:pos x="0" y="0"/>
    <p:text>@kaufmann@group.riehle.org For you for tomorrow
_Assigned to kaufmann@group.riehle.org_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35755dcc7ef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 name="Google Shape;35;g35755dcc7ef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1223fb568d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 name="Google Shape;41;g1223fb568d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1245a116bc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1245a116bc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125c9e0f2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125c9e0f2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cfff6f79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cfff6f79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25c9e0f25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25c9e0f25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25c9e0f25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25c9e0f25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25c9e0f25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25c9e0f25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25c9e0f25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25c9e0f25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25c9e0f25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25c9e0f25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5c9e0f25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5c9e0f25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25c9e0f25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25c9e0f25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25c9e0f25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25c9e0f25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755dcc7ef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5755dcc7ef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755dcc7e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5755dcc7e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0" y="0"/>
            <a:ext cx="9144000" cy="2388900"/>
          </a:xfrm>
          <a:prstGeom prst="rect">
            <a:avLst/>
          </a:prstGeom>
          <a:noFill/>
        </p:spPr>
        <p:txBody>
          <a:bodyPr anchorCtr="0" anchor="b" bIns="274300" lIns="91425" spcFirstLastPara="1" rIns="91425" wrap="square" tIns="91425">
            <a:noAutofit/>
          </a:bodyPr>
          <a:lstStyle>
            <a:lvl1pPr lvl="0" algn="ctr">
              <a:spcBef>
                <a:spcPts val="0"/>
              </a:spcBef>
              <a:spcAft>
                <a:spcPts val="0"/>
              </a:spcAft>
              <a:buClr>
                <a:schemeClr val="dk1"/>
              </a:buClr>
              <a:buSzPts val="4200"/>
              <a:buNone/>
              <a:defRPr sz="42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lvl1pPr lvl="0" algn="ctr">
              <a:lnSpc>
                <a:spcPct val="115000"/>
              </a:lnSpc>
              <a:spcBef>
                <a:spcPts val="0"/>
              </a:spcBef>
              <a:spcAft>
                <a:spcPts val="0"/>
              </a:spcAft>
              <a:buSzPts val="3000"/>
              <a:buNone/>
              <a:defRPr sz="3000"/>
            </a:lvl1pPr>
            <a:lvl2pPr lvl="1" algn="ctr">
              <a:lnSpc>
                <a:spcPct val="115000"/>
              </a:lnSpc>
              <a:spcBef>
                <a:spcPts val="0"/>
              </a:spcBef>
              <a:spcAft>
                <a:spcPts val="0"/>
              </a:spcAft>
              <a:buSzPts val="3200"/>
              <a:buNone/>
              <a:defRPr sz="3200"/>
            </a:lvl2pPr>
            <a:lvl3pPr lvl="2" algn="ctr">
              <a:lnSpc>
                <a:spcPct val="115000"/>
              </a:lnSpc>
              <a:spcBef>
                <a:spcPts val="0"/>
              </a:spcBef>
              <a:spcAft>
                <a:spcPts val="0"/>
              </a:spcAft>
              <a:buSzPts val="3200"/>
              <a:buNone/>
              <a:defRPr sz="3200"/>
            </a:lvl3pPr>
            <a:lvl4pPr lvl="3" algn="ctr">
              <a:lnSpc>
                <a:spcPct val="115000"/>
              </a:lnSpc>
              <a:spcBef>
                <a:spcPts val="0"/>
              </a:spcBef>
              <a:spcAft>
                <a:spcPts val="0"/>
              </a:spcAft>
              <a:buSzPts val="3200"/>
              <a:buNone/>
              <a:defRPr sz="3200"/>
            </a:lvl4pPr>
            <a:lvl5pPr lvl="4" algn="ctr">
              <a:lnSpc>
                <a:spcPct val="115000"/>
              </a:lnSpc>
              <a:spcBef>
                <a:spcPts val="0"/>
              </a:spcBef>
              <a:spcAft>
                <a:spcPts val="0"/>
              </a:spcAft>
              <a:buSzPts val="3200"/>
              <a:buNone/>
              <a:defRPr sz="3200"/>
            </a:lvl5pPr>
            <a:lvl6pPr lvl="5" algn="ctr">
              <a:lnSpc>
                <a:spcPct val="115000"/>
              </a:lnSpc>
              <a:spcBef>
                <a:spcPts val="0"/>
              </a:spcBef>
              <a:spcAft>
                <a:spcPts val="0"/>
              </a:spcAft>
              <a:buSzPts val="3200"/>
              <a:buNone/>
              <a:defRPr sz="3200"/>
            </a:lvl6pPr>
            <a:lvl7pPr lvl="6" algn="ctr">
              <a:lnSpc>
                <a:spcPct val="115000"/>
              </a:lnSpc>
              <a:spcBef>
                <a:spcPts val="0"/>
              </a:spcBef>
              <a:spcAft>
                <a:spcPts val="0"/>
              </a:spcAft>
              <a:buSzPts val="3200"/>
              <a:buNone/>
              <a:defRPr sz="3200"/>
            </a:lvl7pPr>
            <a:lvl8pPr lvl="7" algn="ctr">
              <a:lnSpc>
                <a:spcPct val="115000"/>
              </a:lnSpc>
              <a:spcBef>
                <a:spcPts val="0"/>
              </a:spcBef>
              <a:spcAft>
                <a:spcPts val="0"/>
              </a:spcAft>
              <a:buSzPts val="3200"/>
              <a:buNone/>
              <a:defRPr sz="3200"/>
            </a:lvl8pPr>
            <a:lvl9pPr lvl="8" algn="ctr">
              <a:lnSpc>
                <a:spcPct val="115000"/>
              </a:lnSpc>
              <a:spcBef>
                <a:spcPts val="0"/>
              </a:spcBef>
              <a:spcAft>
                <a:spcPts val="0"/>
              </a:spcAft>
              <a:buSzPts val="3200"/>
              <a:buNone/>
              <a:defRPr sz="3200"/>
            </a:lvl9pPr>
          </a:lstStyle>
          <a:p/>
        </p:txBody>
      </p:sp>
      <p:sp>
        <p:nvSpPr>
          <p:cNvPr id="12" name="Google Shape;12;p2"/>
          <p:cNvSpPr/>
          <p:nvPr/>
        </p:nvSpPr>
        <p:spPr>
          <a:xfrm>
            <a:off x="0" y="2388810"/>
            <a:ext cx="9144000" cy="1830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p:nvPr/>
        </p:nvSpPr>
        <p:spPr>
          <a:xfrm>
            <a:off x="0" y="2386584"/>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0" y="0"/>
            <a:ext cx="9144000" cy="685800"/>
          </a:xfrm>
          <a:prstGeom prst="rect">
            <a:avLst/>
          </a:prstGeom>
          <a:ln>
            <a:noFill/>
          </a:ln>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274320" y="914400"/>
            <a:ext cx="4114800" cy="41148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5"/>
          <p:cNvSpPr txBox="1"/>
          <p:nvPr>
            <p:ph idx="2" type="body"/>
          </p:nvPr>
        </p:nvSpPr>
        <p:spPr>
          <a:xfrm>
            <a:off x="4846320" y="914400"/>
            <a:ext cx="41148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5"/>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0" y="0"/>
            <a:ext cx="9144000" cy="685800"/>
          </a:xfrm>
          <a:prstGeom prst="rect">
            <a:avLst/>
          </a:prstGeom>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uni1.de/nyt" TargetMode="Externa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144000" cy="685800"/>
          </a:xfrm>
          <a:prstGeom prst="rect">
            <a:avLst/>
          </a:prstGeom>
          <a:noFill/>
          <a:ln>
            <a:noFill/>
          </a:ln>
        </p:spPr>
        <p:txBody>
          <a:bodyPr anchorCtr="0" anchor="ctr" bIns="0" lIns="274300" spcFirstLastPara="1" rIns="0" wrap="square" tIns="0">
            <a:noAutofit/>
          </a:bodyPr>
          <a:lstStyle>
            <a:lvl1pPr lvl="0">
              <a:spcBef>
                <a:spcPts val="0"/>
              </a:spcBef>
              <a:spcAft>
                <a:spcPts val="0"/>
              </a:spcAft>
              <a:buClr>
                <a:schemeClr val="dk1"/>
              </a:buClr>
              <a:buSzPts val="2400"/>
              <a:buNone/>
              <a:defRPr b="1" sz="24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74320" y="914400"/>
            <a:ext cx="8595300" cy="4114800"/>
          </a:xfrm>
          <a:prstGeom prst="rect">
            <a:avLst/>
          </a:prstGeom>
          <a:noFill/>
          <a:ln>
            <a:noFill/>
          </a:ln>
        </p:spPr>
        <p:txBody>
          <a:bodyPr anchorCtr="0" anchor="t" bIns="0" lIns="0" spcFirstLastPara="1" rIns="0" wrap="square" tIns="0">
            <a:noAutofit/>
          </a:bodyPr>
          <a:lstStyle>
            <a:lvl1pPr indent="-342900" lvl="0" marL="457200">
              <a:lnSpc>
                <a:spcPct val="115000"/>
              </a:lnSpc>
              <a:spcBef>
                <a:spcPts val="0"/>
              </a:spcBef>
              <a:spcAft>
                <a:spcPts val="0"/>
              </a:spcAft>
              <a:buClr>
                <a:schemeClr val="dk1"/>
              </a:buClr>
              <a:buSzPts val="1800"/>
              <a:buChar char="●"/>
              <a:defRPr sz="1800">
                <a:solidFill>
                  <a:schemeClr val="dk1"/>
                </a:solidFill>
              </a:defRPr>
            </a:lvl1pPr>
            <a:lvl2pPr indent="-317500" lvl="1" marL="914400">
              <a:lnSpc>
                <a:spcPct val="115000"/>
              </a:lnSpc>
              <a:spcBef>
                <a:spcPts val="0"/>
              </a:spcBef>
              <a:spcAft>
                <a:spcPts val="0"/>
              </a:spcAft>
              <a:buClr>
                <a:schemeClr val="dk1"/>
              </a:buClr>
              <a:buSzPts val="1400"/>
              <a:buChar char="○"/>
              <a:defRPr>
                <a:solidFill>
                  <a:schemeClr val="dk1"/>
                </a:solidFill>
              </a:defRPr>
            </a:lvl2pPr>
            <a:lvl3pPr indent="-317500" lvl="2" marL="1371600">
              <a:lnSpc>
                <a:spcPct val="115000"/>
              </a:lnSpc>
              <a:spcBef>
                <a:spcPts val="0"/>
              </a:spcBef>
              <a:spcAft>
                <a:spcPts val="0"/>
              </a:spcAft>
              <a:buClr>
                <a:schemeClr val="dk1"/>
              </a:buClr>
              <a:buSzPts val="1400"/>
              <a:buChar char="■"/>
              <a:defRPr>
                <a:solidFill>
                  <a:schemeClr val="dk1"/>
                </a:solidFill>
              </a:defRPr>
            </a:lvl3pPr>
            <a:lvl4pPr indent="-317500" lvl="3" marL="1828800">
              <a:lnSpc>
                <a:spcPct val="115000"/>
              </a:lnSpc>
              <a:spcBef>
                <a:spcPts val="0"/>
              </a:spcBef>
              <a:spcAft>
                <a:spcPts val="0"/>
              </a:spcAft>
              <a:buClr>
                <a:schemeClr val="dk1"/>
              </a:buClr>
              <a:buSzPts val="1400"/>
              <a:buChar char="●"/>
              <a:defRPr>
                <a:solidFill>
                  <a:schemeClr val="dk1"/>
                </a:solidFill>
              </a:defRPr>
            </a:lvl4pPr>
            <a:lvl5pPr indent="-317500" lvl="4" marL="2286000">
              <a:lnSpc>
                <a:spcPct val="115000"/>
              </a:lnSpc>
              <a:spcBef>
                <a:spcPts val="0"/>
              </a:spcBef>
              <a:spcAft>
                <a:spcPts val="0"/>
              </a:spcAft>
              <a:buClr>
                <a:schemeClr val="dk1"/>
              </a:buClr>
              <a:buSzPts val="1400"/>
              <a:buChar char="○"/>
              <a:defRPr>
                <a:solidFill>
                  <a:schemeClr val="dk1"/>
                </a:solidFill>
              </a:defRPr>
            </a:lvl5pPr>
            <a:lvl6pPr indent="-317500" lvl="5" marL="2743200">
              <a:lnSpc>
                <a:spcPct val="115000"/>
              </a:lnSpc>
              <a:spcBef>
                <a:spcPts val="0"/>
              </a:spcBef>
              <a:spcAft>
                <a:spcPts val="0"/>
              </a:spcAft>
              <a:buClr>
                <a:schemeClr val="dk1"/>
              </a:buClr>
              <a:buSzPts val="1400"/>
              <a:buChar char="■"/>
              <a:defRPr>
                <a:solidFill>
                  <a:schemeClr val="dk1"/>
                </a:solidFill>
              </a:defRPr>
            </a:lvl6pPr>
            <a:lvl7pPr indent="-317500" lvl="6" marL="3200400">
              <a:lnSpc>
                <a:spcPct val="115000"/>
              </a:lnSpc>
              <a:spcBef>
                <a:spcPts val="0"/>
              </a:spcBef>
              <a:spcAft>
                <a:spcPts val="0"/>
              </a:spcAft>
              <a:buClr>
                <a:schemeClr val="dk1"/>
              </a:buClr>
              <a:buSzPts val="1400"/>
              <a:buChar char="●"/>
              <a:defRPr>
                <a:solidFill>
                  <a:schemeClr val="dk1"/>
                </a:solidFill>
              </a:defRPr>
            </a:lvl7pPr>
            <a:lvl8pPr indent="-317500" lvl="7" marL="3657600">
              <a:lnSpc>
                <a:spcPct val="115000"/>
              </a:lnSpc>
              <a:spcBef>
                <a:spcPts val="0"/>
              </a:spcBef>
              <a:spcAft>
                <a:spcPts val="0"/>
              </a:spcAft>
              <a:buClr>
                <a:schemeClr val="dk1"/>
              </a:buClr>
              <a:buSzPts val="1400"/>
              <a:buChar char="○"/>
              <a:defRPr>
                <a:solidFill>
                  <a:schemeClr val="dk1"/>
                </a:solidFill>
              </a:defRPr>
            </a:lvl8pPr>
            <a:lvl9pPr indent="-317500" lvl="8" marL="411480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7315209" y="4229101"/>
            <a:ext cx="1828800" cy="914400"/>
          </a:xfrm>
          <a:prstGeom prst="rect">
            <a:avLst/>
          </a:prstGeom>
          <a:noFill/>
          <a:ln>
            <a:noFill/>
          </a:ln>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1"/>
              </a:rPr>
              <a:t>uni1.de/nyt</a:t>
            </a:r>
            <a:r>
              <a:rPr b="0" lang="en" sz="1000"/>
              <a:t> </a:t>
            </a:r>
            <a:endParaRPr b="0" sz="1000"/>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hyperlink" Target="http://creativecommons.org/licenses/by/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docs.google.com/document/d/1NOUEngJqzV1PpdnSYyAuIwpqum4DDqu3kTzgu9w5YgI" TargetMode="External"/><Relationship Id="rId4" Type="http://schemas.openxmlformats.org/officeDocument/2006/relationships/hyperlink" Target="http://uni1.de/ny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uni1.de/ny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uni1.de/ny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uni1.de/ny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uni1.de/ny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uni1.de/ny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uni1.de/ny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uni1.de/ny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uni1.de/ny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uni1.de/ny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uni1.de/ny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uni1.de/ny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mailto:andreas.kaufmann@fau.de" TargetMode="External"/><Relationship Id="rId4" Type="http://schemas.openxmlformats.org/officeDocument/2006/relationships/hyperlink" Target="https://oss.cs.fau.d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uni1.de/nyt" TargetMode="External"/><Relationship Id="rId4" Type="http://schemas.openxmlformats.org/officeDocument/2006/relationships/hyperlink" Target="http://creativecommons.org/licenses/by/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8"/>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Something</a:t>
            </a:r>
            <a:endParaRPr/>
          </a:p>
          <a:p>
            <a:pPr indent="0" lvl="0" marL="0" rtl="0" algn="ctr">
              <a:spcBef>
                <a:spcPts val="0"/>
              </a:spcBef>
              <a:spcAft>
                <a:spcPts val="0"/>
              </a:spcAft>
              <a:buNone/>
            </a:pPr>
            <a:r>
              <a:rPr lang="en"/>
              <a:t>(NYT Method Exercise)</a:t>
            </a:r>
            <a:endParaRPr/>
          </a:p>
        </p:txBody>
      </p:sp>
      <p:sp>
        <p:nvSpPr>
          <p:cNvPr id="38" name="Google Shape;38;p8"/>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spcBef>
                <a:spcPts val="0"/>
              </a:spcBef>
              <a:spcAft>
                <a:spcPts val="0"/>
              </a:spcAft>
              <a:buNone/>
            </a:pPr>
            <a:r>
              <a:rPr lang="en"/>
              <a:t>Andreas Kaufmann, FAU Erlangen</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
              <a:t>NYT-VUE</a:t>
            </a:r>
            <a:endParaRPr b="1"/>
          </a:p>
          <a:p>
            <a:pPr indent="0" lvl="0" marL="0" rtl="0" algn="ctr">
              <a:spcBef>
                <a:spcPts val="0"/>
              </a:spcBef>
              <a:spcAft>
                <a:spcPts val="0"/>
              </a:spcAft>
              <a:buNone/>
            </a:pPr>
            <a:r>
              <a:rPr lang="en" sz="1800"/>
              <a:t>Licensed under </a:t>
            </a:r>
            <a:r>
              <a:rPr lang="en" sz="1800" u="sng">
                <a:solidFill>
                  <a:schemeClr val="hlink"/>
                </a:solidFill>
                <a:hlinkClick r:id="rId4"/>
              </a:rPr>
              <a:t>CC BY 4.0 International</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Overview</a:t>
            </a:r>
            <a:endParaRPr/>
          </a:p>
        </p:txBody>
      </p:sp>
      <p:sp>
        <p:nvSpPr>
          <p:cNvPr id="44" name="Google Shape;44;p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Qualitatively code a group of documents following a provided codebook</a:t>
            </a:r>
            <a:endParaRPr/>
          </a:p>
          <a:p>
            <a:pPr indent="-317500" lvl="1" marL="914400" rtl="0" algn="l">
              <a:spcBef>
                <a:spcPts val="0"/>
              </a:spcBef>
              <a:spcAft>
                <a:spcPts val="0"/>
              </a:spcAft>
              <a:buSzPts val="1400"/>
              <a:buChar char="○"/>
            </a:pPr>
            <a:r>
              <a:rPr lang="en"/>
              <a:t>Download codebook from StudOn</a:t>
            </a:r>
            <a:endParaRPr/>
          </a:p>
          <a:p>
            <a:pPr indent="-342900" lvl="0" marL="457200" rtl="0" algn="l">
              <a:spcBef>
                <a:spcPts val="0"/>
              </a:spcBef>
              <a:spcAft>
                <a:spcPts val="0"/>
              </a:spcAft>
              <a:buSzPts val="1800"/>
              <a:buChar char="●"/>
            </a:pPr>
            <a:r>
              <a:rPr lang="en"/>
              <a:t>Each student will be given 6 documents</a:t>
            </a:r>
            <a:endParaRPr/>
          </a:p>
          <a:p>
            <a:pPr indent="-317500" lvl="1" marL="914400" rtl="0" algn="l">
              <a:spcBef>
                <a:spcPts val="0"/>
              </a:spcBef>
              <a:spcAft>
                <a:spcPts val="0"/>
              </a:spcAft>
              <a:buSzPts val="1400"/>
              <a:buChar char="○"/>
            </a:pPr>
            <a:r>
              <a:rPr lang="en"/>
              <a:t>Documents may not be shared with anyone</a:t>
            </a:r>
            <a:endParaRPr/>
          </a:p>
          <a:p>
            <a:pPr indent="-342900" lvl="0" marL="457200" rtl="0" algn="l">
              <a:spcBef>
                <a:spcPts val="0"/>
              </a:spcBef>
              <a:spcAft>
                <a:spcPts val="0"/>
              </a:spcAft>
              <a:buSzPts val="1800"/>
              <a:buChar char="●"/>
            </a:pPr>
            <a:r>
              <a:rPr lang="en"/>
              <a:t>Four exercises</a:t>
            </a:r>
            <a:endParaRPr/>
          </a:p>
          <a:p>
            <a:pPr indent="-317500" lvl="1" marL="914400" rtl="0" algn="l">
              <a:spcBef>
                <a:spcPts val="0"/>
              </a:spcBef>
              <a:spcAft>
                <a:spcPts val="0"/>
              </a:spcAft>
              <a:buSzPts val="1400"/>
              <a:buChar char="○"/>
            </a:pPr>
            <a:r>
              <a:rPr lang="en"/>
              <a:t>QDA Exercise 1 – code documents “Rick” and “Morty”</a:t>
            </a:r>
            <a:endParaRPr/>
          </a:p>
          <a:p>
            <a:pPr indent="-317500" lvl="1" marL="914400" rtl="0" algn="l">
              <a:spcBef>
                <a:spcPts val="0"/>
              </a:spcBef>
              <a:spcAft>
                <a:spcPts val="0"/>
              </a:spcAft>
              <a:buSzPts val="1400"/>
              <a:buChar char="○"/>
            </a:pPr>
            <a:r>
              <a:rPr lang="en"/>
              <a:t>QDA Exercise 2 – code documents “Margery” and “Homer”</a:t>
            </a:r>
            <a:endParaRPr/>
          </a:p>
          <a:p>
            <a:pPr indent="-317500" lvl="1" marL="914400" rtl="0" algn="l">
              <a:spcBef>
                <a:spcPts val="0"/>
              </a:spcBef>
              <a:spcAft>
                <a:spcPts val="0"/>
              </a:spcAft>
              <a:buSzPts val="1400"/>
              <a:buChar char="○"/>
            </a:pPr>
            <a:r>
              <a:rPr lang="en"/>
              <a:t>QDA Exercise 3 – code documents “Kyle” and “Stan”</a:t>
            </a:r>
            <a:endParaRPr/>
          </a:p>
          <a:p>
            <a:pPr indent="-317500" lvl="1" marL="914400" rtl="0" algn="l">
              <a:spcBef>
                <a:spcPts val="0"/>
              </a:spcBef>
              <a:spcAft>
                <a:spcPts val="0"/>
              </a:spcAft>
              <a:buSzPts val="1400"/>
              <a:buChar char="○"/>
            </a:pPr>
            <a:r>
              <a:rPr lang="en"/>
              <a:t>QDA Exercise 4 – 1-2 page conclusion to the research question of your choice based on your coding</a:t>
            </a:r>
            <a:endParaRPr/>
          </a:p>
          <a:p>
            <a:pPr indent="-342900" lvl="0" marL="457200" rtl="0" algn="l">
              <a:spcBef>
                <a:spcPts val="0"/>
              </a:spcBef>
              <a:spcAft>
                <a:spcPts val="0"/>
              </a:spcAft>
              <a:buSzPts val="1800"/>
              <a:buChar char="●"/>
            </a:pPr>
            <a:r>
              <a:rPr lang="en"/>
              <a:t>QDA Exercise 1-3 are performed on QDAcity. Submit your work on the “Exercise Dashboard”</a:t>
            </a:r>
            <a:endParaRPr/>
          </a:p>
          <a:p>
            <a:pPr indent="-342900" lvl="0" marL="457200" rtl="0" algn="l">
              <a:spcBef>
                <a:spcPts val="0"/>
              </a:spcBef>
              <a:spcAft>
                <a:spcPts val="0"/>
              </a:spcAft>
              <a:buSzPts val="1800"/>
              <a:buChar char="●"/>
            </a:pPr>
            <a:r>
              <a:rPr lang="en"/>
              <a:t>QDA Exercise 4 requires submission on StudOn</a:t>
            </a:r>
            <a:endParaRPr/>
          </a:p>
          <a:p>
            <a:pPr indent="-342900" lvl="0" marL="457200" rtl="0" algn="l">
              <a:spcBef>
                <a:spcPts val="0"/>
              </a:spcBef>
              <a:spcAft>
                <a:spcPts val="0"/>
              </a:spcAft>
              <a:buSzPts val="1800"/>
              <a:buChar char="●"/>
            </a:pPr>
            <a:r>
              <a:rPr lang="en"/>
              <a:t>For explanation how to join the course on qdacity </a:t>
            </a:r>
            <a:r>
              <a:rPr lang="en" u="sng">
                <a:solidFill>
                  <a:schemeClr val="hlink"/>
                </a:solidFill>
                <a:hlinkClick r:id="rId3"/>
              </a:rPr>
              <a:t>see here</a:t>
            </a:r>
            <a:endParaRPr/>
          </a:p>
        </p:txBody>
      </p:sp>
      <p:sp>
        <p:nvSpPr>
          <p:cNvPr id="45" name="Google Shape;45;p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4"/>
              </a:rPr>
              <a:t>uni1.de/nyt</a:t>
            </a:r>
            <a:r>
              <a:rPr b="0" lang="en" sz="1000"/>
              <a:t> </a:t>
            </a:r>
            <a:endParaRPr b="0"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Learning Process</a:t>
            </a:r>
            <a:endParaRPr/>
          </a:p>
        </p:txBody>
      </p:sp>
      <p:sp>
        <p:nvSpPr>
          <p:cNvPr id="51" name="Google Shape;51;p1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Read the codebook very carefully</a:t>
            </a:r>
            <a:endParaRPr/>
          </a:p>
          <a:p>
            <a:pPr indent="-342900" lvl="0" marL="457200" rtl="0" algn="l">
              <a:spcBef>
                <a:spcPts val="0"/>
              </a:spcBef>
              <a:spcAft>
                <a:spcPts val="0"/>
              </a:spcAft>
              <a:buSzPts val="1800"/>
              <a:buChar char="●"/>
            </a:pPr>
            <a:r>
              <a:rPr lang="en"/>
              <a:t>Use QDAcity for coding</a:t>
            </a:r>
            <a:endParaRPr/>
          </a:p>
          <a:p>
            <a:pPr indent="-342900" lvl="0" marL="457200" rtl="0" algn="l">
              <a:spcBef>
                <a:spcPts val="0"/>
              </a:spcBef>
              <a:spcAft>
                <a:spcPts val="0"/>
              </a:spcAft>
              <a:buSzPts val="1800"/>
              <a:buChar char="●"/>
            </a:pPr>
            <a:r>
              <a:rPr lang="en"/>
              <a:t>Work individually</a:t>
            </a:r>
            <a:endParaRPr/>
          </a:p>
          <a:p>
            <a:pPr indent="-342900" lvl="0" marL="457200" rtl="0" algn="l">
              <a:spcBef>
                <a:spcPts val="0"/>
              </a:spcBef>
              <a:spcAft>
                <a:spcPts val="0"/>
              </a:spcAft>
              <a:buSzPts val="1800"/>
              <a:buChar char="●"/>
            </a:pPr>
            <a:r>
              <a:rPr lang="en"/>
              <a:t>We will evaluate your weekly work on Mondays after class</a:t>
            </a:r>
            <a:endParaRPr/>
          </a:p>
          <a:p>
            <a:pPr indent="-342900" lvl="0" marL="457200" rtl="0" algn="l">
              <a:spcBef>
                <a:spcPts val="0"/>
              </a:spcBef>
              <a:spcAft>
                <a:spcPts val="0"/>
              </a:spcAft>
              <a:buSzPts val="1800"/>
              <a:buChar char="●"/>
            </a:pPr>
            <a:r>
              <a:rPr lang="en"/>
              <a:t>Recode the already coded document in each new week to make your coding consistent</a:t>
            </a:r>
            <a:endParaRPr/>
          </a:p>
          <a:p>
            <a:pPr indent="-342900" lvl="0" marL="457200" rtl="0" algn="l">
              <a:spcBef>
                <a:spcPts val="0"/>
              </a:spcBef>
              <a:spcAft>
                <a:spcPts val="0"/>
              </a:spcAft>
              <a:buSzPts val="1800"/>
              <a:buChar char="●"/>
            </a:pPr>
            <a:r>
              <a:rPr lang="en"/>
              <a:t>Post your questions on the StudOn form for NYT (be specific about what you don't understand or find unclear)</a:t>
            </a:r>
            <a:endParaRPr/>
          </a:p>
        </p:txBody>
      </p:sp>
      <p:sp>
        <p:nvSpPr>
          <p:cNvPr id="52" name="Google Shape;52;p1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Process on QDAcity</a:t>
            </a:r>
            <a:endParaRPr/>
          </a:p>
        </p:txBody>
      </p:sp>
      <p:sp>
        <p:nvSpPr>
          <p:cNvPr id="58" name="Google Shape;58;p1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In QDAcity the QDA exercise is just one exercise which you continue to work on</a:t>
            </a:r>
            <a:endParaRPr/>
          </a:p>
          <a:p>
            <a:pPr indent="-317500" lvl="1" marL="914400" rtl="0" algn="l">
              <a:spcBef>
                <a:spcPts val="0"/>
              </a:spcBef>
              <a:spcAft>
                <a:spcPts val="0"/>
              </a:spcAft>
              <a:buSzPts val="1400"/>
              <a:buChar char="○"/>
            </a:pPr>
            <a:r>
              <a:rPr lang="en"/>
              <a:t>However, the deadlines for the specific documents to be coded in Exercise 1, 2 and 3 are still relevant</a:t>
            </a:r>
            <a:endParaRPr/>
          </a:p>
          <a:p>
            <a:pPr indent="-342900" lvl="0" marL="457200" rtl="0" algn="l">
              <a:spcBef>
                <a:spcPts val="0"/>
              </a:spcBef>
              <a:spcAft>
                <a:spcPts val="0"/>
              </a:spcAft>
              <a:buSzPts val="1800"/>
              <a:buChar char="●"/>
            </a:pPr>
            <a:r>
              <a:rPr lang="en"/>
              <a:t>After each week we will create an intercoder agreement report</a:t>
            </a:r>
            <a:endParaRPr/>
          </a:p>
          <a:p>
            <a:pPr indent="-317500" lvl="1" marL="914400" rtl="0" algn="l">
              <a:spcBef>
                <a:spcPts val="0"/>
              </a:spcBef>
              <a:spcAft>
                <a:spcPts val="0"/>
              </a:spcAft>
              <a:buSzPts val="1400"/>
              <a:buChar char="○"/>
            </a:pPr>
            <a:r>
              <a:rPr lang="en"/>
              <a:t>This will show up on your exercise dashboard, where you also see the statistics of your project</a:t>
            </a:r>
            <a:endParaRPr/>
          </a:p>
        </p:txBody>
      </p:sp>
      <p:sp>
        <p:nvSpPr>
          <p:cNvPr id="59" name="Google Shape;59;p11"/>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Peer Feedback on</a:t>
            </a:r>
            <a:r>
              <a:rPr lang="en"/>
              <a:t> QDAcity</a:t>
            </a:r>
            <a:endParaRPr/>
          </a:p>
        </p:txBody>
      </p:sp>
      <p:sp>
        <p:nvSpPr>
          <p:cNvPr id="65" name="Google Shape;65;p1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After the report is generated you have the </a:t>
            </a:r>
            <a:r>
              <a:rPr b="1" lang="en"/>
              <a:t>option</a:t>
            </a:r>
            <a:r>
              <a:rPr lang="en"/>
              <a:t> of giving other course participants feedback on their coding</a:t>
            </a:r>
            <a:endParaRPr/>
          </a:p>
          <a:p>
            <a:pPr indent="-342900" lvl="0" marL="457200" rtl="0" algn="l">
              <a:spcBef>
                <a:spcPts val="0"/>
              </a:spcBef>
              <a:spcAft>
                <a:spcPts val="0"/>
              </a:spcAft>
              <a:buSzPts val="1800"/>
              <a:buChar char="●"/>
            </a:pPr>
            <a:r>
              <a:rPr lang="en"/>
              <a:t>For you this might have the benefit of seeing how other people work and potentially be inspired or see things that you overlooked and might do differently.</a:t>
            </a:r>
            <a:endParaRPr/>
          </a:p>
          <a:p>
            <a:pPr indent="-342900" lvl="0" marL="457200" rtl="0" algn="l">
              <a:spcBef>
                <a:spcPts val="0"/>
              </a:spcBef>
              <a:spcAft>
                <a:spcPts val="0"/>
              </a:spcAft>
              <a:buSzPts val="1800"/>
              <a:buChar char="●"/>
            </a:pPr>
            <a:r>
              <a:rPr lang="en"/>
              <a:t>If you do request other participants’ submission for peer feedback, do make an effort to give constructive feedback</a:t>
            </a:r>
            <a:endParaRPr/>
          </a:p>
          <a:p>
            <a:pPr indent="-317500" lvl="1" marL="914400" rtl="0" algn="l">
              <a:spcBef>
                <a:spcPts val="0"/>
              </a:spcBef>
              <a:spcAft>
                <a:spcPts val="0"/>
              </a:spcAft>
              <a:buSzPts val="1400"/>
              <a:buChar char="○"/>
            </a:pPr>
            <a:r>
              <a:rPr lang="en"/>
              <a:t>Giving feedback is not required, but if you do do it, do it so it helps out your fellow students</a:t>
            </a:r>
            <a:endParaRPr/>
          </a:p>
        </p:txBody>
      </p:sp>
      <p:sp>
        <p:nvSpPr>
          <p:cNvPr id="66" name="Google Shape;66;p1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Final Artifact</a:t>
            </a:r>
            <a:endParaRPr/>
          </a:p>
        </p:txBody>
      </p:sp>
      <p:sp>
        <p:nvSpPr>
          <p:cNvPr id="72" name="Google Shape;72;p1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For Method Exercise 4</a:t>
            </a:r>
            <a:r>
              <a:rPr lang="en"/>
              <a:t>, submit your 1-2 page conclusion to StudOn</a:t>
            </a:r>
            <a:endParaRPr/>
          </a:p>
          <a:p>
            <a:pPr indent="-317500" lvl="1" marL="914400" rtl="0" algn="l">
              <a:spcBef>
                <a:spcPts val="0"/>
              </a:spcBef>
              <a:spcAft>
                <a:spcPts val="0"/>
              </a:spcAft>
              <a:buSzPts val="1400"/>
              <a:buChar char="○"/>
            </a:pPr>
            <a:r>
              <a:rPr lang="en"/>
              <a:t>Submit as a PDF file</a:t>
            </a:r>
            <a:endParaRPr/>
          </a:p>
          <a:p>
            <a:pPr indent="-317500" lvl="1" marL="914400" rtl="0" algn="l">
              <a:spcBef>
                <a:spcPts val="0"/>
              </a:spcBef>
              <a:spcAft>
                <a:spcPts val="0"/>
              </a:spcAft>
              <a:buSzPts val="1400"/>
              <a:buChar char="○"/>
            </a:pPr>
            <a:r>
              <a:rPr lang="en"/>
              <a:t>State which research question you are answering</a:t>
            </a:r>
            <a:endParaRPr/>
          </a:p>
          <a:p>
            <a:pPr indent="-317500" lvl="2" marL="1371600" rtl="0" algn="l">
              <a:spcBef>
                <a:spcPts val="0"/>
              </a:spcBef>
              <a:spcAft>
                <a:spcPts val="0"/>
              </a:spcAft>
              <a:buSzPts val="1400"/>
              <a:buChar char="■"/>
            </a:pPr>
            <a:r>
              <a:rPr lang="en"/>
              <a:t>You may chose the specific wording of the research question your conclusion should answer (using the data from the project)</a:t>
            </a:r>
            <a:endParaRPr/>
          </a:p>
          <a:p>
            <a:pPr indent="-317500" lvl="2" marL="1371600" rtl="0" algn="l">
              <a:spcBef>
                <a:spcPts val="0"/>
              </a:spcBef>
              <a:spcAft>
                <a:spcPts val="0"/>
              </a:spcAft>
              <a:buSzPts val="1400"/>
              <a:buChar char="■"/>
            </a:pPr>
            <a:r>
              <a:rPr lang="en"/>
              <a:t>If you don’t want to come up with your own specific question, you may write about answering the general research question of “What are the most important challenges for remote work, and how are they </a:t>
            </a:r>
            <a:r>
              <a:rPr lang="en"/>
              <a:t>addressed</a:t>
            </a:r>
            <a:r>
              <a:rPr lang="en"/>
              <a:t> in industry?”</a:t>
            </a:r>
            <a:endParaRPr/>
          </a:p>
          <a:p>
            <a:pPr indent="-317500" lvl="1" marL="914400" rtl="0" algn="l">
              <a:spcBef>
                <a:spcPts val="0"/>
              </a:spcBef>
              <a:spcAft>
                <a:spcPts val="0"/>
              </a:spcAft>
              <a:buSzPts val="1400"/>
              <a:buChar char="○"/>
            </a:pPr>
            <a:r>
              <a:rPr lang="en"/>
              <a:t>Maximum of 2 pages</a:t>
            </a:r>
            <a:endParaRPr/>
          </a:p>
        </p:txBody>
      </p:sp>
      <p:sp>
        <p:nvSpPr>
          <p:cNvPr id="73" name="Google Shape;73;p1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Grading</a:t>
            </a:r>
            <a:endParaRPr/>
          </a:p>
        </p:txBody>
      </p:sp>
      <p:sp>
        <p:nvSpPr>
          <p:cNvPr id="79" name="Google Shape;79;p1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Grading of coding (ME 1 - ME 3) based on intercoder agreement</a:t>
            </a:r>
            <a:endParaRPr/>
          </a:p>
          <a:p>
            <a:pPr indent="-317500" lvl="1" marL="914400" rtl="0" algn="l">
              <a:spcBef>
                <a:spcPts val="0"/>
              </a:spcBef>
              <a:spcAft>
                <a:spcPts val="0"/>
              </a:spcAft>
              <a:buSzPts val="1400"/>
              <a:buChar char="○"/>
            </a:pPr>
            <a:r>
              <a:rPr lang="en"/>
              <a:t>Your work is compared to original coding</a:t>
            </a:r>
            <a:endParaRPr/>
          </a:p>
          <a:p>
            <a:pPr indent="-317500" lvl="1" marL="914400" rtl="0" algn="l">
              <a:spcBef>
                <a:spcPts val="0"/>
              </a:spcBef>
              <a:spcAft>
                <a:spcPts val="0"/>
              </a:spcAft>
              <a:buSzPts val="1400"/>
              <a:buChar char="○"/>
            </a:pPr>
            <a:r>
              <a:rPr lang="en"/>
              <a:t>We examine accuracy – both precision and recall – so indiscriminate coding is not advised</a:t>
            </a:r>
            <a:endParaRPr/>
          </a:p>
          <a:p>
            <a:pPr indent="-317500" lvl="1" marL="914400" rtl="0" algn="l">
              <a:spcBef>
                <a:spcPts val="0"/>
              </a:spcBef>
              <a:spcAft>
                <a:spcPts val="0"/>
              </a:spcAft>
              <a:buSzPts val="1400"/>
              <a:buChar char="○"/>
            </a:pPr>
            <a:r>
              <a:rPr lang="en"/>
              <a:t>Differences of a few words or punctuation are not considered</a:t>
            </a:r>
            <a:endParaRPr/>
          </a:p>
          <a:p>
            <a:pPr indent="-317500" lvl="1" marL="914400" rtl="0" algn="l">
              <a:spcBef>
                <a:spcPts val="0"/>
              </a:spcBef>
              <a:spcAft>
                <a:spcPts val="0"/>
              </a:spcAft>
              <a:buSzPts val="1400"/>
              <a:buChar char="○"/>
            </a:pPr>
            <a:r>
              <a:rPr lang="en"/>
              <a:t>Grading is automated</a:t>
            </a:r>
            <a:br>
              <a:rPr lang="en"/>
            </a:br>
            <a:endParaRPr/>
          </a:p>
          <a:p>
            <a:pPr indent="-342900" lvl="0" marL="457200" rtl="0" algn="l">
              <a:spcBef>
                <a:spcPts val="0"/>
              </a:spcBef>
              <a:spcAft>
                <a:spcPts val="0"/>
              </a:spcAft>
              <a:buSzPts val="1800"/>
              <a:buChar char="●"/>
            </a:pPr>
            <a:r>
              <a:rPr lang="en"/>
              <a:t>Sum of coding exercises calculated as follows:</a:t>
            </a:r>
            <a:endParaRPr/>
          </a:p>
          <a:p>
            <a:pPr indent="-317500" lvl="1" marL="914400" rtl="0" algn="l">
              <a:spcBef>
                <a:spcPts val="0"/>
              </a:spcBef>
              <a:spcAft>
                <a:spcPts val="0"/>
              </a:spcAft>
              <a:buSzPts val="1400"/>
              <a:buChar char="○"/>
            </a:pPr>
            <a:r>
              <a:rPr lang="en"/>
              <a:t>ME 1 – 15%</a:t>
            </a:r>
            <a:endParaRPr/>
          </a:p>
          <a:p>
            <a:pPr indent="-317500" lvl="1" marL="914400" rtl="0" algn="l">
              <a:spcBef>
                <a:spcPts val="0"/>
              </a:spcBef>
              <a:spcAft>
                <a:spcPts val="0"/>
              </a:spcAft>
              <a:buSzPts val="1400"/>
              <a:buChar char="○"/>
            </a:pPr>
            <a:r>
              <a:rPr lang="en"/>
              <a:t>ME 2 – 15%</a:t>
            </a:r>
            <a:endParaRPr/>
          </a:p>
          <a:p>
            <a:pPr indent="-317500" lvl="1" marL="914400" rtl="0" algn="l">
              <a:spcBef>
                <a:spcPts val="0"/>
              </a:spcBef>
              <a:spcAft>
                <a:spcPts val="0"/>
              </a:spcAft>
              <a:buSzPts val="1400"/>
              <a:buChar char="○"/>
            </a:pPr>
            <a:r>
              <a:rPr lang="en"/>
              <a:t>ME 3 – 40%</a:t>
            </a:r>
            <a:endParaRPr/>
          </a:p>
          <a:p>
            <a:pPr indent="-317500" lvl="1" marL="914400" rtl="0" algn="l">
              <a:spcBef>
                <a:spcPts val="0"/>
              </a:spcBef>
              <a:spcAft>
                <a:spcPts val="0"/>
              </a:spcAft>
              <a:buSzPts val="1400"/>
              <a:buChar char="○"/>
            </a:pPr>
            <a:r>
              <a:rPr lang="en"/>
              <a:t>ME 4 – 30%</a:t>
            </a:r>
            <a:endParaRPr/>
          </a:p>
        </p:txBody>
      </p:sp>
      <p:sp>
        <p:nvSpPr>
          <p:cNvPr id="80" name="Google Shape;80;p1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Code Hierarchy</a:t>
            </a:r>
            <a:endParaRPr/>
          </a:p>
        </p:txBody>
      </p:sp>
      <p:sp>
        <p:nvSpPr>
          <p:cNvPr id="86" name="Google Shape;86;p1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Do not apply category codes (eg. Codes with other codes below it); only use codes with no codes beneath them in the hierarchy.</a:t>
            </a:r>
            <a:endParaRPr/>
          </a:p>
          <a:p>
            <a:pPr indent="-342900" lvl="0" marL="457200" rtl="0" algn="l">
              <a:spcBef>
                <a:spcPts val="0"/>
              </a:spcBef>
              <a:spcAft>
                <a:spcPts val="0"/>
              </a:spcAft>
              <a:buSzPts val="1800"/>
              <a:buChar char="●"/>
            </a:pPr>
            <a:r>
              <a:rPr lang="en"/>
              <a:t>In the following example, code A should not be used: </a:t>
            </a:r>
            <a:endParaRPr/>
          </a:p>
          <a:p>
            <a:pPr indent="-342900" lvl="0" marL="457200" rtl="0" algn="l">
              <a:spcBef>
                <a:spcPts val="0"/>
              </a:spcBef>
              <a:spcAft>
                <a:spcPts val="0"/>
              </a:spcAft>
              <a:buClr>
                <a:schemeClr val="accent5"/>
              </a:buClr>
              <a:buSzPts val="1800"/>
              <a:buChar char="●"/>
            </a:pPr>
            <a:r>
              <a:rPr lang="en">
                <a:solidFill>
                  <a:schemeClr val="accent5"/>
                </a:solidFill>
              </a:rPr>
              <a:t>Category A</a:t>
            </a:r>
            <a:endParaRPr>
              <a:solidFill>
                <a:schemeClr val="accent5"/>
              </a:solidFill>
            </a:endParaRPr>
          </a:p>
          <a:p>
            <a:pPr indent="-317500" lvl="1" marL="914400" rtl="0" algn="l">
              <a:spcBef>
                <a:spcPts val="0"/>
              </a:spcBef>
              <a:spcAft>
                <a:spcPts val="0"/>
              </a:spcAft>
              <a:buClr>
                <a:schemeClr val="accent1"/>
              </a:buClr>
              <a:buSzPts val="1400"/>
              <a:buChar char="○"/>
            </a:pPr>
            <a:r>
              <a:rPr lang="en">
                <a:solidFill>
                  <a:schemeClr val="accent1"/>
                </a:solidFill>
              </a:rPr>
              <a:t>Concept B</a:t>
            </a:r>
            <a:endParaRPr>
              <a:solidFill>
                <a:schemeClr val="accent1"/>
              </a:solidFill>
            </a:endParaRPr>
          </a:p>
          <a:p>
            <a:pPr indent="-317500" lvl="1" marL="914400" rtl="0" algn="l">
              <a:spcBef>
                <a:spcPts val="0"/>
              </a:spcBef>
              <a:spcAft>
                <a:spcPts val="0"/>
              </a:spcAft>
              <a:buClr>
                <a:schemeClr val="accent1"/>
              </a:buClr>
              <a:buSzPts val="1400"/>
              <a:buChar char="○"/>
            </a:pPr>
            <a:r>
              <a:rPr lang="en">
                <a:solidFill>
                  <a:schemeClr val="accent1"/>
                </a:solidFill>
              </a:rPr>
              <a:t>Concept D</a:t>
            </a:r>
            <a:endParaRPr>
              <a:solidFill>
                <a:schemeClr val="accent1"/>
              </a:solidFill>
            </a:endParaRPr>
          </a:p>
          <a:p>
            <a:pPr indent="-317500" lvl="1" marL="914400" rtl="0" algn="l">
              <a:spcBef>
                <a:spcPts val="0"/>
              </a:spcBef>
              <a:spcAft>
                <a:spcPts val="0"/>
              </a:spcAft>
              <a:buClr>
                <a:schemeClr val="accent1"/>
              </a:buClr>
              <a:buSzPts val="1400"/>
              <a:buChar char="○"/>
            </a:pPr>
            <a:r>
              <a:rPr lang="en">
                <a:solidFill>
                  <a:schemeClr val="accent1"/>
                </a:solidFill>
              </a:rPr>
              <a:t>Concept E</a:t>
            </a:r>
            <a:endParaRPr>
              <a:solidFill>
                <a:schemeClr val="accent1"/>
              </a:solidFill>
            </a:endParaRPr>
          </a:p>
        </p:txBody>
      </p:sp>
      <p:sp>
        <p:nvSpPr>
          <p:cNvPr id="87" name="Google Shape;87;p1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Question Prompts</a:t>
            </a:r>
            <a:endParaRPr/>
          </a:p>
        </p:txBody>
      </p:sp>
      <p:sp>
        <p:nvSpPr>
          <p:cNvPr id="93" name="Google Shape;93;p1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Do not code the interviewer's question, except when it is needed to supply context.</a:t>
            </a:r>
            <a:endParaRPr/>
          </a:p>
          <a:p>
            <a:pPr indent="-317500" lvl="1" marL="914400" rtl="0" algn="l">
              <a:spcBef>
                <a:spcPts val="0"/>
              </a:spcBef>
              <a:spcAft>
                <a:spcPts val="0"/>
              </a:spcAft>
              <a:buSzPts val="1400"/>
              <a:buChar char="○"/>
            </a:pPr>
            <a:r>
              <a:rPr lang="en"/>
              <a:t>In this example, the question provides context and is coded if the answer is coded:</a:t>
            </a:r>
            <a:endParaRPr/>
          </a:p>
          <a:p>
            <a:pPr indent="-317500" lvl="2" marL="1371600" rtl="0" algn="l">
              <a:spcBef>
                <a:spcPts val="0"/>
              </a:spcBef>
              <a:spcAft>
                <a:spcPts val="0"/>
              </a:spcAft>
              <a:buClr>
                <a:schemeClr val="accent5"/>
              </a:buClr>
              <a:buSzPts val="1400"/>
              <a:buChar char="■"/>
            </a:pPr>
            <a:r>
              <a:rPr lang="en">
                <a:solidFill>
                  <a:schemeClr val="accent5"/>
                </a:solidFill>
              </a:rPr>
              <a:t>Interviewer: Have you ever seen a zebra?</a:t>
            </a:r>
            <a:endParaRPr>
              <a:solidFill>
                <a:schemeClr val="accent5"/>
              </a:solidFill>
            </a:endParaRPr>
          </a:p>
          <a:p>
            <a:pPr indent="-317500" lvl="2" marL="1371600" rtl="0" algn="l">
              <a:spcBef>
                <a:spcPts val="0"/>
              </a:spcBef>
              <a:spcAft>
                <a:spcPts val="0"/>
              </a:spcAft>
              <a:buClr>
                <a:schemeClr val="accent5"/>
              </a:buClr>
              <a:buSzPts val="1400"/>
              <a:buChar char="■"/>
            </a:pPr>
            <a:r>
              <a:rPr lang="en">
                <a:solidFill>
                  <a:schemeClr val="accent5"/>
                </a:solidFill>
              </a:rPr>
              <a:t>Interviewee: Yes, in Tanzania.</a:t>
            </a:r>
            <a:endParaRPr>
              <a:solidFill>
                <a:schemeClr val="accent5"/>
              </a:solidFill>
            </a:endParaRPr>
          </a:p>
          <a:p>
            <a:pPr indent="-317500" lvl="1" marL="914400" rtl="0" algn="l">
              <a:spcBef>
                <a:spcPts val="0"/>
              </a:spcBef>
              <a:spcAft>
                <a:spcPts val="0"/>
              </a:spcAft>
              <a:buSzPts val="1400"/>
              <a:buChar char="○"/>
            </a:pPr>
            <a:r>
              <a:rPr lang="en"/>
              <a:t>In this example, the question is not necessary to understand and is not coded even if the answer is:</a:t>
            </a:r>
            <a:endParaRPr/>
          </a:p>
          <a:p>
            <a:pPr indent="-317500" lvl="2" marL="1371600" rtl="0" algn="l">
              <a:spcBef>
                <a:spcPts val="0"/>
              </a:spcBef>
              <a:spcAft>
                <a:spcPts val="0"/>
              </a:spcAft>
              <a:buSzPts val="1400"/>
              <a:buChar char="■"/>
            </a:pPr>
            <a:r>
              <a:rPr lang="en"/>
              <a:t>Interviewer: Have you encountered a monkey?</a:t>
            </a:r>
            <a:endParaRPr/>
          </a:p>
          <a:p>
            <a:pPr indent="-317500" lvl="2" marL="1371600" rtl="0" algn="l">
              <a:spcBef>
                <a:spcPts val="0"/>
              </a:spcBef>
              <a:spcAft>
                <a:spcPts val="0"/>
              </a:spcAft>
              <a:buClr>
                <a:schemeClr val="accent5"/>
              </a:buClr>
              <a:buSzPts val="1400"/>
              <a:buChar char="■"/>
            </a:pPr>
            <a:r>
              <a:rPr lang="en">
                <a:solidFill>
                  <a:schemeClr val="accent5"/>
                </a:solidFill>
              </a:rPr>
              <a:t>Interviewee: A monkey stole my glasses in Shimla.</a:t>
            </a:r>
            <a:endParaRPr>
              <a:solidFill>
                <a:schemeClr val="accent5"/>
              </a:solidFill>
            </a:endParaRPr>
          </a:p>
        </p:txBody>
      </p:sp>
      <p:sp>
        <p:nvSpPr>
          <p:cNvPr id="94" name="Google Shape;94;p1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Coding Granularity</a:t>
            </a:r>
            <a:endParaRPr/>
          </a:p>
        </p:txBody>
      </p:sp>
      <p:sp>
        <p:nvSpPr>
          <p:cNvPr id="100" name="Google Shape;100;p1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Coding can be done at the multi-paragraph, paragraph, sentence or phrase level.</a:t>
            </a:r>
            <a:endParaRPr/>
          </a:p>
          <a:p>
            <a:pPr indent="-317500" lvl="1" marL="914400" rtl="0" algn="l">
              <a:spcBef>
                <a:spcPts val="0"/>
              </a:spcBef>
              <a:spcAft>
                <a:spcPts val="0"/>
              </a:spcAft>
              <a:buSzPts val="1400"/>
              <a:buChar char="○"/>
            </a:pPr>
            <a:r>
              <a:rPr lang="en"/>
              <a:t>These examples are all valid codings for an imaginary code 'cat' defined as all references to cats:</a:t>
            </a:r>
            <a:endParaRPr/>
          </a:p>
          <a:p>
            <a:pPr indent="-317500" lvl="2" marL="1371600" rtl="0" algn="l">
              <a:spcBef>
                <a:spcPts val="0"/>
              </a:spcBef>
              <a:spcAft>
                <a:spcPts val="0"/>
              </a:spcAft>
              <a:buSzPts val="1400"/>
              <a:buChar char="■"/>
            </a:pPr>
            <a:r>
              <a:rPr lang="en">
                <a:solidFill>
                  <a:schemeClr val="accent5"/>
                </a:solidFill>
              </a:rPr>
              <a:t>I like cats</a:t>
            </a:r>
            <a:r>
              <a:rPr lang="en"/>
              <a:t>, but I also like dogs. </a:t>
            </a:r>
            <a:r>
              <a:rPr lang="en">
                <a:solidFill>
                  <a:schemeClr val="accent5"/>
                </a:solidFill>
              </a:rPr>
              <a:t>My neighbors got a new cat last month, but it likes to sleep at my house.</a:t>
            </a:r>
            <a:endParaRPr/>
          </a:p>
          <a:p>
            <a:pPr indent="-317500" lvl="2" marL="1371600" rtl="0" algn="l">
              <a:spcBef>
                <a:spcPts val="0"/>
              </a:spcBef>
              <a:spcAft>
                <a:spcPts val="0"/>
              </a:spcAft>
              <a:buClr>
                <a:schemeClr val="accent5"/>
              </a:buClr>
              <a:buSzPts val="1400"/>
              <a:buChar char="■"/>
            </a:pPr>
            <a:r>
              <a:rPr lang="en">
                <a:solidFill>
                  <a:schemeClr val="accent5"/>
                </a:solidFill>
              </a:rPr>
              <a:t>Cats are the best when they come to to snuggle you when you're feeling down. I know people say cats are aloof, but mine always knew when I was sad and would come to cheer me up.</a:t>
            </a:r>
            <a:br>
              <a:rPr lang="en">
                <a:solidFill>
                  <a:schemeClr val="accent5"/>
                </a:solidFill>
              </a:rPr>
            </a:br>
            <a:r>
              <a:rPr lang="en">
                <a:solidFill>
                  <a:schemeClr val="accent5"/>
                </a:solidFill>
              </a:rPr>
              <a:t>I do find them annoying at times, for instance when they dig up the garden or yowl at night.</a:t>
            </a:r>
            <a:endParaRPr>
              <a:solidFill>
                <a:schemeClr val="accent5"/>
              </a:solidFill>
            </a:endParaRPr>
          </a:p>
          <a:p>
            <a:pPr indent="-317500" lvl="1" marL="914400" rtl="0" algn="l">
              <a:spcBef>
                <a:spcPts val="0"/>
              </a:spcBef>
              <a:spcAft>
                <a:spcPts val="0"/>
              </a:spcAft>
              <a:buSzPts val="1400"/>
              <a:buChar char="○"/>
            </a:pPr>
            <a:r>
              <a:rPr lang="en"/>
              <a:t>Note that examples in the codebook do not necessarily contain all adjacent text employing the code, only sufficient text for understanding the concept.</a:t>
            </a:r>
            <a:endParaRPr/>
          </a:p>
        </p:txBody>
      </p:sp>
      <p:sp>
        <p:nvSpPr>
          <p:cNvPr id="101" name="Google Shape;101;p17"/>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Positive and Negative</a:t>
            </a:r>
            <a:endParaRPr/>
          </a:p>
        </p:txBody>
      </p:sp>
      <p:sp>
        <p:nvSpPr>
          <p:cNvPr id="107" name="Google Shape;107;p18"/>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Both positive and negative examples of a concept should be coded. (unless otherwise specified)</a:t>
            </a:r>
            <a:endParaRPr/>
          </a:p>
          <a:p>
            <a:pPr indent="-317500" lvl="1" marL="914400" rtl="0" algn="l">
              <a:spcBef>
                <a:spcPts val="0"/>
              </a:spcBef>
              <a:spcAft>
                <a:spcPts val="0"/>
              </a:spcAft>
              <a:buSzPts val="1400"/>
              <a:buChar char="○"/>
            </a:pPr>
            <a:r>
              <a:rPr lang="en"/>
              <a:t>These are both examples of the code 'helpfulness':</a:t>
            </a:r>
            <a:endParaRPr/>
          </a:p>
          <a:p>
            <a:pPr indent="-317500" lvl="2" marL="1371600" rtl="0" algn="l">
              <a:spcBef>
                <a:spcPts val="0"/>
              </a:spcBef>
              <a:spcAft>
                <a:spcPts val="0"/>
              </a:spcAft>
              <a:buSzPts val="1400"/>
              <a:buChar char="■"/>
            </a:pPr>
            <a:r>
              <a:rPr lang="en"/>
              <a:t>You only need to ask him and he's happy to volunteer – making phone calls, sending out postcards – anything the organization needs, really.</a:t>
            </a:r>
            <a:endParaRPr/>
          </a:p>
          <a:p>
            <a:pPr indent="-317500" lvl="2" marL="1371600" rtl="0" algn="l">
              <a:spcBef>
                <a:spcPts val="0"/>
              </a:spcBef>
              <a:spcAft>
                <a:spcPts val="0"/>
              </a:spcAft>
              <a:buSzPts val="1400"/>
              <a:buChar char="■"/>
            </a:pPr>
            <a:r>
              <a:rPr lang="en"/>
              <a:t>They are not good for the group. Even when you ask them explicitly, they won't help you.</a:t>
            </a:r>
            <a:endParaRPr/>
          </a:p>
          <a:p>
            <a:pPr indent="-317500" lvl="1" marL="914400" rtl="0" algn="l">
              <a:spcBef>
                <a:spcPts val="0"/>
              </a:spcBef>
              <a:spcAft>
                <a:spcPts val="0"/>
              </a:spcAft>
              <a:buSzPts val="1400"/>
              <a:buChar char="○"/>
            </a:pPr>
            <a:r>
              <a:rPr lang="en"/>
              <a:t>Positive or negative opinions/practices are also both coded:</a:t>
            </a:r>
            <a:endParaRPr/>
          </a:p>
          <a:p>
            <a:pPr indent="-317500" lvl="2" marL="1371600" rtl="0" algn="l">
              <a:spcBef>
                <a:spcPts val="0"/>
              </a:spcBef>
              <a:spcAft>
                <a:spcPts val="0"/>
              </a:spcAft>
              <a:buSzPts val="1400"/>
              <a:buChar char="■"/>
            </a:pPr>
            <a:r>
              <a:rPr lang="en"/>
              <a:t>Organization does or doesn't engage in a practice</a:t>
            </a:r>
            <a:endParaRPr/>
          </a:p>
          <a:p>
            <a:pPr indent="-317500" lvl="2" marL="1371600" rtl="0" algn="l">
              <a:spcBef>
                <a:spcPts val="0"/>
              </a:spcBef>
              <a:spcAft>
                <a:spcPts val="0"/>
              </a:spcAft>
              <a:buSzPts val="1400"/>
              <a:buChar char="■"/>
            </a:pPr>
            <a:r>
              <a:rPr lang="en"/>
              <a:t>Speaker does or doesn't approve of something</a:t>
            </a:r>
            <a:endParaRPr/>
          </a:p>
        </p:txBody>
      </p:sp>
      <p:sp>
        <p:nvSpPr>
          <p:cNvPr id="108" name="Google Shape;108;p18"/>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Descriptions and Examples</a:t>
            </a:r>
            <a:endParaRPr/>
          </a:p>
        </p:txBody>
      </p:sp>
      <p:sp>
        <p:nvSpPr>
          <p:cNvPr id="114" name="Google Shape;114;p1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Both descriptions and examples should be coded, unless the codebook advises otherwise.</a:t>
            </a:r>
            <a:endParaRPr/>
          </a:p>
          <a:p>
            <a:pPr indent="-317500" lvl="1" marL="914400" rtl="0" algn="l">
              <a:spcBef>
                <a:spcPts val="0"/>
              </a:spcBef>
              <a:spcAft>
                <a:spcPts val="0"/>
              </a:spcAft>
              <a:buSzPts val="1400"/>
              <a:buChar char="○"/>
            </a:pPr>
            <a:r>
              <a:rPr lang="en"/>
              <a:t>In this example, 'style guide' is described:</a:t>
            </a:r>
            <a:endParaRPr/>
          </a:p>
          <a:p>
            <a:pPr indent="-317500" lvl="2" marL="1371600" rtl="0" algn="l">
              <a:spcBef>
                <a:spcPts val="0"/>
              </a:spcBef>
              <a:spcAft>
                <a:spcPts val="0"/>
              </a:spcAft>
              <a:buSzPts val="1400"/>
              <a:buChar char="■"/>
            </a:pPr>
            <a:r>
              <a:rPr lang="en"/>
              <a:t>Use this code for description of UXD style guide, its structure, related practices, benefits and use. Style guide mainly focuses on usability implementation, but can also have UXD design components.</a:t>
            </a:r>
            <a:endParaRPr/>
          </a:p>
          <a:p>
            <a:pPr indent="-317500" lvl="1" marL="914400" rtl="0" algn="l">
              <a:spcBef>
                <a:spcPts val="0"/>
              </a:spcBef>
              <a:spcAft>
                <a:spcPts val="0"/>
              </a:spcAft>
              <a:buSzPts val="1400"/>
              <a:buChar char="○"/>
            </a:pPr>
            <a:r>
              <a:rPr lang="en"/>
              <a:t>In this example, 'style guide' is demonstrated by example:</a:t>
            </a:r>
            <a:endParaRPr/>
          </a:p>
          <a:p>
            <a:pPr indent="-317500" lvl="2" marL="1371600" rtl="0" algn="l">
              <a:spcBef>
                <a:spcPts val="0"/>
              </a:spcBef>
              <a:spcAft>
                <a:spcPts val="0"/>
              </a:spcAft>
              <a:buSzPts val="1400"/>
              <a:buChar char="■"/>
            </a:pPr>
            <a:r>
              <a:rPr lang="en"/>
              <a:t>We also define the style guide. If we are not able to implement everything with base components, then we give out the style guide [saying] in which way the client departments have to develop.</a:t>
            </a:r>
            <a:endParaRPr/>
          </a:p>
        </p:txBody>
      </p:sp>
      <p:sp>
        <p:nvSpPr>
          <p:cNvPr id="115" name="Google Shape;115;p1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Research Questions</a:t>
            </a:r>
            <a:endParaRPr/>
          </a:p>
        </p:txBody>
      </p:sp>
      <p:sp>
        <p:nvSpPr>
          <p:cNvPr id="121" name="Google Shape;121;p2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Our research question: What are</a:t>
            </a:r>
            <a:r>
              <a:rPr lang="en"/>
              <a:t> the most important</a:t>
            </a:r>
            <a:r>
              <a:rPr lang="en"/>
              <a:t> challenges for remote work, and how are they addressed in industry?</a:t>
            </a:r>
            <a:endParaRPr/>
          </a:p>
          <a:p>
            <a:pPr indent="-342900" lvl="0" marL="457200" rtl="0" algn="l">
              <a:spcBef>
                <a:spcPts val="0"/>
              </a:spcBef>
              <a:spcAft>
                <a:spcPts val="0"/>
              </a:spcAft>
              <a:buSzPts val="1800"/>
              <a:buChar char="●"/>
            </a:pPr>
            <a:r>
              <a:rPr lang="en"/>
              <a:t>For the conclusion you can come up with your own question.</a:t>
            </a:r>
            <a:endParaRPr/>
          </a:p>
        </p:txBody>
      </p:sp>
      <p:sp>
        <p:nvSpPr>
          <p:cNvPr id="122" name="Google Shape;122;p2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Thank you! Any questions?</a:t>
            </a:r>
            <a:endParaRPr/>
          </a:p>
        </p:txBody>
      </p:sp>
      <p:sp>
        <p:nvSpPr>
          <p:cNvPr id="128" name="Google Shape;128;p21"/>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lnSpc>
                <a:spcPct val="150000"/>
              </a:lnSpc>
              <a:spcBef>
                <a:spcPts val="0"/>
              </a:spcBef>
              <a:spcAft>
                <a:spcPts val="0"/>
              </a:spcAft>
              <a:buNone/>
            </a:pPr>
            <a:r>
              <a:rPr lang="en" u="sng">
                <a:solidFill>
                  <a:schemeClr val="hlink"/>
                </a:solidFill>
                <a:hlinkClick r:id="rId3"/>
              </a:rPr>
              <a:t>andreas.kaufmann@fau.de</a:t>
            </a:r>
            <a:r>
              <a:rPr lang="en"/>
              <a:t> </a:t>
            </a:r>
            <a:r>
              <a:rPr lang="en" sz="2400"/>
              <a:t>–</a:t>
            </a:r>
            <a:r>
              <a:rPr lang="en"/>
              <a:t> </a:t>
            </a:r>
            <a:r>
              <a:rPr lang="en" u="sng">
                <a:solidFill>
                  <a:schemeClr val="hlink"/>
                </a:solidFill>
                <a:hlinkClick r:id="rId4"/>
              </a:rPr>
              <a:t>https://oss.cs.fau.de</a:t>
            </a:r>
            <a:endParaRPr/>
          </a:p>
          <a:p>
            <a:pPr indent="0" lvl="0" marL="0" rtl="0" algn="ctr">
              <a:lnSpc>
                <a:spcPct val="150000"/>
              </a:lnSpc>
              <a:spcBef>
                <a:spcPts val="0"/>
              </a:spcBef>
              <a:spcAft>
                <a:spcPts val="0"/>
              </a:spcAft>
              <a:buNone/>
            </a:pPr>
            <a:r>
              <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Legal Notices</a:t>
            </a:r>
            <a:endParaRPr/>
          </a:p>
        </p:txBody>
      </p:sp>
      <p:sp>
        <p:nvSpPr>
          <p:cNvPr id="134" name="Google Shape;134;p2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135" name="Google Shape;135;p2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License</a:t>
            </a:r>
            <a:endParaRPr/>
          </a:p>
          <a:p>
            <a:pPr indent="-342900" lvl="0" marL="457200" rtl="0" algn="l">
              <a:spcBef>
                <a:spcPts val="1200"/>
              </a:spcBef>
              <a:spcAft>
                <a:spcPts val="0"/>
              </a:spcAft>
              <a:buSzPts val="1800"/>
              <a:buChar char="●"/>
            </a:pPr>
            <a:r>
              <a:rPr lang="en"/>
              <a:t>Licensed under the </a:t>
            </a:r>
            <a:r>
              <a:rPr lang="en" u="sng">
                <a:solidFill>
                  <a:schemeClr val="hlink"/>
                </a:solidFill>
                <a:hlinkClick r:id="rId4"/>
              </a:rPr>
              <a:t>CC BY 4.0 International</a:t>
            </a:r>
            <a:r>
              <a:rPr lang="en"/>
              <a:t> license</a:t>
            </a:r>
            <a:endParaRPr/>
          </a:p>
          <a:p>
            <a:pPr indent="0" lvl="0" marL="0" rtl="0" algn="l">
              <a:spcBef>
                <a:spcPts val="1200"/>
              </a:spcBef>
              <a:spcAft>
                <a:spcPts val="0"/>
              </a:spcAft>
              <a:buNone/>
            </a:pPr>
            <a:r>
              <a:rPr lang="en"/>
              <a:t>Authors</a:t>
            </a:r>
            <a:endParaRPr/>
          </a:p>
          <a:p>
            <a:pPr indent="-342900" lvl="0" marL="457200" rtl="0" algn="l">
              <a:spcBef>
                <a:spcPts val="1200"/>
              </a:spcBef>
              <a:spcAft>
                <a:spcPts val="0"/>
              </a:spcAft>
              <a:buSzPts val="1800"/>
              <a:buChar char="●"/>
            </a:pPr>
            <a:r>
              <a:rPr lang="en"/>
              <a:t>2015-2023 Andreas Kaufmann</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YT Slides Template">
  <a:themeElements>
    <a:clrScheme name="Simple Light">
      <a:dk1>
        <a:srgbClr val="000000"/>
      </a:dk1>
      <a:lt1>
        <a:srgbClr val="FFFFFF"/>
      </a:lt1>
      <a:dk2>
        <a:srgbClr val="404040"/>
      </a:dk2>
      <a:lt2>
        <a:srgbClr val="808080"/>
      </a:lt2>
      <a:accent1>
        <a:srgbClr val="D0D0D0"/>
      </a:accent1>
      <a:accent2>
        <a:srgbClr val="4169E1"/>
      </a:accent2>
      <a:accent3>
        <a:srgbClr val="D50D01"/>
      </a:accent3>
      <a:accent4>
        <a:srgbClr val="FEB612"/>
      </a:accent4>
      <a:accent5>
        <a:srgbClr val="4CAF50"/>
      </a:accent5>
      <a:accent6>
        <a:srgbClr val="8E44AD"/>
      </a:accent6>
      <a:hlink>
        <a:srgbClr val="34A3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
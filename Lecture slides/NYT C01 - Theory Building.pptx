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F35E9E8-B69C-4D19-B8E1-E8E251BF4319}">
  <a:tblStyle styleId="{2F35E9E8-B69C-4D19-B8E1-E8E251BF43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c2cef79093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c2cef79093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db5e74812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db5e74812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0d8e0f0c03_2_5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g10d8e0f0c03_2_5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0d8e0f0c03_2_10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g10d8e0f0c03_2_10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1b46b0b1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11b46b0b1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25a00e051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25a00e051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c793a4f19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2c793a4f19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1b46b0b17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11b46b0b17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1b46b0b177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11b46b0b177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0d8e0f0c03_2_34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10d8e0f0c03_2_34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4348e09c3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4348e09c3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c8cad234f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c8cad234f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124a9c2c437_0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124a9c2c437_0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13c505fe4a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13c505fe4a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24a9c2c437_0_2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124a9c2c437_0_2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124a9c2c437_0_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124a9c2c437_0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4a9c2c437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4a9c2c437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124a9c2c437_0_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124a9c2c437_0_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124a9c2c437_0_4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124a9c2c437_0_4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140fc4602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140fc4602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124a9c2c437_0_5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124a9c2c437_0_5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124a9c2c437_0_5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124a9c2c437_0_5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24a9c2c437_0_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24a9c2c437_0_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124a9c2c437_0_5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124a9c2c437_0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124a9c2c437_0_5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124a9c2c437_0_5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124a9c2c437_0_5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124a9c2c437_0_5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4348e09c3b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4348e09c3b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24a9c2c437_0_5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24a9c2c437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124a9c2c437_0_3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124a9c2c437_0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24a9c2c437_0_3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24a9c2c437_0_3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1f3ffe9a5b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1f3ffe9a5b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214a56b9ddb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214a56b9ddb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124a9c2c437_0_3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124a9c2c437_0_3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11b49a521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11b49a521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14a56b9dd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14a56b9dd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124a9c2c437_0_3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124a9c2c437_0_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124a9c2c437_0_3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124a9c2c437_0_3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124a9c2c437_0_4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124a9c2c437_0_4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124a9c2c437_0_4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124a9c2c437_0_4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49ffd261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2149ffd261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24a9c2c437_0_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24a9c2c437_0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8716198ab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8716198ab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8716198abc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8716198abc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 and Structure</a:t>
            </a:r>
            <a:endParaRPr/>
          </a:p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800"/>
              <a:buAutoNum type="arabicPeriod" startAt="4"/>
            </a:pPr>
            <a:r>
              <a:rPr b="1" lang="en">
                <a:solidFill>
                  <a:schemeClr val="accent3"/>
                </a:solidFill>
              </a:rPr>
              <a:t>Theory building</a:t>
            </a:r>
            <a:endParaRPr b="1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Survey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Comprehensive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2"/>
            </a:pPr>
            <a:r>
              <a:rPr lang="en"/>
              <a:t>Design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Academia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writing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publishing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</a:t>
            </a:r>
            <a:r>
              <a:rPr lang="en"/>
              <a:t>heory building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research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Example methodologies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Multi-method research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Mixed-methods research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Theory Building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Logic and Process of Science (Recap)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79" name="Google Shape;79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Purpose of Theory Building</a:t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6" name="Google Shape;86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scientific theory building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Create, build out, and evaluate a theory that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Correctly explains and/or predicts reality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Can can be continuously tested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cost-efficient way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Terminology (theory building, development, etc.) may vary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Research Questions Answered</a:t>
            </a:r>
            <a:endParaRPr/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Explanatory questions like how, why?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Questions that lead to a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Not: Whether something is the case</a:t>
            </a:r>
            <a:endParaRPr/>
          </a:p>
        </p:txBody>
      </p:sp>
      <p:sp>
        <p:nvSpPr>
          <p:cNvPr id="93" name="Google Shape;93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Research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building research</a:t>
            </a:r>
            <a:r>
              <a:rPr lang="en"/>
              <a:t> is predominantly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Exploratory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Inductive Reasoning</a:t>
            </a:r>
            <a:endParaRPr/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Inductive research is based on </a:t>
            </a:r>
            <a:r>
              <a:rPr b="1" lang="en"/>
              <a:t>inductive reasoning</a:t>
            </a:r>
            <a:r>
              <a:rPr lang="en"/>
              <a:t> which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Abstracting from data by recognizing patterns and drawing conclusions</a:t>
            </a:r>
            <a:endParaRPr/>
          </a:p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08" name="Google Shape;10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2047875"/>
            <a:ext cx="3200400" cy="184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theory building process 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iterative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incremental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Mitigates risk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Never ends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Process</a:t>
            </a:r>
            <a:endParaRPr/>
          </a:p>
        </p:txBody>
      </p:sp>
      <p:sp>
        <p:nvSpPr>
          <p:cNvPr id="115" name="Google Shape;115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Processes by Methodology</a:t>
            </a:r>
            <a:endParaRPr/>
          </a:p>
        </p:txBody>
      </p:sp>
      <p:sp>
        <p:nvSpPr>
          <p:cNvPr id="121" name="Google Shape;121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22" name="Google Shape;12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2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a Good Theory? [1]</a:t>
            </a:r>
            <a:endParaRPr/>
          </a:p>
        </p:txBody>
      </p:sp>
      <p:sp>
        <p:nvSpPr>
          <p:cNvPr id="128" name="Google Shape;128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Testability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degree to which empirical refutation is possible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Empirical support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degree to which </a:t>
            </a:r>
            <a:r>
              <a:rPr lang="en"/>
              <a:t>empirical</a:t>
            </a:r>
            <a:r>
              <a:rPr lang="en"/>
              <a:t> studies support the theory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Explanatory power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degree to which all known observations can be explained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Parsimony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theory’s simplicity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Generality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</a:t>
            </a:r>
            <a:r>
              <a:rPr lang="en"/>
              <a:t>theory’s</a:t>
            </a:r>
            <a:r>
              <a:rPr lang="en"/>
              <a:t> breadth and width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Utility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</a:t>
            </a:r>
            <a:r>
              <a:rPr lang="en"/>
              <a:t>theory’s</a:t>
            </a:r>
            <a:r>
              <a:rPr lang="en"/>
              <a:t> applicability</a:t>
            </a:r>
            <a:endParaRPr/>
          </a:p>
        </p:txBody>
      </p:sp>
      <p:sp>
        <p:nvSpPr>
          <p:cNvPr id="129" name="Google Shape;12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Sjoberg et al. (2008)</a:t>
            </a:r>
            <a:r>
              <a:rPr lang="en"/>
              <a:t>: Building theories in software engineering.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Qualitative Research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 Terminology (Recap)</a:t>
            </a:r>
            <a:endParaRPr/>
          </a:p>
        </p:txBody>
      </p:sp>
      <p:sp>
        <p:nvSpPr>
          <p:cNvPr id="141" name="Google Shape;141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Researchers use a research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Recap: </a:t>
            </a:r>
            <a:r>
              <a:rPr lang="en"/>
              <a:t>A start-to-finish framework for performing theory building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To create a research design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Recap: </a:t>
            </a:r>
            <a:r>
              <a:rPr lang="en"/>
              <a:t>A process description for answering a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That utilizes research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Recap: </a:t>
            </a:r>
            <a:r>
              <a:rPr lang="en"/>
              <a:t>A method answering a type of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Which combine research 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Recap: </a:t>
            </a:r>
            <a:r>
              <a:rPr lang="en"/>
              <a:t>A way of doing something with a defined outcome</a:t>
            </a:r>
            <a:endParaRPr/>
          </a:p>
        </p:txBody>
      </p:sp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a Research Design a Qualitative Design?</a:t>
            </a:r>
            <a:endParaRPr/>
          </a:p>
        </p:txBody>
      </p:sp>
      <p:sp>
        <p:nvSpPr>
          <p:cNvPr id="148" name="Google Shape;148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</a:t>
            </a:r>
            <a:r>
              <a:rPr b="1" lang="en"/>
              <a:t>theory building </a:t>
            </a:r>
            <a:r>
              <a:rPr lang="en"/>
              <a:t>purpose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use of </a:t>
            </a:r>
            <a:r>
              <a:rPr b="1" lang="en"/>
              <a:t>purposive</a:t>
            </a:r>
            <a:r>
              <a:rPr b="1" lang="en"/>
              <a:t> sampling</a:t>
            </a:r>
            <a:r>
              <a:rPr lang="en"/>
              <a:t> in data collection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</a:t>
            </a:r>
            <a:r>
              <a:rPr lang="en"/>
              <a:t>acquisition and use of </a:t>
            </a:r>
            <a:r>
              <a:rPr b="1" lang="en"/>
              <a:t>qualitative data</a:t>
            </a:r>
            <a:endParaRPr b="1"/>
          </a:p>
        </p:txBody>
      </p:sp>
      <p:sp>
        <p:nvSpPr>
          <p:cNvPr id="149" name="Google Shape;149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vs. Quantitative Research Methods (Recap)</a:t>
            </a:r>
            <a:endParaRPr/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56" name="Google Shape;156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Qualitative Research Methodology (Recap)</a:t>
            </a:r>
            <a:endParaRPr/>
          </a:p>
        </p:txBody>
      </p:sp>
      <p:sp>
        <p:nvSpPr>
          <p:cNvPr id="162" name="Google Shape;162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qualitative survey</a:t>
            </a:r>
            <a:r>
              <a:rPr lang="en"/>
              <a:t> </a:t>
            </a:r>
            <a:r>
              <a:rPr lang="en"/>
              <a:t>according to Jansen (2010)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Write research protocol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sampling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Sample from population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Collect data from samples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Analyze data from samples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Iterate or conclude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Design Instantiation</a:t>
            </a:r>
            <a:endParaRPr/>
          </a:p>
        </p:txBody>
      </p:sp>
      <p:sp>
        <p:nvSpPr>
          <p:cNvPr id="169" name="Google Shape;169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70" name="Google Shape;170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Example Methodologies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Methodologies</a:t>
            </a:r>
            <a:endParaRPr/>
          </a:p>
        </p:txBody>
      </p:sp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categories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Systematic</a:t>
            </a:r>
            <a:r>
              <a:rPr b="1" lang="en"/>
              <a:t> review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Qualitative survey [1]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Action research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Case study research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Grounded theory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Ethnographies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Not a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Introspection</a:t>
            </a:r>
            <a:endParaRPr/>
          </a:p>
        </p:txBody>
      </p:sp>
      <p:sp>
        <p:nvSpPr>
          <p:cNvPr id="182" name="Google Shape;182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With most common subtype being the interview study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Action research </a:t>
            </a:r>
            <a:r>
              <a:rPr lang="en"/>
              <a:t>is a research methodology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Applies a theory being built to help create a desired outcome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Evaluates the theory as to its trustworthiness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Participatory action research</a:t>
            </a:r>
            <a:r>
              <a:rPr lang="en"/>
              <a:t> is action research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Joins a case (organization) to work side-by-side with practitioners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</a:t>
            </a:r>
            <a:endParaRPr/>
          </a:p>
        </p:txBody>
      </p:sp>
      <p:sp>
        <p:nvSpPr>
          <p:cNvPr id="190" name="Google Shape;190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Action Research Process</a:t>
            </a:r>
            <a:endParaRPr/>
          </a:p>
        </p:txBody>
      </p:sp>
      <p:sp>
        <p:nvSpPr>
          <p:cNvPr id="196" name="Google Shape;196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7" name="Google Shape;197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Identify (research) 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Create 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Choose focus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Execute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Observe effects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Learn from observations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8" name="Google Shape;19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4225" y="914400"/>
            <a:ext cx="2385391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Action Research Methodologies</a:t>
            </a:r>
            <a:endParaRPr/>
          </a:p>
        </p:txBody>
      </p:sp>
      <p:sp>
        <p:nvSpPr>
          <p:cNvPr id="204" name="Google Shape;204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Lewin (1946): </a:t>
            </a: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McIntyre (2007): </a:t>
            </a:r>
            <a:r>
              <a:rPr lang="en"/>
              <a:t>Participatory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Kemmis </a:t>
            </a:r>
            <a:r>
              <a:rPr lang="en"/>
              <a:t>et al. (2014): Critical participatory action research</a:t>
            </a:r>
            <a:endParaRPr/>
          </a:p>
        </p:txBody>
      </p:sp>
      <p:sp>
        <p:nvSpPr>
          <p:cNvPr id="205" name="Google Shape;205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Case study</a:t>
            </a:r>
            <a:r>
              <a:rPr b="1" lang="en"/>
              <a:t> research </a:t>
            </a:r>
            <a:r>
              <a:rPr lang="en"/>
              <a:t>is a research methodology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Investigates a (contemporary) phenomenon it its original context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Where the boundaries between phenomenon and context are blurry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</a:t>
            </a:r>
            <a:r>
              <a:rPr lang="en"/>
              <a:t> Research</a:t>
            </a:r>
            <a:endParaRPr/>
          </a:p>
        </p:txBody>
      </p:sp>
      <p:sp>
        <p:nvSpPr>
          <p:cNvPr id="212" name="Google Shape;212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</a:t>
            </a:r>
            <a:r>
              <a:rPr lang="en"/>
              <a:t> Research Process</a:t>
            </a:r>
            <a:endParaRPr/>
          </a:p>
        </p:txBody>
      </p:sp>
      <p:sp>
        <p:nvSpPr>
          <p:cNvPr id="218" name="Google Shape;218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19" name="Google Shape;219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Define research question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Create 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Iterate over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Select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Prepare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Collect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Report findings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0" name="Google Shape;22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0000" y="914400"/>
            <a:ext cx="2389632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Case Study Research Methodologies</a:t>
            </a:r>
            <a:endParaRPr/>
          </a:p>
        </p:txBody>
      </p:sp>
      <p:sp>
        <p:nvSpPr>
          <p:cNvPr id="226" name="Google Shape;226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Eisenhardt (1989): </a:t>
            </a:r>
            <a:r>
              <a:rPr lang="en"/>
              <a:t>Case study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Yin (2009): </a:t>
            </a:r>
            <a:r>
              <a:rPr lang="en"/>
              <a:t>Case study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Runeson et al. (2012): </a:t>
            </a:r>
            <a:r>
              <a:rPr lang="en"/>
              <a:t>Case study research in software engineering</a:t>
            </a:r>
            <a:endParaRPr/>
          </a:p>
        </p:txBody>
      </p:sp>
      <p:sp>
        <p:nvSpPr>
          <p:cNvPr id="227" name="Google Shape;227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Analytical research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is detached; goal is to understand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 [1]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is involved; goal is to improve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Design science research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is applied; goal is to innovate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Paradigms</a:t>
            </a:r>
            <a:endParaRPr/>
          </a:p>
        </p:txBody>
      </p:sp>
      <p:sp>
        <p:nvSpPr>
          <p:cNvPr id="234" name="Google Shape;234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35" name="Google Shape;235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Using the same name for research paradigm and methodology category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r>
              <a:rPr lang="en"/>
              <a:t>. Multi-Method Research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Multi-Method Research Designs</a:t>
            </a:r>
            <a:endParaRPr/>
          </a:p>
        </p:txBody>
      </p:sp>
      <p:sp>
        <p:nvSpPr>
          <p:cNvPr id="246" name="Google Shape;246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47" name="Google Shape;247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multi-method research design</a:t>
            </a:r>
            <a:r>
              <a:rPr lang="en"/>
              <a:t> is a research design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Uses multiple research methodologies for theory building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Such methodological triangulation improves trustworthiness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Multi-Method Research Design</a:t>
            </a:r>
            <a:endParaRPr/>
          </a:p>
        </p:txBody>
      </p:sp>
      <p:sp>
        <p:nvSpPr>
          <p:cNvPr id="253" name="Google Shape;253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practices of microservices integration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creation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Jansen (2010): The qualitative survey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build-out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Baskerville &amp; Harper (1996): </a:t>
            </a:r>
            <a:r>
              <a:rPr lang="en"/>
              <a:t>Participatory action research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evaluation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Runeson &amp; Höst (2009): </a:t>
            </a:r>
            <a:r>
              <a:rPr lang="en"/>
              <a:t>Case study research</a:t>
            </a:r>
            <a:endParaRPr/>
          </a:p>
        </p:txBody>
      </p:sp>
      <p:sp>
        <p:nvSpPr>
          <p:cNvPr id="254" name="Google Shape;254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Importance of Qualitative Data Analysis</a:t>
            </a:r>
            <a:endParaRPr/>
          </a:p>
        </p:txBody>
      </p:sp>
      <p:sp>
        <p:nvSpPr>
          <p:cNvPr id="260" name="Google Shape;260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61" name="Google Shape;26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r>
              <a:rPr lang="en"/>
              <a:t>. Mixed-Methods Research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Mixed-Methods Research Design</a:t>
            </a:r>
            <a:endParaRPr/>
          </a:p>
        </p:txBody>
      </p:sp>
      <p:sp>
        <p:nvSpPr>
          <p:cNvPr id="272" name="Google Shape;272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mixed-methods research design </a:t>
            </a:r>
            <a:r>
              <a:rPr lang="en"/>
              <a:t>is a research design that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Combines qualitative with quantitative research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Mixed-Method Research Design</a:t>
            </a:r>
            <a:endParaRPr/>
          </a:p>
        </p:txBody>
      </p:sp>
      <p:sp>
        <p:nvSpPr>
          <p:cNvPr id="279" name="Google Shape;279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Novel programming language feature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Hypothesis creation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Jansen (2010): The qualitative survey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Hypothesis test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Wohlin (2012): </a:t>
            </a:r>
            <a:r>
              <a:rPr lang="en"/>
              <a:t>Controlled experiment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building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Jansen (2010): The qualitative survey</a:t>
            </a:r>
            <a:endParaRPr/>
          </a:p>
        </p:txBody>
      </p:sp>
      <p:sp>
        <p:nvSpPr>
          <p:cNvPr id="280" name="Google Shape;280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Causal Analysis / </a:t>
            </a:r>
            <a:r>
              <a:rPr lang="en"/>
              <a:t>Correlation and Causation</a:t>
            </a:r>
            <a:endParaRPr/>
          </a:p>
        </p:txBody>
      </p:sp>
      <p:sp>
        <p:nvSpPr>
          <p:cNvPr id="286" name="Google Shape;28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87" name="Google Shape;287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Quality Assurance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for Research Methods (Recap)</a:t>
            </a:r>
            <a:endParaRPr/>
          </a:p>
        </p:txBody>
      </p:sp>
      <p:sp>
        <p:nvSpPr>
          <p:cNvPr id="298" name="Google Shape;298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99" name="Google Shape;299;p4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{2F35E9E8-B69C-4D19-B8E1-E8E251BF4319}</a:tableStyleId>
              </a:tblPr>
              <a:tblGrid>
                <a:gridCol w="2865125"/>
                <a:gridCol w="2865125"/>
                <a:gridCol w="286512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Intuition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Qualitative research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Quantitative research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Truth value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Credibility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Internal validity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Applicability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Transferability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External validity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Consistency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Dependability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Reliability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Neutrality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/>
                        <a:t>Confirmability</a:t>
                      </a:r>
                      <a:endParaRPr b="1"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Objectivity</a:t>
                      </a:r>
                      <a:endParaRPr sz="18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5"/>
          <p:cNvSpPr txBox="1"/>
          <p:nvPr>
            <p:ph idx="1" type="body"/>
          </p:nvPr>
        </p:nvSpPr>
        <p:spPr>
          <a:xfrm>
            <a:off x="274325" y="914400"/>
            <a:ext cx="8869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Credibility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of confidence in the truth of the findings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Transferability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to which findings can be transferred to another context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Dependability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to which findings are stable over time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Confirmability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to which the findings can be confirmed by other researchers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Trustworthiness</a:t>
            </a:r>
            <a:endParaRPr/>
          </a:p>
        </p:txBody>
      </p:sp>
      <p:sp>
        <p:nvSpPr>
          <p:cNvPr id="306" name="Google Shape;306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Establishing Quality (Not: Assuring it)</a:t>
            </a:r>
            <a:endParaRPr/>
          </a:p>
        </p:txBody>
      </p:sp>
      <p:sp>
        <p:nvSpPr>
          <p:cNvPr id="312" name="Google Shape;312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in qualitative research is “established”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Quality is proactively baked into the methods</a:t>
            </a:r>
            <a:endParaRPr/>
          </a:p>
        </p:txBody>
      </p:sp>
      <p:sp>
        <p:nvSpPr>
          <p:cNvPr id="313" name="Google Shape;313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for Establishing Quality [1]</a:t>
            </a:r>
            <a:endParaRPr/>
          </a:p>
        </p:txBody>
      </p:sp>
      <p:sp>
        <p:nvSpPr>
          <p:cNvPr id="319" name="Google Shape;319;p47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Credibility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Prolonged Engagement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Persistent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(Different forms of) triangulation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 debriefing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Negative case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Referential adequacy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Member-checking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Transferability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Thick description</a:t>
            </a:r>
            <a:endParaRPr/>
          </a:p>
        </p:txBody>
      </p:sp>
      <p:sp>
        <p:nvSpPr>
          <p:cNvPr id="320" name="Google Shape;320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21" name="Google Shape;321;p47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Dependability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Inquiry audit</a:t>
            </a:r>
            <a:br>
              <a:rPr lang="en"/>
            </a:br>
            <a:br>
              <a:rPr lang="en"/>
            </a:br>
            <a:br>
              <a:rPr lang="en"/>
            </a:b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Confirmability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Confirmability audit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Audit trail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Triangulation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Reflexivity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Guba &amp; Lincoln (1982)</a:t>
            </a:r>
            <a:r>
              <a:rPr lang="en"/>
              <a:t>: Naturalistic inquiry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28" name="Google Shape;328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29" name="Google Shape;329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</a:t>
            </a:r>
            <a:r>
              <a:rPr lang="en"/>
              <a:t>heory building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research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Example methodologies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Multi-method research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Mixed-methods research</a:t>
            </a:r>
            <a:endParaRPr/>
          </a:p>
          <a:p>
            <a:pPr indent="-330200" lvl="0" marL="4191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35" name="Google Shape;335;p4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41" name="Google Shape;341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42" name="Google Shape;342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
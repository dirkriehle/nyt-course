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irk RIEHL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23864A-7A3D-4A13-9983-7017896D629A}">
  <a:tblStyle styleId="{9823864A-7A3D-4A13-9983-7017896D62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slide" Target="slides/slide4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5-06T12:15:16.703">
    <p:pos x="172" y="576"/>
    <p:text>@riehle@group.riehle.org Triangulation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2cef7909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2cef7909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d8e0f0c03_2_5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10d8e0f0c03_2_5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d8e0f0c03_2_10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10d8e0f0c03_2_10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b46b0b1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b46b0b1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5a00e051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5a00e051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793a4f1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c793a4f1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1b46b0b17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1b46b0b17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1b46b0b17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1b46b0b17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d8e0f0c03_2_34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10d8e0f0c03_2_34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348e09c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4348e09c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8cad234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8cad234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24a9c2c437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24a9c2c437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3c505fe4a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13c505fe4a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4a9c2c437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4a9c2c437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24a9c2c437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24a9c2c437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4a9c2c437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24a9c2c437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4a9c2c437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4a9c2c437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4a9c2c437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24a9c2c43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140fc460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140fc460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24a9c2c437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24a9c2c437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24a9c2c437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24a9c2c437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4a9c2c437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24a9c2c437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24a9c2c437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24a9c2c437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4a9c2c437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4a9c2c437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4a9c2c437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4a9c2c437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4348e09c3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4348e09c3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24a9c2c437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24a9c2c437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24a9c2c43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24a9c2c43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4a9c2c437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24a9c2c43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14a56b9d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14a56b9d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f3ffe9a5b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f3ffe9a5b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4a56b9dd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14a56b9dd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24a9c2c437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24a9c2c437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1b49a521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1b49a521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14a56b9dd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14a56b9dd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24a9c2c437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24a9c2c437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24a9c2c437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24a9c2c437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24a9c2c437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24a9c2c437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24a9c2c437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24a9c2c437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49ffd26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149ffd26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24a9c2c437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24a9c2c437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393cc1463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393cc1463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393cc1463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393cc1463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uni1.de/ny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uni1.de/ny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uni1.de/ny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comments" Target="../comments/comment1.xml"/><Relationship Id="rId4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uni1.de/ny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uni1.de/ny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uni1.de/nyt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uni1.de/nyt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uni1.de/nyt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C01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</a:t>
            </a:r>
            <a:r>
              <a:rPr lang="en"/>
              <a:t>heory building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research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Example methodologies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Multi-method research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Mixed-methods research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Theory Building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Logic and Process of Science (Recap)</a:t>
            </a:r>
            <a:endParaRPr/>
          </a:p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of Theory Building</a:t>
            </a:r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scientific theory building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Create, build out, and evaluate a theory that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Correctly explains and/or predicts reality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can be continuously tested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cost-efficient way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Research Questions Answered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Explanatory questions like how, why?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Questions that lead to a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Not: Whether something is the case</a:t>
            </a:r>
            <a:endParaRPr/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Research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Theory building research</a:t>
            </a:r>
            <a:r>
              <a:rPr lang="en"/>
              <a:t> is predominantly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Exploratory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Inductive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Qualitative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Inductive Reasoning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Inductive research is based on </a:t>
            </a:r>
            <a:r>
              <a:rPr b="1" lang="en"/>
              <a:t>inductive reasoning</a:t>
            </a:r>
            <a:r>
              <a:rPr lang="en"/>
              <a:t> which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Abstracting from data by recognizing patterns and drawing conclusions</a:t>
            </a:r>
            <a:endParaRPr/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5" y="2047875"/>
            <a:ext cx="32004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theory building process 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iterative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incremental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Mitigates risk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Never ends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Process</a:t>
            </a:r>
            <a:endParaRPr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Processes by Methodology</a:t>
            </a:r>
            <a:endParaRPr/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14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a Good Theory? [1]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degree to which empirical refutation is possible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Empirical 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degree to which </a:t>
            </a:r>
            <a:r>
              <a:rPr lang="en"/>
              <a:t>empirical</a:t>
            </a:r>
            <a:r>
              <a:rPr lang="en"/>
              <a:t> studies support the theory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Explanatory power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degree to which all known observations can be explained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Parsimony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theory’s simplicity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/>
              <a:t>theory</a:t>
            </a:r>
            <a:r>
              <a:rPr lang="en"/>
              <a:t> breadth and width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Utility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/>
              <a:t>theory</a:t>
            </a:r>
            <a:r>
              <a:rPr lang="en"/>
              <a:t> applicability</a:t>
            </a:r>
            <a:endParaRPr/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08" name="Google Shape;108;p1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Sjoberg et al. (2008): Building theories in software engineering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Qualitative Research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Terminology (Recap)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Researchers use a research methodology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Recap: </a:t>
            </a:r>
            <a:r>
              <a:rPr lang="en"/>
              <a:t>A start-to-finish framework for performing theory building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create a research design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Recap: </a:t>
            </a:r>
            <a:r>
              <a:rPr lang="en"/>
              <a:t>A process description for answering a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That utilizes research methods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Recap: </a:t>
            </a:r>
            <a:r>
              <a:rPr lang="en"/>
              <a:t>A method answering a type of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Which combine research practices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Recap: </a:t>
            </a:r>
            <a:r>
              <a:rPr lang="en"/>
              <a:t>A way of doing something with a defined outcome</a:t>
            </a:r>
            <a:endParaRPr/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a Research Design a Qualitative Design?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</a:t>
            </a:r>
            <a:r>
              <a:rPr b="1" lang="en"/>
              <a:t>theory building </a:t>
            </a:r>
            <a:r>
              <a:rPr lang="en"/>
              <a:t>purpose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use of </a:t>
            </a:r>
            <a:r>
              <a:rPr b="1" lang="en"/>
              <a:t>theoretical sampling</a:t>
            </a:r>
            <a:r>
              <a:rPr lang="en"/>
              <a:t> in data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</a:t>
            </a:r>
            <a:r>
              <a:rPr lang="en"/>
              <a:t>acquisition and use of </a:t>
            </a:r>
            <a:r>
              <a:rPr b="1" lang="en"/>
              <a:t>qualitative data</a:t>
            </a:r>
            <a:endParaRPr b="1"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vs. Quantitative Research Methods (Recap)</a:t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Qualitative Research Methodology (Recap)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qualitative survey</a:t>
            </a:r>
            <a:r>
              <a:rPr lang="en"/>
              <a:t> </a:t>
            </a:r>
            <a:r>
              <a:rPr lang="en"/>
              <a:t>according to Jansen (2010)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research protocol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sampling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Sample for theory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interviews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Analyze transcriptions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Determine saturation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Iterate or conclude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Research Design Instantiation / Refinement</a:t>
            </a:r>
            <a:endParaRPr/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Example Methodologies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Methodologies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categories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Systematic</a:t>
            </a:r>
            <a:r>
              <a:rPr b="1" lang="en"/>
              <a:t> review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Qualitative survey [1]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Action research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Case study research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Grounded theory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Ethnographies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a methodology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Introspection</a:t>
            </a:r>
            <a:endParaRPr/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61" name="Google Shape;161;p2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A.k.a. interview study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Action research </a:t>
            </a:r>
            <a:r>
              <a:rPr lang="en"/>
              <a:t>is a research methodology in which the researcher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Applies a theory being built to help create a desired outcome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Evaluates the theory as to its trustworthiness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Participatory action research</a:t>
            </a:r>
            <a:r>
              <a:rPr lang="en"/>
              <a:t> is action research in which the researcher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Joins a case (organization) to work side-by-side with practitioners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Research</a:t>
            </a:r>
            <a:endParaRPr/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Action Research Process</a:t>
            </a:r>
            <a:endParaRPr/>
          </a:p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Identify (research)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research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Choose focus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Plan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Execute 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Observe effects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Learn from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Action Research Methodologies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Lewin (1946): </a:t>
            </a:r>
            <a:r>
              <a:rPr lang="en"/>
              <a:t>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McIntyre (2007): </a:t>
            </a:r>
            <a:r>
              <a:rPr lang="en"/>
              <a:t>Participatory 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Kemmis </a:t>
            </a:r>
            <a:r>
              <a:rPr lang="en"/>
              <a:t>et al. (2014): Critical participatory action research</a:t>
            </a:r>
            <a:endParaRPr/>
          </a:p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Case study</a:t>
            </a:r>
            <a:r>
              <a:rPr b="1" lang="en"/>
              <a:t> research </a:t>
            </a:r>
            <a:r>
              <a:rPr lang="en"/>
              <a:t>is a research methodology in which the researcher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Investigates a (contemporary) phenomenon it its original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the boundaries between phenomenon and context are blurry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r>
              <a:rPr lang="en"/>
              <a:t> Research</a:t>
            </a:r>
            <a:endParaRPr/>
          </a:p>
        </p:txBody>
      </p:sp>
      <p:sp>
        <p:nvSpPr>
          <p:cNvPr id="190" name="Google Shape;190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r>
              <a:rPr lang="en"/>
              <a:t> Research Process</a:t>
            </a:r>
            <a:endParaRPr/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Define research question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research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Iterate over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Select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Prepare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Collect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Analyze data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Report findings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Case Study Research Methodologies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Eisenhardt (1989): </a:t>
            </a:r>
            <a:r>
              <a:rPr lang="en"/>
              <a:t>Case study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Yin (2009): </a:t>
            </a:r>
            <a:r>
              <a:rPr lang="en"/>
              <a:t>Case study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Runeson et al. (2012): </a:t>
            </a:r>
            <a:r>
              <a:rPr lang="en"/>
              <a:t>Case study research in software engineering</a:t>
            </a:r>
            <a:endParaRPr/>
          </a:p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Analytical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 is detached; goal is understanding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 research [1]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 is involved; goal is improving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science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 is applied; goal is innovation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Paradigms</a:t>
            </a:r>
            <a:endParaRPr/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13" name="Google Shape;213;p3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Using the same name for research paradigm and methodology category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Multi-Method Research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Multi-Method Research Designs</a:t>
            </a:r>
            <a:endParaRPr/>
          </a:p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multi-method research design</a:t>
            </a:r>
            <a:r>
              <a:rPr lang="en"/>
              <a:t> is a research design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multiple research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Within either theory building or validation research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Multi-Method Research Design</a:t>
            </a:r>
            <a:endParaRPr/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of microservices integration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creation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Jansen (2010): The qualitative survey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build-out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Baskerville &amp; Harper (1996): </a:t>
            </a:r>
            <a:r>
              <a:rPr lang="en"/>
              <a:t>Participatory action research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evaluation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Runeson &amp; Höst (2009): </a:t>
            </a:r>
            <a:r>
              <a:rPr lang="en"/>
              <a:t>Case study research</a:t>
            </a:r>
            <a:endParaRPr/>
          </a:p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and Triangulation Using</a:t>
            </a:r>
            <a:r>
              <a:rPr lang="en"/>
              <a:t> Multiple Methods</a:t>
            </a:r>
            <a:endParaRPr/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Importance of Qualitative Data Analysis</a:t>
            </a:r>
            <a:endParaRPr/>
          </a:p>
        </p:txBody>
      </p:sp>
      <p:sp>
        <p:nvSpPr>
          <p:cNvPr id="245" name="Google Shape;245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. Mixed-Methods Research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Mixed-Methods Research Design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mixed-methods research design </a:t>
            </a:r>
            <a:r>
              <a:rPr lang="en"/>
              <a:t>is a research design that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Combines qualitative with quantitative research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Mixed-Method Research Design</a:t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 programming language feature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Hypothesis creation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Jansen (2010): The qualitative survey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Hypothesis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Wohlin (2012): </a:t>
            </a:r>
            <a:r>
              <a:rPr lang="en"/>
              <a:t>Controlled experiment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building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Jansen (2010): The qualitative survey</a:t>
            </a:r>
            <a:endParaRPr/>
          </a:p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Analysis / </a:t>
            </a:r>
            <a:r>
              <a:rPr lang="en"/>
              <a:t>Correlation and Causation</a:t>
            </a:r>
            <a:endParaRPr/>
          </a:p>
        </p:txBody>
      </p:sp>
      <p:sp>
        <p:nvSpPr>
          <p:cNvPr id="271" name="Google Shape;271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72" name="Google Shape;27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Quality Assurance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Criteria for Research Methods (Recap)</a:t>
            </a:r>
            <a:endParaRPr/>
          </a:p>
        </p:txBody>
      </p:sp>
      <p:sp>
        <p:nvSpPr>
          <p:cNvPr id="283" name="Google Shape;283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84" name="Google Shape;284;p4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{9823864A-7A3D-4A13-9983-7017896D629A}</a:tableStyleId>
              </a:tblPr>
              <a:tblGrid>
                <a:gridCol w="2865125"/>
                <a:gridCol w="2865125"/>
                <a:gridCol w="2865125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Intuition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Qualitative research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Quantitative research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Truth value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Credibility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Internal validity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Applicability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Transferability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External validity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Consistency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Dependability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Reliability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Neutrality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Confirmability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Objectivity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>
            <p:ph idx="1" type="body"/>
          </p:nvPr>
        </p:nvSpPr>
        <p:spPr>
          <a:xfrm>
            <a:off x="274325" y="914400"/>
            <a:ext cx="8869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Credibility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of confidence in the truth of the findings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Transferability </a:t>
            </a:r>
            <a:r>
              <a:rPr lang="en"/>
              <a:t>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to which findings can be transferred to another context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Dependability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to which findings are stable over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Confirmability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to which the findings can be confirmed by other researchers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Trustworthiness</a:t>
            </a:r>
            <a:endParaRPr/>
          </a:p>
        </p:txBody>
      </p:sp>
      <p:sp>
        <p:nvSpPr>
          <p:cNvPr id="291" name="Google Shape;291;p4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Establishing Quality (Not: Assuring it)</a:t>
            </a:r>
            <a:endParaRPr/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in qualitative research is “established”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Quality is proactively baked into the methods</a:t>
            </a:r>
            <a:endParaRPr/>
          </a:p>
        </p:txBody>
      </p:sp>
      <p:sp>
        <p:nvSpPr>
          <p:cNvPr id="298" name="Google Shape;298;p4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Practices for Establishing Quality [1]</a:t>
            </a:r>
            <a:endParaRPr/>
          </a:p>
        </p:txBody>
      </p:sp>
      <p:sp>
        <p:nvSpPr>
          <p:cNvPr id="304" name="Google Shape;304;p47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Credibility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Prolonged Engagement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Persistent Observation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(Different forms of) triangulation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 debriefing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Negative case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Referential adequacy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Member-checking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Transferability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Thick description</a:t>
            </a:r>
            <a:endParaRPr/>
          </a:p>
        </p:txBody>
      </p:sp>
      <p:sp>
        <p:nvSpPr>
          <p:cNvPr id="305" name="Google Shape;305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06" name="Google Shape;306;p47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Dependability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Inquiry audit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Confirmability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Confirmability audit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Audit trail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Triangulation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Reflexivity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Guba &amp; Lincoln (1982)</a:t>
            </a:r>
            <a:r>
              <a:rPr lang="en"/>
              <a:t>: Naturalistic inquiry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13" name="Google Shape;313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14" name="Google Shape;314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</a:t>
            </a:r>
            <a:r>
              <a:rPr lang="en"/>
              <a:t>heory building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research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Example methodologies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Multi-method research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Mixed-methods research</a:t>
            </a:r>
            <a:endParaRPr/>
          </a:p>
          <a:p>
            <a:pPr indent="-330200" lvl="0" marL="4191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20" name="Google Shape;320;p4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26" name="Google Shape;326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27" name="Google Shape;327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
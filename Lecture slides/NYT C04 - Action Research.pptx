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D3C862-BBA2-4F46-9870-D3B035DD21E1}">
  <a:tblStyle styleId="{3CD3C862-BBA2-4F46-9870-D3B035DD21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c3601aed9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c3601aed9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b5e42fd5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b5e42fd5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7e14a22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7e14a22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27e14a22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27e14a22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3601aed9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3601aed9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d3036de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d3036de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b5ccdf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b5ccdf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bb148f78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bb148f78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27e14a22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27e14a22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4ad2ef21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24ad2ef21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a15b0fd7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a15b0fd7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bb148f78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bb148f78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3abade36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33abade36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bb148f7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1bb148f7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bb148f78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1bb148f78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bb148f78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bb148f7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3abade3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3abade3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179b616e8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179b616e8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3abade36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3abade36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3be5e16e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3be5e16e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33be5e16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33be5e16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c3601aed9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c3601aed9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f428e7a1d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f428e7a1d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f428e7a1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f428e7a1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c3601aed9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c3601aed9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c3601aed9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c3601aed9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c3601aed9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c3601aed9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c3601aed9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c3601aed9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c3601aed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c3601aed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c4bb9ecc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c4bb9ecc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c7a6e250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c7a6e25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3601aed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c3601aed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f428e7a1d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f428e7a1d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f428e7a1d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f428e7a1d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c3601aed9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c3601aed9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3be5e16e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33be5e16e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33be5e16e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33be5e16e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3601aed9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c3601aed9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33abade36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33abade36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33be5e16e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33be5e16e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c3601aed9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c3601aed9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33be5e16e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33be5e16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33be5e16e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33be5e16e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c3601aed9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c3601aed9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33be5e16e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33be5e16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33be5e16e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33be5e16e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c3601aed9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c3601aed9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f428e7a1d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f428e7a1d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179b616e8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179b616e8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c3601aed9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c3601aed9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33be5e16e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33be5e16e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715d4e8c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8715d4e8c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715d4e8c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715d4e8c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hyperlink" Target="https://oss.cs.fau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ss.cs.fau.d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oss.cs.fau.d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oss.cs.fau.d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oss.cs.fau.d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oss.cs.fau.de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oss.cs.fau.de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oss.cs.fau.de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oss.cs.fau.de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oss.cs.fau.de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Research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C04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Content and Structure</a:t>
            </a:r>
            <a:endParaRPr/>
          </a:p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https://uni1.de/nyt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is science?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Scientific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data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Theory building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Theory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Systematic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Qualitative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 startAt="4"/>
            </a:pPr>
            <a:r>
              <a:rPr b="1" lang="en">
                <a:solidFill>
                  <a:schemeClr val="accent3"/>
                </a:solidFill>
              </a:rPr>
              <a:t>Action research</a:t>
            </a:r>
            <a:endParaRPr b="1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Case study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Theory validation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Theory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Survey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Controlled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Comprehensive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12"/>
            </a:pPr>
            <a:r>
              <a:rPr lang="en"/>
              <a:t>Design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Academia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13"/>
            </a:pPr>
            <a:r>
              <a:rPr lang="en"/>
              <a:t>Academic writing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13"/>
            </a:pPr>
            <a:r>
              <a:rPr lang="en"/>
              <a:t>Academic publishing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Participatory 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Problem identification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action-feedback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Action Research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Research</a:t>
            </a:r>
            <a:endParaRPr/>
          </a:p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Action research</a:t>
            </a:r>
            <a:r>
              <a:rPr lang="en"/>
              <a:t> is a research methodology in which the researcher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Iterates over </a:t>
            </a:r>
            <a:r>
              <a:rPr b="1" lang="en"/>
              <a:t>applying</a:t>
            </a:r>
            <a:r>
              <a:rPr lang="en"/>
              <a:t>, evaluating, and revising a theory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</a:t>
            </a:r>
            <a:r>
              <a:rPr b="1" lang="en"/>
              <a:t>cause change</a:t>
            </a:r>
            <a:r>
              <a:rPr lang="en"/>
              <a:t> and build out the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researcher is not just a distant observer!</a:t>
            </a:r>
            <a:endParaRPr/>
          </a:p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Facilitation vs. Participation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researcher is not necessarily executing the action themselves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outside researcher is a facilitator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inside researcher is a participant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Duality of Purpose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action research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Improve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out a theory</a:t>
            </a:r>
            <a:endParaRPr/>
          </a:p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Action Research Process</a:t>
            </a:r>
            <a:endParaRPr/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</a:t>
            </a:r>
            <a:r>
              <a:rPr lang="en"/>
              <a:t> research is linear yet iterative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Identify </a:t>
            </a:r>
            <a:r>
              <a:rPr lang="en"/>
              <a:t>research </a:t>
            </a:r>
            <a:r>
              <a:rPr lang="en"/>
              <a:t>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</a:t>
            </a:r>
            <a:r>
              <a:rPr lang="en"/>
              <a:t>research </a:t>
            </a:r>
            <a:r>
              <a:rPr lang="en"/>
              <a:t>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Choose focus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Plan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Execute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Observe effects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Learn from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Report findings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3275" y="914400"/>
            <a:ext cx="2386361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Motivations for Action Research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 action research </a:t>
            </a:r>
            <a:r>
              <a:rPr lang="en"/>
              <a:t>is interested 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Improving control over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Educational action research</a:t>
            </a:r>
            <a:r>
              <a:rPr lang="en"/>
              <a:t> is motivated by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Helping practitioners act more wisely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Critical action research</a:t>
            </a:r>
            <a:r>
              <a:rPr lang="en"/>
              <a:t> is motivated by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Emancipating practitioners</a:t>
            </a:r>
            <a:endParaRPr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Action research (AR)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original research methodology (as before)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Participatory action research (PAR)</a:t>
            </a:r>
            <a:r>
              <a:rPr lang="en"/>
              <a:t> is action research in which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researcher is an active participant of the whole research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Critical (theory) participatory action research</a:t>
            </a:r>
            <a:r>
              <a:rPr lang="en"/>
              <a:t> is action research in which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research uses critical theory as the underlying epistemological position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Critical theory seeks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“to liberate human beings from the circumstances that enslave them” [1]</a:t>
            </a:r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Variants of Action Research</a:t>
            </a:r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Horckheimer (1982): Critical theory.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Research Methodology Category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Action research (Lewin, 1946)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Participatory action research (McIntyre, 2008)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Critical participatory action research (Kemmis et al., 2014)</a:t>
            </a:r>
            <a:endParaRPr/>
          </a:p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Research in a Larger Research Design</a:t>
            </a:r>
            <a:endParaRPr/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337560" y="1554480"/>
            <a:ext cx="2469000" cy="2469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Sweet Spot for Action Research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Participatory action research is a good choice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an initial theory already in place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researcher has access to appropriate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theory under development is evolving quickly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significant tacit knowledge</a:t>
            </a:r>
            <a:r>
              <a:rPr lang="en"/>
              <a:t> with the researcher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Participants expect to learn/benefit from the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Consulting as Action Research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industry consulting (paid or unpaid), a researcher provides advice to practitioners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Researchers are called upon to help improve the outcome of practitioner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do not have to be participants (of implementation), but may simply advise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Industry consulting on new, novel topics, works well with action research</a:t>
            </a:r>
            <a:endParaRPr/>
          </a:p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Participatory Action Research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Participatory Action Research (PAR)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Participatory action research</a:t>
            </a:r>
            <a:r>
              <a:rPr lang="en"/>
              <a:t> is action research in which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Researchers and practitioners perform the work together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the practitioners, this has the following consequences; they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understand and develop practices while on the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develop a joint, reflective, language of critical debate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form communities of practice based on the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Participatory action research is a “practice-changing practice”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Kemmis et al. (2014): Critical participatory action research.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Participatory Action Research (CPAR)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96023" y="914400"/>
            <a:ext cx="56736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Critical participatory action research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Empowers participants to change practices given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irrational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unsustainable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unjust situations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critical theory added, we are leaving positivism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objective independent reality but rather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 and collective action and reflection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30" y="914400"/>
            <a:ext cx="2595066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Specificity / No Fixed Formula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Participatory action research is context-dependent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Every research project is different and so are the employed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May require significant adaptation to situation beyond the core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Participatory action research has no single theoretical framework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in Participatory Action Research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 is a participant, some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Practitioners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are either in the researcher or practitioner role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Researchers are temporary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Practitioners are (more) permanent participants</a:t>
            </a:r>
            <a:endParaRPr/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Participation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Participants are stakeholders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Participation may be uneven</a:t>
            </a:r>
            <a:endParaRPr/>
          </a:p>
        </p:txBody>
      </p:sp>
      <p:sp>
        <p:nvSpPr>
          <p:cNvPr id="186" name="Google Shape;186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Participation vs. Involvement</a:t>
            </a:r>
            <a:endParaRPr/>
          </a:p>
        </p:txBody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Involvement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agency or ownership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Action</a:t>
            </a:r>
            <a:r>
              <a:rPr lang="en"/>
              <a:t> Research Process in Context</a:t>
            </a:r>
            <a:endParaRPr/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Names by Methodology Variant</a:t>
            </a:r>
            <a:endParaRPr/>
          </a:p>
        </p:txBody>
      </p:sp>
      <p:sp>
        <p:nvSpPr>
          <p:cNvPr id="201" name="Google Shape;201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202" name="Google Shape;202;p29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{3CD3C862-BBA2-4F46-9870-D3B035DD21E1}</a:tableStyleId>
              </a:tblPr>
              <a:tblGrid>
                <a:gridCol w="2148850"/>
                <a:gridCol w="2148850"/>
                <a:gridCol w="2148850"/>
                <a:gridCol w="2148850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Generic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Action research [1]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Participatory AR [2]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Critical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PAR [3]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Questioning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Choosing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Investigating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Reconnaissance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Planning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Planning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Developing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Planning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Enacting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Learning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Fact-finding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Refining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Reflection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29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/>
              <a:t>Lewin (1946): Action research.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See McIntyre (2008): Participatory action research.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See Kemmis et al. (2014): Critical participatory action research.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Problem Identification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Identification</a:t>
            </a:r>
            <a:endParaRPr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choose action research, because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theory is young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may have a project at hand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project can benefit from your help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approach the project with the goal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Helping practitioners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Performing research</a:t>
            </a:r>
            <a:endParaRPr/>
          </a:p>
        </p:txBody>
      </p:sp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Problem Identification</a:t>
            </a:r>
            <a:endParaRPr/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identified a need by companies to manage using open-source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Research Design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Handbook Method</a:t>
            </a:r>
            <a:endParaRPr/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handbook method is an approach for taking research results into practice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research theory is codified as a best practice handbook of the domain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best practices are derived from practitioners using a qualitative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action research, a researcher helps a practitioner apply the handbook</a:t>
            </a:r>
            <a:endParaRPr/>
          </a:p>
        </p:txBody>
      </p:sp>
      <p:sp>
        <p:nvSpPr>
          <p:cNvPr id="234" name="Google Shape;234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Theory Building</a:t>
            </a:r>
            <a:endParaRPr/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identified a need by companies to manage using open-source software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we developed a theory using a qualitative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then codified (wrote down) the theory as a best practices handbook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theory had substance but was still young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then took the handbook to an industry partner for participatory action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6465326" y="914400"/>
            <a:ext cx="24045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structure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Domains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Workflows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Practices</a:t>
            </a:r>
            <a:endParaRPr/>
          </a:p>
        </p:txBody>
      </p:sp>
      <p:sp>
        <p:nvSpPr>
          <p:cNvPr id="247" name="Google Shape;247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Open Source Governance Handbook 1 / 3</a:t>
            </a:r>
            <a:endParaRPr/>
          </a:p>
        </p:txBody>
      </p:sp>
      <p:sp>
        <p:nvSpPr>
          <p:cNvPr id="248" name="Google Shape;248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249" name="Google Shape;24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5894451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Open Source Governance Handbook 2 / 3</a:t>
            </a:r>
            <a:endParaRPr/>
          </a:p>
        </p:txBody>
      </p:sp>
      <p:sp>
        <p:nvSpPr>
          <p:cNvPr id="255" name="Google Shape;255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256" name="Google Shape;25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30" y="914388"/>
            <a:ext cx="8595361" cy="2349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Open Source Governance Handbook 3 / 3</a:t>
            </a:r>
            <a:endParaRPr/>
          </a:p>
        </p:txBody>
      </p:sp>
      <p:sp>
        <p:nvSpPr>
          <p:cNvPr id="262" name="Google Shape;262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263" name="Google Shape;2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5328667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Protocol</a:t>
            </a:r>
            <a:endParaRPr/>
          </a:p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before, describe methods and data to be acquired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you are dealing with human subjects, also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Clearly review research ethics and implications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 expected effects on human subjects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Devise strategies for protecting human subjects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Acquire and document ethics board approval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Include this additional information in research protocol</a:t>
            </a:r>
            <a:endParaRPr/>
          </a:p>
        </p:txBody>
      </p:sp>
      <p:sp>
        <p:nvSpPr>
          <p:cNvPr id="270" name="Google Shape;270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The Action-Feedback Loop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Focus</a:t>
            </a:r>
            <a:endParaRPr/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</a:t>
            </a:r>
            <a:r>
              <a:rPr b="1" lang="en"/>
              <a:t>choosing (focus)</a:t>
            </a:r>
            <a:r>
              <a:rPr lang="en"/>
              <a:t>, you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 which aspect of your theory to build 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Criteria to choose focus by can be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Strategic: Immaturity of theory aspect chosen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Pragmatic: Aspect readily available in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Action research prefers pragmatic choices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it is about helping </a:t>
            </a:r>
            <a:r>
              <a:rPr lang="en"/>
              <a:t>practitioners</a:t>
            </a:r>
            <a:r>
              <a:rPr lang="en"/>
              <a:t> </a:t>
            </a:r>
            <a:endParaRPr/>
          </a:p>
        </p:txBody>
      </p:sp>
      <p:sp>
        <p:nvSpPr>
          <p:cNvPr id="282" name="Google Shape;282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Choosing Focus 1 / 2</a:t>
            </a:r>
            <a:endParaRPr/>
          </a:p>
        </p:txBody>
      </p:sp>
      <p:sp>
        <p:nvSpPr>
          <p:cNvPr id="288" name="Google Shape;288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decided early to focus on the component approval process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 approval is a critical process in open source governance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Choosing Focus 2 / 2</a:t>
            </a:r>
            <a:endParaRPr/>
          </a:p>
        </p:txBody>
      </p:sp>
      <p:sp>
        <p:nvSpPr>
          <p:cNvPr id="295" name="Google Shape;295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96" name="Google Shape;296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 participant improving practice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helped review the situation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As researcher performing research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performed participant observation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Action</a:t>
            </a:r>
            <a:endParaRPr/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</a:t>
            </a:r>
            <a:r>
              <a:rPr b="1" lang="en"/>
              <a:t>planning</a:t>
            </a:r>
            <a:r>
              <a:rPr lang="en"/>
              <a:t>, you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 an appropriate method to perform the action and investigate its effects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Planning an Action 1 / 2</a:t>
            </a:r>
            <a:endParaRPr/>
          </a:p>
        </p:txBody>
      </p:sp>
      <p:sp>
        <p:nvSpPr>
          <p:cNvPr id="309" name="Google Shape;309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worked with the OSPO to define the component approval process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used the handbook to define a first version of the process</a:t>
            </a:r>
            <a:endParaRPr/>
          </a:p>
        </p:txBody>
      </p:sp>
      <p:sp>
        <p:nvSpPr>
          <p:cNvPr id="310" name="Google Shape;310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Planning an Action 2 / 2</a:t>
            </a:r>
            <a:endParaRPr/>
          </a:p>
        </p:txBody>
      </p:sp>
      <p:sp>
        <p:nvSpPr>
          <p:cNvPr id="316" name="Google Shape;316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17" name="Google Shape;317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 participant improving practice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helped define the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As researcher performing research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continued participant observation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Execute Action</a:t>
            </a:r>
            <a:endParaRPr/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</a:t>
            </a:r>
            <a:r>
              <a:rPr b="1" lang="en"/>
              <a:t>execution,</a:t>
            </a:r>
            <a:r>
              <a:rPr lang="en"/>
              <a:t> you follow your plan and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Participate in the project working on the aspect of choice</a:t>
            </a:r>
            <a:endParaRPr/>
          </a:p>
        </p:txBody>
      </p:sp>
      <p:sp>
        <p:nvSpPr>
          <p:cNvPr id="324" name="Google Shape;324;p4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helped the first component approval processes along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performed both entry and exit interviews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performed participant observation</a:t>
            </a:r>
            <a:endParaRPr/>
          </a:p>
        </p:txBody>
      </p:sp>
      <p:sp>
        <p:nvSpPr>
          <p:cNvPr id="330" name="Google Shape;330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Executing Action 1 / 2</a:t>
            </a:r>
            <a:endParaRPr/>
          </a:p>
        </p:txBody>
      </p:sp>
      <p:sp>
        <p:nvSpPr>
          <p:cNvPr id="331" name="Google Shape;331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Executing Action 2 / 2</a:t>
            </a:r>
            <a:endParaRPr/>
          </a:p>
        </p:txBody>
      </p:sp>
      <p:sp>
        <p:nvSpPr>
          <p:cNvPr id="337" name="Google Shape;337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38" name="Google Shape;338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 participant improving practice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helped the first process instances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As researcher performing research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continued participant observation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performed entry interviews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performed exit interviews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 Effects</a:t>
            </a:r>
            <a:endParaRPr/>
          </a:p>
        </p:txBody>
      </p:sp>
      <p:sp>
        <p:nvSpPr>
          <p:cNvPr id="344" name="Google Shape;344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</a:t>
            </a:r>
            <a:r>
              <a:rPr b="1" lang="en"/>
              <a:t>observation,</a:t>
            </a:r>
            <a:r>
              <a:rPr lang="en"/>
              <a:t> you continue with your plan and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Observe the results of the execution using the methods you chose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Observing Effects 1 / 2</a:t>
            </a:r>
            <a:endParaRPr/>
          </a:p>
        </p:txBody>
      </p:sp>
      <p:sp>
        <p:nvSpPr>
          <p:cNvPr id="351" name="Google Shape;351;p5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52" name="Google Shape;352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action, in addition to in-action observations, we reviewed the results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interviews with the OSPO after a couple of instances had run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Taking note of statistics (duration, complications, results)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Observing Effects 2 / 2</a:t>
            </a:r>
            <a:endParaRPr/>
          </a:p>
        </p:txBody>
      </p:sp>
      <p:sp>
        <p:nvSpPr>
          <p:cNvPr id="358" name="Google Shape;358;p5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59" name="Google Shape;359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 participant improving practice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were not involved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As researcher performing research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Continued participant observation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Conducted additional interviews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Took notes of emerging statistics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from Observations</a:t>
            </a:r>
            <a:endParaRPr/>
          </a:p>
        </p:txBody>
      </p:sp>
      <p:sp>
        <p:nvSpPr>
          <p:cNvPr id="365" name="Google Shape;365;p5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</a:t>
            </a:r>
            <a:r>
              <a:rPr b="1" lang="en"/>
              <a:t>learning,</a:t>
            </a:r>
            <a:r>
              <a:rPr lang="en"/>
              <a:t> you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Analyse the observed data towards the aspect of interest</a:t>
            </a:r>
            <a:endParaRPr/>
          </a:p>
        </p:txBody>
      </p:sp>
      <p:sp>
        <p:nvSpPr>
          <p:cNvPr id="366" name="Google Shape;366;p5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Learning from Observations 1 / 2</a:t>
            </a:r>
            <a:endParaRPr/>
          </a:p>
        </p:txBody>
      </p:sp>
      <p:sp>
        <p:nvSpPr>
          <p:cNvPr id="372" name="Google Shape;372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built out our theory and used it to provide feedback and make suggestions</a:t>
            </a:r>
            <a:endParaRPr/>
          </a:p>
        </p:txBody>
      </p:sp>
      <p:sp>
        <p:nvSpPr>
          <p:cNvPr id="373" name="Google Shape;373;p5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Learning from Observations 2 / 2</a:t>
            </a:r>
            <a:endParaRPr/>
          </a:p>
        </p:txBody>
      </p:sp>
      <p:sp>
        <p:nvSpPr>
          <p:cNvPr id="379" name="Google Shape;379;p5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80" name="Google Shape;380;p5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 participant improving practice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Discussed ways to improve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As researcher performing research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Integrated collected data into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the Action-Feedback Loop</a:t>
            </a:r>
            <a:endParaRPr/>
          </a:p>
        </p:txBody>
      </p:sp>
      <p:sp>
        <p:nvSpPr>
          <p:cNvPr id="386" name="Google Shape;386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what you learned, you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Either continue with another iteration of 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move on to next steps (publications / methodology)</a:t>
            </a:r>
            <a:endParaRPr/>
          </a:p>
        </p:txBody>
      </p:sp>
      <p:sp>
        <p:nvSpPr>
          <p:cNvPr id="387" name="Google Shape;387;p5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. Quality Assurance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assurance is closely tied to the research methods employed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our example (open source governance) these were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Participant observation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Practitioner interviews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Qualitative data analysis</a:t>
            </a:r>
            <a:endParaRPr/>
          </a:p>
        </p:txBody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Assurance</a:t>
            </a:r>
            <a:endParaRPr/>
          </a:p>
        </p:txBody>
      </p:sp>
      <p:sp>
        <p:nvSpPr>
          <p:cNvPr id="399" name="Google Shape;399;p5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Participatory 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Problem identification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action-feedback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06" name="Google Shape;406;p5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0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412" name="Google Shape;412;p60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418" name="Google Shape;418;p6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419" name="Google Shape;419;p6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
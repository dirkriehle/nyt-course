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5B7DA4D-6928-4A59-AA30-F38DA9E1C66B}">
  <a:tblStyle styleId="{05B7DA4D-6928-4A59-AA30-F38DA9E1C66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11" Type="http://schemas.openxmlformats.org/officeDocument/2006/relationships/slide" Target="slides/slide5.xml"/><Relationship Id="rId55" Type="http://schemas.openxmlformats.org/officeDocument/2006/relationships/slide" Target="slides/slide49.xml"/><Relationship Id="rId10" Type="http://schemas.openxmlformats.org/officeDocument/2006/relationships/slide" Target="slides/slide4.xml"/><Relationship Id="rId54" Type="http://schemas.openxmlformats.org/officeDocument/2006/relationships/slide" Target="slides/slide48.xml"/><Relationship Id="rId13" Type="http://schemas.openxmlformats.org/officeDocument/2006/relationships/slide" Target="slides/slide7.xml"/><Relationship Id="rId57" Type="http://schemas.openxmlformats.org/officeDocument/2006/relationships/slide" Target="slides/slide51.xml"/><Relationship Id="rId12" Type="http://schemas.openxmlformats.org/officeDocument/2006/relationships/slide" Target="slides/slide6.xml"/><Relationship Id="rId56" Type="http://schemas.openxmlformats.org/officeDocument/2006/relationships/slide" Target="slides/slide50.xml"/><Relationship Id="rId15" Type="http://schemas.openxmlformats.org/officeDocument/2006/relationships/slide" Target="slides/slide9.xml"/><Relationship Id="rId59" Type="http://schemas.openxmlformats.org/officeDocument/2006/relationships/slide" Target="slides/slide53.xml"/><Relationship Id="rId14" Type="http://schemas.openxmlformats.org/officeDocument/2006/relationships/slide" Target="slides/slide8.xml"/><Relationship Id="rId58" Type="http://schemas.openxmlformats.org/officeDocument/2006/relationships/slide" Target="slides/slide52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2c3601aed9a_0_1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" name="Google Shape;34;g2c3601aed9a_0_1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g127e14a229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" name="Google Shape;40;g127e14a229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f9bad1e87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" name="Google Shape;47;gf9bad1e87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127e14a229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127e14a229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2c3601aed9a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2c3601aed9a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11d3036de2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11d3036de2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db5ccdfa6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db5ccdfa6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11bb148f78e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11bb148f78e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127e14a2292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127e14a2292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124ad2ef21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124ad2ef21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2179b616e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2179b616e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11bb148f78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11bb148f78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133abade362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133abade362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11bb148f78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11bb148f78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11bb148f78e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11bb148f78e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11bb148f78e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11bb148f78e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133abade362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133abade362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179b616e8b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2179b616e8b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133abade362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133abade362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133be5e16e8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133be5e16e8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133be5e16e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133be5e16e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2c3601aed9a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2c3601aed9a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f428e7a1d1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f428e7a1d1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f428e7a1d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f428e7a1d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2c3601aed9a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2c3601aed9a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2c3601aed9a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2c3601aed9a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3601aed9a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3601aed9a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c3601aed9a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2c3601aed9a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2c3601aed9a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2c3601aed9a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2c4bb9ecca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2c4bb9ecca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2c7a6e2504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2c7a6e2504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2c3601aed9a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2c3601aed9a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f428e7a1d1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f428e7a1d1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f428e7a1d1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gf428e7a1d1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2c3601aed9a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2c3601aed9a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133be5e16e8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133be5e16e8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133be5e16e8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133be5e16e8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2c3601aed9a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2c3601aed9a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133abade362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133abade362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133be5e16e8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133be5e16e8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2c3601aed9a_0_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1" name="Google Shape;311;g2c3601aed9a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133be5e16e8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133be5e16e8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133be5e16e8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5" name="Google Shape;325;g133be5e16e8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2c3601aed9a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2c3601aed9a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133be5e16e8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133be5e16e8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133be5e16e8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6" name="Google Shape;346;g133be5e16e8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2c3601aed9a_0_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3" name="Google Shape;353;g2c3601aed9a_0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f428e7a1d1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0" name="Google Shape;360;gf428e7a1d1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2179b616e8b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7" name="Google Shape;367;g2179b616e8b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2c3601aed9a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2" name="Google Shape;372;g2c3601aed9a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133be5e16e8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9" name="Google Shape;379;g133be5e16e8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2390037b54d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6" name="Google Shape;386;g2390037b54d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2390037b54d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2" name="Google Shape;392;g2390037b54d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uni1.de/nyt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uni1.de/nyt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uni1.de/nyt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12" name="Google Shape;12;p2"/>
          <p:cNvSpPr/>
          <p:nvPr/>
        </p:nvSpPr>
        <p:spPr>
          <a:xfrm>
            <a:off x="0" y="2388810"/>
            <a:ext cx="9144000" cy="183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/>
          <p:nvPr/>
        </p:nvSpPr>
        <p:spPr>
          <a:xfrm>
            <a:off x="0" y="2386584"/>
            <a:ext cx="9144000" cy="91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/>
          <p:nvPr/>
        </p:nvSpPr>
        <p:spPr>
          <a:xfrm>
            <a:off x="0" y="685800"/>
            <a:ext cx="9144000" cy="91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2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4" name="Google Shape;24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5"/>
          <p:cNvSpPr/>
          <p:nvPr/>
        </p:nvSpPr>
        <p:spPr>
          <a:xfrm>
            <a:off x="0" y="685800"/>
            <a:ext cx="9144000" cy="91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2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6"/>
          <p:cNvSpPr/>
          <p:nvPr/>
        </p:nvSpPr>
        <p:spPr>
          <a:xfrm>
            <a:off x="0" y="685800"/>
            <a:ext cx="9144000" cy="91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2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://uni1.de/nyt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1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://uni1.de/nyt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://uni1.de/nyt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://uni1.de/nyt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://uni1.de/nyt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://uni1.de/nyt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://uni1.de/nyt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://uni1.de/nyt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://uni1.de/nyt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://uni1.de/nyt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://uni1.de/nyt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://uni1.de/nyt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://uni1.de/nyt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://uni1.de/nyt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://uni1.de/nyt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://uni1.de/nyt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://uni1.de/nyt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://uni1.de/nyt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://uni1.de/nyt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5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4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://uni1.de/nyt" TargetMode="Externa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://uni1.de/nyt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://uni1.de/nyt" TargetMode="Externa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://uni1.de/nyt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://uni1.de/nyt" TargetMode="Externa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://uni1.de/nyt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://uni1.de/nyt" TargetMode="Externa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://uni1.de/nyt" TargetMode="Externa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hyperlink" Target="http://uni1.de/nyt" TargetMode="Externa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hyperlink" Target="http://uni1.de/nyt" TargetMode="Externa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://uni1.de/nyt" TargetMode="Externa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hyperlink" Target="http://uni1.de/nyt" TargetMode="Externa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://uni1.de/nyt" TargetMode="Externa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hyperlink" Target="http://uni1.de/nyt" TargetMode="Externa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Relationship Id="rId3" Type="http://schemas.openxmlformats.org/officeDocument/2006/relationships/hyperlink" Target="http://uni1.de/nyt" TargetMode="Externa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Relationship Id="rId3" Type="http://schemas.openxmlformats.org/officeDocument/2006/relationships/hyperlink" Target="http://uni1.de/nyt" TargetMode="Externa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Relationship Id="rId3" Type="http://schemas.openxmlformats.org/officeDocument/2006/relationships/hyperlink" Target="http://uni1.de/nyt" TargetMode="Externa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Relationship Id="rId3" Type="http://schemas.openxmlformats.org/officeDocument/2006/relationships/hyperlink" Target="http://uni1.de/nyt" TargetMode="Externa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Relationship Id="rId3" Type="http://schemas.openxmlformats.org/officeDocument/2006/relationships/hyperlink" Target="http://uni1.de/nyt" TargetMode="Externa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Relationship Id="rId3" Type="http://schemas.openxmlformats.org/officeDocument/2006/relationships/hyperlink" Target="http://uni1.de/nyt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Action Research</a:t>
            </a:r>
            <a:endParaRPr/>
          </a:p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NYT C04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Action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Participatory action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Problem identification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Research design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action-feedback loop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Quality assurance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Action Research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Action Research</a:t>
            </a:r>
            <a:endParaRPr/>
          </a:p>
        </p:txBody>
      </p:sp>
      <p:sp>
        <p:nvSpPr>
          <p:cNvPr id="55" name="Google Shape;55;p1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Action research</a:t>
            </a:r>
            <a:r>
              <a:rPr lang="en"/>
              <a:t> is a research methodology in which the researcher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Iterates over </a:t>
            </a:r>
            <a:r>
              <a:rPr b="1" lang="en"/>
              <a:t>applying</a:t>
            </a:r>
            <a:r>
              <a:rPr lang="en"/>
              <a:t>, evaluating, and revising a theory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 </a:t>
            </a:r>
            <a:r>
              <a:rPr b="1" lang="en"/>
              <a:t>cause change</a:t>
            </a:r>
            <a:r>
              <a:rPr lang="en"/>
              <a:t> and build out the theory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Key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active involvement (the “action” and/or “intervention”) and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Its expected effects in the world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 researcher is not just a distant observer!</a:t>
            </a:r>
            <a:endParaRPr/>
          </a:p>
        </p:txBody>
      </p:sp>
      <p:sp>
        <p:nvSpPr>
          <p:cNvPr id="56" name="Google Shape;56;p1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Facilitation vs. Participation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researcher is not necessarily executing the action themselves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outside researcher is a facilitator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inside researcher is a participant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Duality of Purpose</a:t>
            </a:r>
            <a:endParaRPr/>
          </a:p>
        </p:txBody>
      </p:sp>
      <p:sp>
        <p:nvSpPr>
          <p:cNvPr id="69" name="Google Shape;69;p1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goal of action research is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Improve practice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Build out a theory</a:t>
            </a:r>
            <a:endParaRPr/>
          </a:p>
        </p:txBody>
      </p:sp>
      <p:sp>
        <p:nvSpPr>
          <p:cNvPr id="70" name="Google Shape;70;p1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Action Research Process</a:t>
            </a:r>
            <a:endParaRPr/>
          </a:p>
        </p:txBody>
      </p:sp>
      <p:sp>
        <p:nvSpPr>
          <p:cNvPr id="76" name="Google Shape;76;p1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77" name="Google Shape;77;p1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Action</a:t>
            </a:r>
            <a:r>
              <a:rPr lang="en"/>
              <a:t> research is linear yet iterative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Identify (</a:t>
            </a:r>
            <a:r>
              <a:rPr lang="en"/>
              <a:t>research) </a:t>
            </a:r>
            <a:r>
              <a:rPr lang="en"/>
              <a:t>problem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Create </a:t>
            </a:r>
            <a:r>
              <a:rPr lang="en"/>
              <a:t>research </a:t>
            </a:r>
            <a:r>
              <a:rPr lang="en"/>
              <a:t>design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Perform action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Choose focus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Plan action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Execute action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Observe effects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Learn from observations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Report findings</a:t>
            </a:r>
            <a:endParaRPr/>
          </a:p>
        </p:txBody>
      </p:sp>
      <p:pic>
        <p:nvPicPr>
          <p:cNvPr id="78" name="Google Shape;78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26425" y="914400"/>
            <a:ext cx="2743200" cy="37736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Motivations for Action Research</a:t>
            </a:r>
            <a:endParaRPr/>
          </a:p>
        </p:txBody>
      </p:sp>
      <p:sp>
        <p:nvSpPr>
          <p:cNvPr id="84" name="Google Shape;84;p1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Technical action research </a:t>
            </a:r>
            <a:r>
              <a:rPr lang="en"/>
              <a:t>is interested in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Improving control over outcomes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Educational action research</a:t>
            </a:r>
            <a:r>
              <a:rPr lang="en"/>
              <a:t> is motivated by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Helping practitioners act more wisely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Critical action research</a:t>
            </a:r>
            <a:r>
              <a:rPr lang="en"/>
              <a:t> is motivated by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Emancipating practitioners</a:t>
            </a:r>
            <a:endParaRPr/>
          </a:p>
        </p:txBody>
      </p:sp>
      <p:sp>
        <p:nvSpPr>
          <p:cNvPr id="85" name="Google Shape;85;p1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Action research (AR)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original research methodology (as before)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Participatory action research (PAR)</a:t>
            </a:r>
            <a:r>
              <a:rPr lang="en"/>
              <a:t> is action research in which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researcher is an active participant of the whole research process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Critical (theory) participatory action research</a:t>
            </a:r>
            <a:r>
              <a:rPr lang="en"/>
              <a:t> is action research in which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research uses critical theory as the underlying epistemological position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Critical theory seeks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“to liberate human beings from the circumstances that enslave them” [1]</a:t>
            </a:r>
            <a:endParaRPr/>
          </a:p>
        </p:txBody>
      </p:sp>
      <p:sp>
        <p:nvSpPr>
          <p:cNvPr id="91" name="Google Shape;91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Variants of Action Research</a:t>
            </a:r>
            <a:endParaRPr/>
          </a:p>
        </p:txBody>
      </p:sp>
      <p:sp>
        <p:nvSpPr>
          <p:cNvPr id="92" name="Google Shape;92;p1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93" name="Google Shape;93;p16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Horckheimer (1982): Critical theory. 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 a Research Methodology Category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Action research (Lewin, 1946)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Participatory action research (McIntyre, 2008)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Critical participatory action research (Kemmis et al., 2014)</a:t>
            </a:r>
            <a:endParaRPr/>
          </a:p>
        </p:txBody>
      </p:sp>
      <p:sp>
        <p:nvSpPr>
          <p:cNvPr id="100" name="Google Shape;100;p1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Action Research in a Larger Research Design</a:t>
            </a:r>
            <a:endParaRPr/>
          </a:p>
        </p:txBody>
      </p:sp>
      <p:sp>
        <p:nvSpPr>
          <p:cNvPr id="106" name="Google Shape;106;p1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107" name="Google Shape;107;p18"/>
          <p:cNvSpPr/>
          <p:nvPr/>
        </p:nvSpPr>
        <p:spPr>
          <a:xfrm>
            <a:off x="3337500" y="1428690"/>
            <a:ext cx="2469000" cy="2469000"/>
          </a:xfrm>
          <a:prstGeom prst="ellipse">
            <a:avLst/>
          </a:prstGeom>
          <a:noFill/>
          <a:ln cap="flat" cmpd="sng" w="381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8" name="Google Shape;108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4954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Sweet Spot for Action Research</a:t>
            </a:r>
            <a:endParaRPr/>
          </a:p>
        </p:txBody>
      </p:sp>
      <p:sp>
        <p:nvSpPr>
          <p:cNvPr id="114" name="Google Shape;114;p1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Participatory action research is a good choice if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 is an initial theory already in place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researcher has access to appropriate cases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theory under development is evolving quickly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 is significant tacit knowledge</a:t>
            </a:r>
            <a:r>
              <a:rPr lang="en"/>
              <a:t> with the researcher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Participants expect to learn/benefit from the research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1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Industry Consulting as Action Research</a:t>
            </a:r>
            <a:endParaRPr/>
          </a:p>
        </p:txBody>
      </p:sp>
      <p:sp>
        <p:nvSpPr>
          <p:cNvPr id="121" name="Google Shape;121;p2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industry consulting (paid or unpaid), a researcher provides advice to practitioners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Researchers are called upon to help improve the outcome of practitioner work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They do not have to be participants (of implementation), but may simply advise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Industry consulting on new, novel topics, works well with action research</a:t>
            </a:r>
            <a:endParaRPr/>
          </a:p>
        </p:txBody>
      </p:sp>
      <p:sp>
        <p:nvSpPr>
          <p:cNvPr id="122" name="Google Shape;122;p2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1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Participatory Action Research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Participatory Action Research (PAR)</a:t>
            </a:r>
            <a:endParaRPr/>
          </a:p>
        </p:txBody>
      </p:sp>
      <p:sp>
        <p:nvSpPr>
          <p:cNvPr id="133" name="Google Shape;133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Participatory action research</a:t>
            </a:r>
            <a:r>
              <a:rPr lang="en"/>
              <a:t> is action research in which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Researchers and practitioners perform the research jointly and collaboratively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For the practitioners, this has the following consequences; they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 understand and develop practices while on the case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 develop a joint, reflective, language of critical debate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 form communities of practice based on the research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Participatory action research is a “practice-changing practice” [1]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2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135" name="Google Shape;135;p22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Kemmis et al. (2014): Critical participatory action research.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Critical Participatory Action Research (CPAR)</a:t>
            </a:r>
            <a:endParaRPr/>
          </a:p>
        </p:txBody>
      </p:sp>
      <p:sp>
        <p:nvSpPr>
          <p:cNvPr id="141" name="Google Shape;141;p23"/>
          <p:cNvSpPr txBox="1"/>
          <p:nvPr>
            <p:ph idx="1" type="body"/>
          </p:nvPr>
        </p:nvSpPr>
        <p:spPr>
          <a:xfrm>
            <a:off x="3196023" y="914400"/>
            <a:ext cx="56736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Critical participatory action research</a:t>
            </a:r>
            <a:r>
              <a:rPr lang="en"/>
              <a:t>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Empowers participants to change practices given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irrational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unsustainable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unjust situations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With critical theory added, we are leaving positivism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objective independent reality but rather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Individual and collective action and reflection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2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143" name="Google Shape;143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30" y="914400"/>
            <a:ext cx="2595066" cy="4023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Context Specificity / No Fixed Formula</a:t>
            </a:r>
            <a:endParaRPr/>
          </a:p>
        </p:txBody>
      </p:sp>
      <p:sp>
        <p:nvSpPr>
          <p:cNvPr id="149" name="Google Shape;149;p2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Participatory action research is context-dependent research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Every research project is different and so are the employed methods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May require significant adaptation to situation beyond the core process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Participatory action research has no single theoretical framework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2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Roles in Participatory Action Research</a:t>
            </a:r>
            <a:endParaRPr/>
          </a:p>
        </p:txBody>
      </p:sp>
      <p:sp>
        <p:nvSpPr>
          <p:cNvPr id="156" name="Google Shape;156;p2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Everyone is a participant, some are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Researchers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Practitioners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You are either in the researcher or practitioner role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Researchers are temporary participants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Practitioners are (more) permanent participants</a:t>
            </a:r>
            <a:endParaRPr/>
          </a:p>
        </p:txBody>
      </p:sp>
      <p:sp>
        <p:nvSpPr>
          <p:cNvPr id="157" name="Google Shape;157;p2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6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Participation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Participants are stakeholders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Participation may be uneven</a:t>
            </a:r>
            <a:endParaRPr/>
          </a:p>
        </p:txBody>
      </p:sp>
      <p:sp>
        <p:nvSpPr>
          <p:cNvPr id="163" name="Google Shape;163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Participation vs. Involvement</a:t>
            </a:r>
            <a:endParaRPr/>
          </a:p>
        </p:txBody>
      </p:sp>
      <p:sp>
        <p:nvSpPr>
          <p:cNvPr id="164" name="Google Shape;164;p2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165" name="Google Shape;165;p26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Involvement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agency or ownership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</a:t>
            </a:r>
            <a:r>
              <a:rPr lang="en"/>
              <a:t>Action</a:t>
            </a:r>
            <a:r>
              <a:rPr lang="en"/>
              <a:t> Research Process in Context</a:t>
            </a:r>
            <a:endParaRPr/>
          </a:p>
        </p:txBody>
      </p:sp>
      <p:sp>
        <p:nvSpPr>
          <p:cNvPr id="171" name="Google Shape;171;p2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172" name="Google Shape;172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4935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Activity Names by Methodology Variant</a:t>
            </a:r>
            <a:endParaRPr/>
          </a:p>
        </p:txBody>
      </p:sp>
      <p:sp>
        <p:nvSpPr>
          <p:cNvPr id="178" name="Google Shape;178;p2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graphicFrame>
        <p:nvGraphicFramePr>
          <p:cNvPr id="179" name="Google Shape;179;p28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{05B7DA4D-6928-4A59-AA30-F38DA9E1C66B}</a:tableStyleId>
              </a:tblPr>
              <a:tblGrid>
                <a:gridCol w="2148850"/>
                <a:gridCol w="2148850"/>
                <a:gridCol w="2148850"/>
                <a:gridCol w="2148850"/>
              </a:tblGrid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Generic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Action research [1]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Participatory AR [2]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Critical</a:t>
                      </a:r>
                      <a:r>
                        <a:rPr b="1" lang="en">
                          <a:solidFill>
                            <a:schemeClr val="lt1"/>
                          </a:solidFill>
                        </a:rPr>
                        <a:t> PAR [3]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–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–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Questioning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– 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Choosing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–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Investigating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Reconnaissance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Planning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Planning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Developing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Planning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Executing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Executing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Implementing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Enacting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Observing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vMerge="1"/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Observing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Learning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Fact-finding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Refining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Reflection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  <p:sp>
        <p:nvSpPr>
          <p:cNvPr id="180" name="Google Shape;180;p28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/>
              <a:t>Lewin (1946): Action research.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See McIntyre (2008): Participatory action research.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[3] See Kemmis et al. (2014): Critical participatory action research.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9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Problem Identification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 Identification</a:t>
            </a:r>
            <a:endParaRPr/>
          </a:p>
        </p:txBody>
      </p:sp>
      <p:sp>
        <p:nvSpPr>
          <p:cNvPr id="191" name="Google Shape;191;p3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choose action research, because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Your theory is young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may have a project at hand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project can benefit from your help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You approach the project with the goal of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Helping practitioners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Performing research</a:t>
            </a:r>
            <a:endParaRPr/>
          </a:p>
        </p:txBody>
      </p:sp>
      <p:sp>
        <p:nvSpPr>
          <p:cNvPr id="192" name="Google Shape;192;p3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Problem Identification</a:t>
            </a:r>
            <a:endParaRPr/>
          </a:p>
        </p:txBody>
      </p:sp>
      <p:sp>
        <p:nvSpPr>
          <p:cNvPr id="198" name="Google Shape;198;p3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199" name="Google Shape;199;p3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identified a need by companies to manage using open-source software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2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Research Design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Handbook Method</a:t>
            </a:r>
            <a:endParaRPr/>
          </a:p>
        </p:txBody>
      </p:sp>
      <p:sp>
        <p:nvSpPr>
          <p:cNvPr id="210" name="Google Shape;210;p3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handbook method is an approach for taking research results into practice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 research theory is codified as a best practice handbook of the domain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best practices are derived from practitioners using a qualitative survey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Using action research, a researcher helps a practitioner apply the handbook</a:t>
            </a:r>
            <a:endParaRPr/>
          </a:p>
        </p:txBody>
      </p:sp>
      <p:sp>
        <p:nvSpPr>
          <p:cNvPr id="211" name="Google Shape;211;p3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Theory Building</a:t>
            </a:r>
            <a:endParaRPr/>
          </a:p>
        </p:txBody>
      </p:sp>
      <p:sp>
        <p:nvSpPr>
          <p:cNvPr id="217" name="Google Shape;217;p3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identified a need by companies to manage using open-source software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First, we developed a theory using a qualitative survey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then codified (wrote down) the theory as a best practices handbook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resulting theory had substance but was still young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We then took the handbook to an industry partner for participatory action research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3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Base structure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Domains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Workflows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Practices</a:t>
            </a:r>
            <a:endParaRPr/>
          </a:p>
        </p:txBody>
      </p:sp>
      <p:sp>
        <p:nvSpPr>
          <p:cNvPr id="224" name="Google Shape;224;p3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Illustration of Open Source Governance Handbook 1 / 3</a:t>
            </a:r>
            <a:endParaRPr/>
          </a:p>
        </p:txBody>
      </p:sp>
      <p:sp>
        <p:nvSpPr>
          <p:cNvPr id="225" name="Google Shape;225;p3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226" name="Google Shape;226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75175" y="914400"/>
            <a:ext cx="5894451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Illustration of Open Source Governance Handbook 2 / 3</a:t>
            </a:r>
            <a:endParaRPr/>
          </a:p>
        </p:txBody>
      </p:sp>
      <p:sp>
        <p:nvSpPr>
          <p:cNvPr id="232" name="Google Shape;232;p3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233" name="Google Shape;233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30" y="914388"/>
            <a:ext cx="8595361" cy="23493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Illustration of Open Source Governance Handbook 3 / 3</a:t>
            </a:r>
            <a:endParaRPr/>
          </a:p>
        </p:txBody>
      </p:sp>
      <p:sp>
        <p:nvSpPr>
          <p:cNvPr id="239" name="Google Shape;239;p3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240" name="Google Shape;240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5328667" cy="4114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Research Protocol</a:t>
            </a:r>
            <a:endParaRPr/>
          </a:p>
        </p:txBody>
      </p:sp>
      <p:sp>
        <p:nvSpPr>
          <p:cNvPr id="246" name="Google Shape;246;p3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 before, describe methods and data to be acquired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As you are dealing with human subjects, also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Clearly review research ethics and implications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Document expected effects on human subjects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Devise strategies for protecting human subjects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Acquire and document ethics board approval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Include this additional information in research protocol</a:t>
            </a:r>
            <a:endParaRPr/>
          </a:p>
        </p:txBody>
      </p:sp>
      <p:sp>
        <p:nvSpPr>
          <p:cNvPr id="247" name="Google Shape;247;p3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9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5. The Action-Feedback Loop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Choose Focus</a:t>
            </a:r>
            <a:endParaRPr/>
          </a:p>
        </p:txBody>
      </p:sp>
      <p:sp>
        <p:nvSpPr>
          <p:cNvPr id="258" name="Google Shape;258;p4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During </a:t>
            </a:r>
            <a:r>
              <a:rPr b="1" lang="en"/>
              <a:t>choosing (focus)</a:t>
            </a:r>
            <a:r>
              <a:rPr lang="en"/>
              <a:t>, you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Choose which aspect of your theory to build out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Criteria to choose focus by can be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Strategic: Immaturity of theory aspect chosen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Pragmatic: Aspect readily available in project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Action research prefers pragmatic choices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Because it is about helping </a:t>
            </a:r>
            <a:r>
              <a:rPr lang="en"/>
              <a:t>practitioners</a:t>
            </a:r>
            <a:r>
              <a:rPr lang="en"/>
              <a:t> </a:t>
            </a:r>
            <a:endParaRPr/>
          </a:p>
        </p:txBody>
      </p:sp>
      <p:sp>
        <p:nvSpPr>
          <p:cNvPr id="259" name="Google Shape;259;p4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of Choosing Focus 1 / 2</a:t>
            </a:r>
            <a:endParaRPr/>
          </a:p>
        </p:txBody>
      </p:sp>
      <p:sp>
        <p:nvSpPr>
          <p:cNvPr id="265" name="Google Shape;265;p4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266" name="Google Shape;266;p41"/>
          <p:cNvSpPr txBox="1"/>
          <p:nvPr>
            <p:ph idx="1" type="body"/>
          </p:nvPr>
        </p:nvSpPr>
        <p:spPr>
          <a:xfrm>
            <a:off x="274325" y="914400"/>
            <a:ext cx="8595300" cy="685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decided early to focus on the component approval process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Component approval is a critical process in open source governance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of Choosing Focus 2 / 2</a:t>
            </a:r>
            <a:endParaRPr/>
          </a:p>
        </p:txBody>
      </p:sp>
      <p:sp>
        <p:nvSpPr>
          <p:cNvPr id="272" name="Google Shape;272;p4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273" name="Google Shape;273;p4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As participant improving practice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helped review the situation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As researcher performing research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performed participant observation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Plan Action</a:t>
            </a:r>
            <a:endParaRPr/>
          </a:p>
        </p:txBody>
      </p:sp>
      <p:sp>
        <p:nvSpPr>
          <p:cNvPr id="279" name="Google Shape;279;p4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During </a:t>
            </a:r>
            <a:r>
              <a:rPr b="1" lang="en"/>
              <a:t>planning</a:t>
            </a:r>
            <a:r>
              <a:rPr lang="en"/>
              <a:t>, you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Choose an appropriate method to perform the action and investigate its effects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4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of Planning an Action 1 / 2</a:t>
            </a:r>
            <a:endParaRPr/>
          </a:p>
        </p:txBody>
      </p:sp>
      <p:sp>
        <p:nvSpPr>
          <p:cNvPr id="286" name="Google Shape;286;p4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worked with the OSPO to define the component approval process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used the handbook to define a first version of the process</a:t>
            </a:r>
            <a:endParaRPr/>
          </a:p>
        </p:txBody>
      </p:sp>
      <p:sp>
        <p:nvSpPr>
          <p:cNvPr id="287" name="Google Shape;287;p4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of Planning an Action 2 / 2</a:t>
            </a:r>
            <a:endParaRPr/>
          </a:p>
        </p:txBody>
      </p:sp>
      <p:sp>
        <p:nvSpPr>
          <p:cNvPr id="293" name="Google Shape;293;p4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As participant improving practice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helped define the process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As researcher performing research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continued participant observation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4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Execute Action</a:t>
            </a:r>
            <a:endParaRPr/>
          </a:p>
        </p:txBody>
      </p:sp>
      <p:sp>
        <p:nvSpPr>
          <p:cNvPr id="300" name="Google Shape;300;p4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During </a:t>
            </a:r>
            <a:r>
              <a:rPr b="1" lang="en"/>
              <a:t>execution,</a:t>
            </a:r>
            <a:r>
              <a:rPr lang="en"/>
              <a:t> you follow your plan and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Participate in the project working on the aspect of choice</a:t>
            </a:r>
            <a:endParaRPr/>
          </a:p>
        </p:txBody>
      </p:sp>
      <p:sp>
        <p:nvSpPr>
          <p:cNvPr id="301" name="Google Shape;301;p4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4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helped the first component approval processes along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performed both entry and exit interviews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performed participant observation</a:t>
            </a:r>
            <a:endParaRPr/>
          </a:p>
        </p:txBody>
      </p:sp>
      <p:sp>
        <p:nvSpPr>
          <p:cNvPr id="307" name="Google Shape;307;p4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of Executing Action 1 / 2</a:t>
            </a:r>
            <a:endParaRPr/>
          </a:p>
        </p:txBody>
      </p:sp>
      <p:sp>
        <p:nvSpPr>
          <p:cNvPr id="308" name="Google Shape;308;p4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4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of Executing Action 2 / 2</a:t>
            </a:r>
            <a:endParaRPr/>
          </a:p>
        </p:txBody>
      </p:sp>
      <p:sp>
        <p:nvSpPr>
          <p:cNvPr id="314" name="Google Shape;314;p4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315" name="Google Shape;315;p4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As participant improving practice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helped the first process instances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As researcher performing research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continued participant observation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performed entry interviews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performed exit interviews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4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Observe Effects</a:t>
            </a:r>
            <a:endParaRPr/>
          </a:p>
        </p:txBody>
      </p:sp>
      <p:sp>
        <p:nvSpPr>
          <p:cNvPr id="321" name="Google Shape;321;p4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During </a:t>
            </a:r>
            <a:r>
              <a:rPr b="1" lang="en"/>
              <a:t>observation,</a:t>
            </a:r>
            <a:r>
              <a:rPr lang="en"/>
              <a:t> you continue with your plan and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Observe the results of the execution using the methods you chose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4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5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of Observing Effects 1 / 2</a:t>
            </a:r>
            <a:endParaRPr/>
          </a:p>
        </p:txBody>
      </p:sp>
      <p:sp>
        <p:nvSpPr>
          <p:cNvPr id="328" name="Google Shape;328;p5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329" name="Google Shape;329;p5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After the action, in addition to in-action observations, we reviewed the results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More interviews with the OSPO after a couple of instances had run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Taking note of statistics (duration, complications, results)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of Observing Effects 2 / 2</a:t>
            </a:r>
            <a:endParaRPr/>
          </a:p>
        </p:txBody>
      </p:sp>
      <p:sp>
        <p:nvSpPr>
          <p:cNvPr id="335" name="Google Shape;335;p5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336" name="Google Shape;336;p5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As participant improving practice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were not involved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As researcher performing research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Continued participant observation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Conducted additional interviews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Took notes of emerging statistics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5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Learn from Observations</a:t>
            </a:r>
            <a:endParaRPr/>
          </a:p>
        </p:txBody>
      </p:sp>
      <p:sp>
        <p:nvSpPr>
          <p:cNvPr id="342" name="Google Shape;342;p5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During </a:t>
            </a:r>
            <a:r>
              <a:rPr b="1" lang="en"/>
              <a:t>learning,</a:t>
            </a:r>
            <a:r>
              <a:rPr lang="en"/>
              <a:t> you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Analyse the observed data towards the aspect of interest</a:t>
            </a:r>
            <a:endParaRPr/>
          </a:p>
        </p:txBody>
      </p:sp>
      <p:sp>
        <p:nvSpPr>
          <p:cNvPr id="343" name="Google Shape;343;p5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of Learning from Observations 1 / 2</a:t>
            </a:r>
            <a:endParaRPr/>
          </a:p>
        </p:txBody>
      </p:sp>
      <p:sp>
        <p:nvSpPr>
          <p:cNvPr id="349" name="Google Shape;349;p5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We built out our theory and used it to provide feedback and make suggestions</a:t>
            </a:r>
            <a:endParaRPr/>
          </a:p>
        </p:txBody>
      </p:sp>
      <p:sp>
        <p:nvSpPr>
          <p:cNvPr id="350" name="Google Shape;350;p5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5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of Learning from Observations 2 / 2</a:t>
            </a:r>
            <a:endParaRPr/>
          </a:p>
        </p:txBody>
      </p:sp>
      <p:sp>
        <p:nvSpPr>
          <p:cNvPr id="356" name="Google Shape;356;p5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357" name="Google Shape;357;p5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As participant improving practice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Discussed ways to improve process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As researcher performing research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Integrated collected data into theory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5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Closing the Action-Feedback Loop</a:t>
            </a:r>
            <a:endParaRPr/>
          </a:p>
        </p:txBody>
      </p:sp>
      <p:sp>
        <p:nvSpPr>
          <p:cNvPr id="363" name="Google Shape;363;p5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Based on what you learned, you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Either continue with another iteration of action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Or move on to next steps (publications / methodology)</a:t>
            </a:r>
            <a:endParaRPr/>
          </a:p>
        </p:txBody>
      </p:sp>
      <p:sp>
        <p:nvSpPr>
          <p:cNvPr id="364" name="Google Shape;364;p5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56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</a:t>
            </a:r>
            <a:r>
              <a:rPr lang="en"/>
              <a:t>. Quality Assurance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5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Quality assurance is closely tied to the research methods employed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 our example (open source governance) these were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Participant observation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Practitioner interviews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Qualitative data analysis</a:t>
            </a:r>
            <a:endParaRPr/>
          </a:p>
        </p:txBody>
      </p:sp>
      <p:sp>
        <p:nvSpPr>
          <p:cNvPr id="375" name="Google Shape;375;p5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Quality Assurance</a:t>
            </a:r>
            <a:endParaRPr/>
          </a:p>
        </p:txBody>
      </p:sp>
      <p:sp>
        <p:nvSpPr>
          <p:cNvPr id="376" name="Google Shape;376;p5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5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Action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Participatory action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Problem identification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Research design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action-feedback loop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Quality assurance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5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383" name="Google Shape;383;p5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59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389" name="Google Shape;389;p59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6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395" name="Google Shape;395;p6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396" name="Google Shape;396;p6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2012-2025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NYT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D50D01"/>
      </a:accent3>
      <a:accent4>
        <a:srgbClr val="FEB612"/>
      </a:accent4>
      <a:accent5>
        <a:srgbClr val="4CAF50"/>
      </a:accent5>
      <a:accent6>
        <a:srgbClr val="8E44AD"/>
      </a:accent6>
      <a:hlink>
        <a:srgbClr val="34A3C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
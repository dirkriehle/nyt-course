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41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5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42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51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43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44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45.xml"/>
  <Override ContentType="application/vnd.openxmlformats-officedocument.presentationml.notesSlide+xml" PartName="/ppt/notesSlides/notesSlide46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47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48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5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49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53.xml"/>
  <Override ContentType="application/vnd.openxmlformats-officedocument.presentationml.notesSlide+xml" PartName="/ppt/notesSlides/notesSlide40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6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43.xml"/>
  <Override ContentType="application/vnd.openxmlformats-officedocument.presentationml.slide+xml" PartName="/ppt/slides/slide35.xml"/>
  <Override ContentType="application/vnd.openxmlformats-officedocument.presentationml.slide+xml" PartName="/ppt/slides/slide52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5.xml"/>
  <Override ContentType="application/vnd.openxmlformats-officedocument.presentationml.slide+xml" PartName="/ppt/slides/slide17.xml"/>
  <Override ContentType="application/vnd.openxmlformats-officedocument.presentationml.slide+xml" PartName="/ppt/slides/slide42.xml"/>
  <Override ContentType="application/vnd.openxmlformats-officedocument.presentationml.slide+xml" PartName="/ppt/slides/slide25.xml"/>
  <Override ContentType="application/vnd.openxmlformats-officedocument.presentationml.slide+xml" PartName="/ppt/slides/slide50.xml"/>
  <Override ContentType="application/vnd.openxmlformats-officedocument.presentationml.slide+xml" PartName="/ppt/slides/slide34.xml"/>
  <Override ContentType="application/vnd.openxmlformats-officedocument.presentationml.slide+xml" PartName="/ppt/slides/slide33.xml"/>
  <Override ContentType="application/vnd.openxmlformats-officedocument.presentationml.slide+xml" PartName="/ppt/slides/slide51.xml"/>
  <Override ContentType="application/vnd.openxmlformats-officedocument.presentationml.slide+xml" PartName="/ppt/slides/slide16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7.xml"/>
  <Override ContentType="application/vnd.openxmlformats-officedocument.presentationml.slide+xml" PartName="/ppt/slides/slide41.xml"/>
  <Override ContentType="application/vnd.openxmlformats-officedocument.presentationml.slide+xml" PartName="/ppt/slides/slide7.xml"/>
  <Override ContentType="application/vnd.openxmlformats-officedocument.presentationml.slide+xml" PartName="/ppt/slides/slide36.xml"/>
  <Override ContentType="application/vnd.openxmlformats-officedocument.presentationml.slide+xml" PartName="/ppt/slides/slide23.xml"/>
  <Override ContentType="application/vnd.openxmlformats-officedocument.presentationml.slide+xml" PartName="/ppt/slides/slide49.xml"/>
  <Override ContentType="application/vnd.openxmlformats-officedocument.presentationml.slide+xml" PartName="/ppt/slides/slide10.xml"/>
  <Override ContentType="application/vnd.openxmlformats-officedocument.presentationml.slide+xml" PartName="/ppt/slides/slide6.xml"/>
  <Override ContentType="application/vnd.openxmlformats-officedocument.presentationml.slide+xml" PartName="/ppt/slides/slide53.xml"/>
  <Override ContentType="application/vnd.openxmlformats-officedocument.presentationml.slide+xml" PartName="/ppt/slides/slide40.xml"/>
  <Override ContentType="application/vnd.openxmlformats-officedocument.presentationml.slide+xml" PartName="/ppt/slides/slide4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9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12.xml"/>
  <Override ContentType="application/vnd.openxmlformats-officedocument.presentationml.slide+xml" PartName="/ppt/slides/slide47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8.xml"/>
  <Override ContentType="application/vnd.openxmlformats-officedocument.presentationml.slide+xml" PartName="/ppt/slides/slide4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32.xml"/>
  <Override ContentType="application/vnd.openxmlformats-officedocument.presentationml.slide+xml" PartName="/ppt/slides/slide1.xml"/>
  <Override ContentType="application/vnd.openxmlformats-officedocument.presentationml.slide+xml" PartName="/ppt/slides/slide45.xml"/>
  <Override ContentType="application/vnd.openxmlformats-officedocument.presentationml.slide+xml" PartName="/ppt/slides/slide28.xml"/>
  <Override ContentType="application/vnd.openxmlformats-officedocument.presentationml.slide+xml" PartName="/ppt/slides/slide15.xml"/>
  <Override ContentType="application/vnd.openxmlformats-officedocument.presentationml.slide+xml" PartName="/ppt/slides/slide31.xml"/>
  <Override ContentType="application/vnd.openxmlformats-officedocument.presentationml.slide+xml" PartName="/ppt/slides/slide27.xml"/>
  <Override ContentType="application/vnd.openxmlformats-officedocument.presentationml.slide+xml" PartName="/ppt/slides/slide2.xml"/>
  <Override ContentType="application/vnd.openxmlformats-officedocument.presentationml.slide+xml" PartName="/ppt/slides/slide44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 showSpecialPlsOnTitleSld="0">
  <p:sldMasterIdLst>
    <p:sldMasterId id="2147483654" r:id="rId5"/>
  </p:sldMasterIdLst>
  <p:notesMasterIdLst>
    <p:notesMasterId r:id="rId6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093D59FF-5EC2-42E6-801D-1FF52FC918EA}">
  <a:tblStyle styleId="{093D59FF-5EC2-42E6-801D-1FF52FC918EA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4.xml"/><Relationship Id="rId42" Type="http://schemas.openxmlformats.org/officeDocument/2006/relationships/slide" Target="slides/slide36.xml"/><Relationship Id="rId41" Type="http://schemas.openxmlformats.org/officeDocument/2006/relationships/slide" Target="slides/slide35.xml"/><Relationship Id="rId44" Type="http://schemas.openxmlformats.org/officeDocument/2006/relationships/slide" Target="slides/slide38.xml"/><Relationship Id="rId43" Type="http://schemas.openxmlformats.org/officeDocument/2006/relationships/slide" Target="slides/slide37.xml"/><Relationship Id="rId46" Type="http://schemas.openxmlformats.org/officeDocument/2006/relationships/slide" Target="slides/slide40.xml"/><Relationship Id="rId45" Type="http://schemas.openxmlformats.org/officeDocument/2006/relationships/slide" Target="slides/slide39.xml"/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tableStyles" Target="tableStyles.xml"/><Relationship Id="rId9" Type="http://schemas.openxmlformats.org/officeDocument/2006/relationships/slide" Target="slides/slide3.xml"/><Relationship Id="rId48" Type="http://schemas.openxmlformats.org/officeDocument/2006/relationships/slide" Target="slides/slide42.xml"/><Relationship Id="rId47" Type="http://schemas.openxmlformats.org/officeDocument/2006/relationships/slide" Target="slides/slide41.xml"/><Relationship Id="rId49" Type="http://schemas.openxmlformats.org/officeDocument/2006/relationships/slide" Target="slides/slide43.xml"/><Relationship Id="rId5" Type="http://schemas.openxmlformats.org/officeDocument/2006/relationships/slideMaster" Target="slideMasters/slideMaster1.xml"/><Relationship Id="rId6" Type="http://schemas.openxmlformats.org/officeDocument/2006/relationships/notesMaster" Target="notesMasters/notesMaster1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31" Type="http://schemas.openxmlformats.org/officeDocument/2006/relationships/slide" Target="slides/slide25.xml"/><Relationship Id="rId30" Type="http://schemas.openxmlformats.org/officeDocument/2006/relationships/slide" Target="slides/slide24.xml"/><Relationship Id="rId33" Type="http://schemas.openxmlformats.org/officeDocument/2006/relationships/slide" Target="slides/slide27.xml"/><Relationship Id="rId32" Type="http://schemas.openxmlformats.org/officeDocument/2006/relationships/slide" Target="slides/slide26.xml"/><Relationship Id="rId35" Type="http://schemas.openxmlformats.org/officeDocument/2006/relationships/slide" Target="slides/slide29.xml"/><Relationship Id="rId34" Type="http://schemas.openxmlformats.org/officeDocument/2006/relationships/slide" Target="slides/slide28.xml"/><Relationship Id="rId37" Type="http://schemas.openxmlformats.org/officeDocument/2006/relationships/slide" Target="slides/slide31.xml"/><Relationship Id="rId36" Type="http://schemas.openxmlformats.org/officeDocument/2006/relationships/slide" Target="slides/slide30.xml"/><Relationship Id="rId39" Type="http://schemas.openxmlformats.org/officeDocument/2006/relationships/slide" Target="slides/slide33.xml"/><Relationship Id="rId38" Type="http://schemas.openxmlformats.org/officeDocument/2006/relationships/slide" Target="slides/slide32.xml"/><Relationship Id="rId20" Type="http://schemas.openxmlformats.org/officeDocument/2006/relationships/slide" Target="slides/slide14.xml"/><Relationship Id="rId22" Type="http://schemas.openxmlformats.org/officeDocument/2006/relationships/slide" Target="slides/slide16.xml"/><Relationship Id="rId21" Type="http://schemas.openxmlformats.org/officeDocument/2006/relationships/slide" Target="slides/slide15.xml"/><Relationship Id="rId24" Type="http://schemas.openxmlformats.org/officeDocument/2006/relationships/slide" Target="slides/slide18.xml"/><Relationship Id="rId23" Type="http://schemas.openxmlformats.org/officeDocument/2006/relationships/slide" Target="slides/slide17.xml"/><Relationship Id="rId26" Type="http://schemas.openxmlformats.org/officeDocument/2006/relationships/slide" Target="slides/slide20.xml"/><Relationship Id="rId25" Type="http://schemas.openxmlformats.org/officeDocument/2006/relationships/slide" Target="slides/slide19.xml"/><Relationship Id="rId28" Type="http://schemas.openxmlformats.org/officeDocument/2006/relationships/slide" Target="slides/slide22.xml"/><Relationship Id="rId27" Type="http://schemas.openxmlformats.org/officeDocument/2006/relationships/slide" Target="slides/slide21.xml"/><Relationship Id="rId29" Type="http://schemas.openxmlformats.org/officeDocument/2006/relationships/slide" Target="slides/slide23.xml"/><Relationship Id="rId51" Type="http://schemas.openxmlformats.org/officeDocument/2006/relationships/slide" Target="slides/slide45.xml"/><Relationship Id="rId50" Type="http://schemas.openxmlformats.org/officeDocument/2006/relationships/slide" Target="slides/slide44.xml"/><Relationship Id="rId53" Type="http://schemas.openxmlformats.org/officeDocument/2006/relationships/slide" Target="slides/slide47.xml"/><Relationship Id="rId52" Type="http://schemas.openxmlformats.org/officeDocument/2006/relationships/slide" Target="slides/slide46.xml"/><Relationship Id="rId11" Type="http://schemas.openxmlformats.org/officeDocument/2006/relationships/slide" Target="slides/slide5.xml"/><Relationship Id="rId55" Type="http://schemas.openxmlformats.org/officeDocument/2006/relationships/slide" Target="slides/slide49.xml"/><Relationship Id="rId10" Type="http://schemas.openxmlformats.org/officeDocument/2006/relationships/slide" Target="slides/slide4.xml"/><Relationship Id="rId54" Type="http://schemas.openxmlformats.org/officeDocument/2006/relationships/slide" Target="slides/slide48.xml"/><Relationship Id="rId13" Type="http://schemas.openxmlformats.org/officeDocument/2006/relationships/slide" Target="slides/slide7.xml"/><Relationship Id="rId57" Type="http://schemas.openxmlformats.org/officeDocument/2006/relationships/slide" Target="slides/slide51.xml"/><Relationship Id="rId12" Type="http://schemas.openxmlformats.org/officeDocument/2006/relationships/slide" Target="slides/slide6.xml"/><Relationship Id="rId56" Type="http://schemas.openxmlformats.org/officeDocument/2006/relationships/slide" Target="slides/slide50.xml"/><Relationship Id="rId15" Type="http://schemas.openxmlformats.org/officeDocument/2006/relationships/slide" Target="slides/slide9.xml"/><Relationship Id="rId59" Type="http://schemas.openxmlformats.org/officeDocument/2006/relationships/slide" Target="slides/slide53.xml"/><Relationship Id="rId14" Type="http://schemas.openxmlformats.org/officeDocument/2006/relationships/slide" Target="slides/slide8.xml"/><Relationship Id="rId58" Type="http://schemas.openxmlformats.org/officeDocument/2006/relationships/slide" Target="slides/slide52.xml"/><Relationship Id="rId17" Type="http://schemas.openxmlformats.org/officeDocument/2006/relationships/slide" Target="slides/slide11.xml"/><Relationship Id="rId16" Type="http://schemas.openxmlformats.org/officeDocument/2006/relationships/slide" Target="slides/slide10.xml"/><Relationship Id="rId19" Type="http://schemas.openxmlformats.org/officeDocument/2006/relationships/slide" Target="slides/slide13.xml"/><Relationship Id="rId18" Type="http://schemas.openxmlformats.org/officeDocument/2006/relationships/slide" Target="slides/slide12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3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g2c3601aed9a_0_18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5" name="Google Shape;35;g2c3601aed9a_0_18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9" name="Shape 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Google Shape;40;g127e14a2292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1" name="Google Shape;41;g127e14a2292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6" name="Shape 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Google Shape;47;gf9bad1e87a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8" name="Google Shape;48;gf9bad1e87a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1" name="Shape 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" name="Google Shape;52;g127e14a2292_0_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3" name="Google Shape;53;g127e14a2292_0_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g2c3601aed9a_0_6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0" name="Google Shape;60;g2c3601aed9a_0_6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g11d3036de23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7" name="Google Shape;67;g11d3036de23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2" name="Shape 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gdb5ccdfa64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4" name="Google Shape;74;gdb5ccdfa64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g11bb148f78e_0_3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2" name="Google Shape;82;g11bb148f78e_0_3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g127e14a2292_0_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9" name="Google Shape;89;g127e14a2292_0_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g124ad2ef21c_0_4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7" name="Google Shape;97;g124ad2ef21c_0_4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g2179b616e8b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4" name="Google Shape;104;g2179b616e8b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g11bb148f78e_0_2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2" name="Google Shape;112;g11bb148f78e_0_2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g133abade362_0_4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9" name="Google Shape;119;g133abade362_0_4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g11bb148f78e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6" name="Google Shape;126;g11bb148f78e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g11bb148f78e_0_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1" name="Google Shape;131;g11bb148f78e_0_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g11bb148f78e_0_1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9" name="Google Shape;139;g11bb148f78e_0_1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133abade362_0_1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133abade362_0_1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g2179b616e8b_0_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4" name="Google Shape;154;g2179b616e8b_0_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9" name="Shape 1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0" name="Google Shape;160;g133abade362_0_3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1" name="Google Shape;161;g133abade362_0_3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g133be5e16e8_0_2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9" name="Google Shape;169;g133be5e16e8_0_2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4" name="Shape 1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5" name="Google Shape;175;g133be5e16e8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6" name="Google Shape;176;g133be5e16e8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g2c3601aed9a_0_1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4" name="Google Shape;184;g2c3601aed9a_0_1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gf428e7a1d1_0_1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9" name="Google Shape;189;gf428e7a1d1_0_1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gf428e7a1d1_0_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96" name="Google Shape;196;gf428e7a1d1_0_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2" name="Shape 2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3" name="Google Shape;203;g2c3601aed9a_0_5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4" name="Google Shape;204;g2c3601aed9a_0_5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g2c3601aed9a_0_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9" name="Google Shape;209;g2c3601aed9a_0_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g2c3601aed9a_0_4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16" name="Google Shape;216;g2c3601aed9a_0_4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g2c3601aed9a_0_2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23" name="Google Shape;223;g2c3601aed9a_0_2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9" name="Shape 2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0" name="Google Shape;230;g2c3601aed9a_0_3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31" name="Google Shape;231;g2c3601aed9a_0_3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g2c4bb9ecca5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38" name="Google Shape;238;g2c4bb9ecca5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g2c7a6e2504f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5" name="Google Shape;245;g2c7a6e2504f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g2c3601aed9a_0_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52" name="Google Shape;252;g2c3601aed9a_0_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5" name="Shape 2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" name="Google Shape;256;gf428e7a1d1_0_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57" name="Google Shape;257;gf428e7a1d1_0_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2" name="Shape 2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3" name="Google Shape;263;gf428e7a1d1_0_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64" name="Google Shape;264;gf428e7a1d1_0_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9" name="Shape 2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0" name="Google Shape;270;g2c3601aed9a_0_7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71" name="Google Shape;271;g2c3601aed9a_0_7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77" name="Shape 2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8" name="Google Shape;278;g133be5e16e8_0_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79" name="Google Shape;279;g133be5e16e8_0_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g133be5e16e8_0_4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86" name="Google Shape;286;g133be5e16e8_0_4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91" name="Shape 2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2" name="Google Shape;292;g2c3601aed9a_0_8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93" name="Google Shape;293;g2c3601aed9a_0_8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99" name="Shape 2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0" name="Google Shape;300;g133abade362_0_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01" name="Google Shape;301;g133abade362_0_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g133be5e16e8_0_4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08" name="Google Shape;308;g133be5e16e8_0_4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g2c3601aed9a_0_9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15" name="Google Shape;315;g2c3601aed9a_0_9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g133be5e16e8_0_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3" name="Google Shape;323;g133be5e16e8_0_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g133be5e16e8_0_5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30" name="Google Shape;330;g133be5e16e8_0_5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35" name="Shape 3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6" name="Google Shape;336;g2c3601aed9a_0_10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37" name="Google Shape;337;g2c3601aed9a_0_10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43" name="Shape 3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4" name="Google Shape;344;g133be5e16e8_0_2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45" name="Google Shape;345;g133be5e16e8_0_2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g133be5e16e8_0_5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52" name="Google Shape;352;g133be5e16e8_0_5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57" name="Shape 3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8" name="Google Shape;358;g2c3601aed9a_0_11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59" name="Google Shape;359;g2c3601aed9a_0_11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65" name="Shape 3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6" name="Google Shape;366;gf428e7a1d1_0_2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67" name="Google Shape;367;gf428e7a1d1_0_2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72" name="Shape 3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3" name="Google Shape;373;g2179b616e8b_0_2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74" name="Google Shape;374;g2179b616e8b_0_2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77" name="Shape 3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8" name="Google Shape;378;g2c3601aed9a_0_5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79" name="Google Shape;379;g2c3601aed9a_0_5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84" name="Shape 3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5" name="Google Shape;385;g133be5e16e8_0_6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86" name="Google Shape;386;g133be5e16e8_0_6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91" name="Shape 3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2" name="Google Shape;392;g2390037b54d_0_3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93" name="Google Shape;393;g2390037b54d_0_3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97" name="Shape 3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8" name="Google Shape;398;g2390037b54d_0_4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99" name="Google Shape;399;g2390037b54d_0_4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hyperlink" Target="http://uni1.de/nyt" TargetMode="Externa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hyperlink" Target="http://uni1.de/nyt" TargetMode="Externa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hyperlink" Target="http://uni1.de/nyt" TargetMode="Externa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hyperlink" Target="http://uni1.de/nyt" TargetMode="Externa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0" y="0"/>
            <a:ext cx="9144000" cy="2388900"/>
          </a:xfrm>
          <a:prstGeom prst="rect">
            <a:avLst/>
          </a:prstGeom>
          <a:noFill/>
        </p:spPr>
        <p:txBody>
          <a:bodyPr anchorCtr="0" anchor="b" bIns="274300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200"/>
              <a:buNone/>
              <a:defRPr sz="4200">
                <a:solidFill>
                  <a:schemeClr val="dk1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0" y="2569475"/>
            <a:ext cx="9144000" cy="2574000"/>
          </a:xfrm>
          <a:prstGeom prst="rect">
            <a:avLst/>
          </a:prstGeom>
        </p:spPr>
        <p:txBody>
          <a:bodyPr anchorCtr="0" anchor="t" bIns="91425" lIns="91425" spcFirstLastPara="1" rIns="91425" wrap="square" tIns="274300">
            <a:noAutofit/>
          </a:bodyPr>
          <a:lstStyle>
            <a:lvl1pPr lv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1pPr>
            <a:lvl2pPr lvl="1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2pPr>
            <a:lvl3pPr lvl="2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3pPr>
            <a:lvl4pPr lvl="3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4pPr>
            <a:lvl5pPr lvl="4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5pPr>
            <a:lvl6pPr lvl="5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6pPr>
            <a:lvl7pPr lvl="6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7pPr>
            <a:lvl8pPr lvl="7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8pPr>
            <a:lvl9pPr lvl="8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9pPr>
          </a:lstStyle>
          <a:p/>
        </p:txBody>
      </p:sp>
      <p:sp>
        <p:nvSpPr>
          <p:cNvPr id="12" name="Google Shape;12;p2"/>
          <p:cNvSpPr/>
          <p:nvPr/>
        </p:nvSpPr>
        <p:spPr>
          <a:xfrm>
            <a:off x="0" y="2388810"/>
            <a:ext cx="9144000" cy="18300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0" y="-7"/>
            <a:ext cx="9144000" cy="2386500"/>
          </a:xfrm>
          <a:prstGeom prst="rect">
            <a:avLst/>
          </a:prstGeom>
        </p:spPr>
        <p:txBody>
          <a:bodyPr anchorCtr="0" anchor="b" bIns="274300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5" name="Google Shape;15;p3"/>
          <p:cNvSpPr/>
          <p:nvPr/>
        </p:nvSpPr>
        <p:spPr>
          <a:xfrm>
            <a:off x="0" y="2386584"/>
            <a:ext cx="9144000" cy="9150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7315209" y="4229101"/>
            <a:ext cx="1828800" cy="914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 rtl="0" algn="r">
              <a:buNone/>
              <a:defRPr b="1" sz="2400">
                <a:solidFill>
                  <a:schemeClr val="dk1"/>
                </a:solidFill>
              </a:defRPr>
            </a:lvl1pPr>
            <a:lvl2pPr lvl="1" rtl="0" algn="r">
              <a:buNone/>
              <a:defRPr b="1" sz="2400">
                <a:solidFill>
                  <a:schemeClr val="dk1"/>
                </a:solidFill>
              </a:defRPr>
            </a:lvl2pPr>
            <a:lvl3pPr lvl="2" rtl="0" algn="r">
              <a:buNone/>
              <a:defRPr b="1" sz="2400">
                <a:solidFill>
                  <a:schemeClr val="dk1"/>
                </a:solidFill>
              </a:defRPr>
            </a:lvl3pPr>
            <a:lvl4pPr lvl="3" rtl="0" algn="r">
              <a:buNone/>
              <a:defRPr b="1" sz="2400">
                <a:solidFill>
                  <a:schemeClr val="dk1"/>
                </a:solidFill>
              </a:defRPr>
            </a:lvl4pPr>
            <a:lvl5pPr lvl="4" rtl="0" algn="r">
              <a:buNone/>
              <a:defRPr b="1" sz="2400">
                <a:solidFill>
                  <a:schemeClr val="dk1"/>
                </a:solidFill>
              </a:defRPr>
            </a:lvl5pPr>
            <a:lvl6pPr lvl="5" rtl="0" algn="r">
              <a:buNone/>
              <a:defRPr b="1" sz="2400">
                <a:solidFill>
                  <a:schemeClr val="dk1"/>
                </a:solidFill>
              </a:defRPr>
            </a:lvl6pPr>
            <a:lvl7pPr lvl="6" rtl="0" algn="r">
              <a:buNone/>
              <a:defRPr b="1" sz="2400">
                <a:solidFill>
                  <a:schemeClr val="dk1"/>
                </a:solidFill>
              </a:defRPr>
            </a:lvl7pPr>
            <a:lvl8pPr lvl="7" rtl="0" algn="r">
              <a:buNone/>
              <a:defRPr b="1" sz="2400">
                <a:solidFill>
                  <a:schemeClr val="dk1"/>
                </a:solidFill>
              </a:defRPr>
            </a:lvl8pPr>
            <a:lvl9pPr lvl="8" rtl="0" algn="r">
              <a:buNone/>
              <a:defRPr b="1" sz="2400">
                <a:solidFill>
                  <a:schemeClr val="dk1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1000" u="sng">
                <a:solidFill>
                  <a:schemeClr val="hlink"/>
                </a:solidFill>
                <a:hlinkClick r:id="rId2"/>
              </a:rPr>
              <a:t>uni1.de/nyt</a:t>
            </a:r>
            <a:r>
              <a:rPr b="0" lang="en" sz="1000"/>
              <a:t> </a:t>
            </a:r>
            <a:endParaRPr b="0" sz="100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9" name="Google Shape;19;p4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20" name="Google Shape;20;p4"/>
          <p:cNvSpPr/>
          <p:nvPr/>
        </p:nvSpPr>
        <p:spPr>
          <a:xfrm>
            <a:off x="0" y="685800"/>
            <a:ext cx="9144000" cy="9150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" name="Google Shape;21;p4"/>
          <p:cNvSpPr txBox="1"/>
          <p:nvPr>
            <p:ph idx="12" type="sldNum"/>
          </p:nvPr>
        </p:nvSpPr>
        <p:spPr>
          <a:xfrm>
            <a:off x="7315209" y="4229101"/>
            <a:ext cx="1828800" cy="914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 rtl="0" algn="r">
              <a:buNone/>
              <a:defRPr b="1" sz="2400">
                <a:solidFill>
                  <a:schemeClr val="dk1"/>
                </a:solidFill>
              </a:defRPr>
            </a:lvl1pPr>
            <a:lvl2pPr lvl="1" rtl="0" algn="r">
              <a:buNone/>
              <a:defRPr b="1" sz="2400">
                <a:solidFill>
                  <a:schemeClr val="dk1"/>
                </a:solidFill>
              </a:defRPr>
            </a:lvl2pPr>
            <a:lvl3pPr lvl="2" rtl="0" algn="r">
              <a:buNone/>
              <a:defRPr b="1" sz="2400">
                <a:solidFill>
                  <a:schemeClr val="dk1"/>
                </a:solidFill>
              </a:defRPr>
            </a:lvl3pPr>
            <a:lvl4pPr lvl="3" rtl="0" algn="r">
              <a:buNone/>
              <a:defRPr b="1" sz="2400">
                <a:solidFill>
                  <a:schemeClr val="dk1"/>
                </a:solidFill>
              </a:defRPr>
            </a:lvl4pPr>
            <a:lvl5pPr lvl="4" rtl="0" algn="r">
              <a:buNone/>
              <a:defRPr b="1" sz="2400">
                <a:solidFill>
                  <a:schemeClr val="dk1"/>
                </a:solidFill>
              </a:defRPr>
            </a:lvl5pPr>
            <a:lvl6pPr lvl="5" rtl="0" algn="r">
              <a:buNone/>
              <a:defRPr b="1" sz="2400">
                <a:solidFill>
                  <a:schemeClr val="dk1"/>
                </a:solidFill>
              </a:defRPr>
            </a:lvl6pPr>
            <a:lvl7pPr lvl="6" rtl="0" algn="r">
              <a:buNone/>
              <a:defRPr b="1" sz="2400">
                <a:solidFill>
                  <a:schemeClr val="dk1"/>
                </a:solidFill>
              </a:defRPr>
            </a:lvl7pPr>
            <a:lvl8pPr lvl="7" rtl="0" algn="r">
              <a:buNone/>
              <a:defRPr b="1" sz="2400">
                <a:solidFill>
                  <a:schemeClr val="dk1"/>
                </a:solidFill>
              </a:defRPr>
            </a:lvl8pPr>
            <a:lvl9pPr lvl="8" rtl="0" algn="r">
              <a:buNone/>
              <a:defRPr b="1" sz="2400">
                <a:solidFill>
                  <a:schemeClr val="dk1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1000" u="sng">
                <a:solidFill>
                  <a:schemeClr val="hlink"/>
                </a:solidFill>
                <a:hlinkClick r:id="rId2"/>
              </a:rPr>
              <a:t>uni1.de/nyt</a:t>
            </a:r>
            <a:r>
              <a:rPr b="0" lang="en" sz="1000"/>
              <a:t> </a:t>
            </a:r>
            <a:endParaRPr b="0" sz="100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2" name="Shape 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Google Shape;23;p5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  <a:ln>
            <a:noFill/>
          </a:ln>
        </p:spPr>
        <p:txBody>
          <a:bodyPr anchorCtr="0" anchor="ctr" bIns="0" lIns="27430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4" name="Google Shape;24;p5"/>
          <p:cNvSpPr txBox="1"/>
          <p:nvPr>
            <p:ph idx="1" type="body"/>
          </p:nvPr>
        </p:nvSpPr>
        <p:spPr>
          <a:xfrm>
            <a:off x="274320" y="914400"/>
            <a:ext cx="4114800" cy="4114800"/>
          </a:xfrm>
          <a:prstGeom prst="rect">
            <a:avLst/>
          </a:prstGeom>
        </p:spPr>
        <p:txBody>
          <a:bodyPr anchorCtr="0" anchor="t" bIns="91425" lIns="0" spcFirstLastPara="1" rIns="91425" wrap="square" tIns="0">
            <a:no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25" name="Google Shape;25;p5"/>
          <p:cNvSpPr txBox="1"/>
          <p:nvPr>
            <p:ph idx="2" type="body"/>
          </p:nvPr>
        </p:nvSpPr>
        <p:spPr>
          <a:xfrm>
            <a:off x="4846320" y="914400"/>
            <a:ext cx="41148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26" name="Google Shape;26;p5"/>
          <p:cNvSpPr/>
          <p:nvPr/>
        </p:nvSpPr>
        <p:spPr>
          <a:xfrm>
            <a:off x="0" y="685800"/>
            <a:ext cx="9144000" cy="9150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" name="Google Shape;27;p5"/>
          <p:cNvSpPr txBox="1"/>
          <p:nvPr>
            <p:ph idx="12" type="sldNum"/>
          </p:nvPr>
        </p:nvSpPr>
        <p:spPr>
          <a:xfrm>
            <a:off x="7315209" y="4229101"/>
            <a:ext cx="1828800" cy="914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 rtl="0" algn="r">
              <a:buNone/>
              <a:defRPr b="1" sz="2400">
                <a:solidFill>
                  <a:schemeClr val="dk1"/>
                </a:solidFill>
              </a:defRPr>
            </a:lvl1pPr>
            <a:lvl2pPr lvl="1" rtl="0" algn="r">
              <a:buNone/>
              <a:defRPr b="1" sz="2400">
                <a:solidFill>
                  <a:schemeClr val="dk1"/>
                </a:solidFill>
              </a:defRPr>
            </a:lvl2pPr>
            <a:lvl3pPr lvl="2" rtl="0" algn="r">
              <a:buNone/>
              <a:defRPr b="1" sz="2400">
                <a:solidFill>
                  <a:schemeClr val="dk1"/>
                </a:solidFill>
              </a:defRPr>
            </a:lvl3pPr>
            <a:lvl4pPr lvl="3" rtl="0" algn="r">
              <a:buNone/>
              <a:defRPr b="1" sz="2400">
                <a:solidFill>
                  <a:schemeClr val="dk1"/>
                </a:solidFill>
              </a:defRPr>
            </a:lvl4pPr>
            <a:lvl5pPr lvl="4" rtl="0" algn="r">
              <a:buNone/>
              <a:defRPr b="1" sz="2400">
                <a:solidFill>
                  <a:schemeClr val="dk1"/>
                </a:solidFill>
              </a:defRPr>
            </a:lvl5pPr>
            <a:lvl6pPr lvl="5" rtl="0" algn="r">
              <a:buNone/>
              <a:defRPr b="1" sz="2400">
                <a:solidFill>
                  <a:schemeClr val="dk1"/>
                </a:solidFill>
              </a:defRPr>
            </a:lvl6pPr>
            <a:lvl7pPr lvl="6" rtl="0" algn="r">
              <a:buNone/>
              <a:defRPr b="1" sz="2400">
                <a:solidFill>
                  <a:schemeClr val="dk1"/>
                </a:solidFill>
              </a:defRPr>
            </a:lvl7pPr>
            <a:lvl8pPr lvl="7" rtl="0" algn="r">
              <a:buNone/>
              <a:defRPr b="1" sz="2400">
                <a:solidFill>
                  <a:schemeClr val="dk1"/>
                </a:solidFill>
              </a:defRPr>
            </a:lvl8pPr>
            <a:lvl9pPr lvl="8" rtl="0" algn="r">
              <a:buNone/>
              <a:defRPr b="1" sz="2400">
                <a:solidFill>
                  <a:schemeClr val="dk1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1000" u="sng">
                <a:solidFill>
                  <a:schemeClr val="hlink"/>
                </a:solidFill>
                <a:hlinkClick r:id="rId2"/>
              </a:rPr>
              <a:t>uni1.de/nyt</a:t>
            </a:r>
            <a:r>
              <a:rPr b="0" lang="en" sz="1000"/>
              <a:t> </a:t>
            </a:r>
            <a:endParaRPr b="0" sz="100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6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0" lIns="27430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30" name="Google Shape;30;p6"/>
          <p:cNvSpPr/>
          <p:nvPr/>
        </p:nvSpPr>
        <p:spPr>
          <a:xfrm>
            <a:off x="0" y="685800"/>
            <a:ext cx="9144000" cy="9150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" name="Google Shape;31;p6"/>
          <p:cNvSpPr txBox="1"/>
          <p:nvPr>
            <p:ph idx="12" type="sldNum"/>
          </p:nvPr>
        </p:nvSpPr>
        <p:spPr>
          <a:xfrm>
            <a:off x="7315209" y="4229101"/>
            <a:ext cx="1828800" cy="914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 rtl="0" algn="r">
              <a:buNone/>
              <a:defRPr b="1" sz="2400">
                <a:solidFill>
                  <a:schemeClr val="dk1"/>
                </a:solidFill>
              </a:defRPr>
            </a:lvl1pPr>
            <a:lvl2pPr lvl="1" rtl="0" algn="r">
              <a:buNone/>
              <a:defRPr b="1" sz="2400">
                <a:solidFill>
                  <a:schemeClr val="dk1"/>
                </a:solidFill>
              </a:defRPr>
            </a:lvl2pPr>
            <a:lvl3pPr lvl="2" rtl="0" algn="r">
              <a:buNone/>
              <a:defRPr b="1" sz="2400">
                <a:solidFill>
                  <a:schemeClr val="dk1"/>
                </a:solidFill>
              </a:defRPr>
            </a:lvl3pPr>
            <a:lvl4pPr lvl="3" rtl="0" algn="r">
              <a:buNone/>
              <a:defRPr b="1" sz="2400">
                <a:solidFill>
                  <a:schemeClr val="dk1"/>
                </a:solidFill>
              </a:defRPr>
            </a:lvl4pPr>
            <a:lvl5pPr lvl="4" rtl="0" algn="r">
              <a:buNone/>
              <a:defRPr b="1" sz="2400">
                <a:solidFill>
                  <a:schemeClr val="dk1"/>
                </a:solidFill>
              </a:defRPr>
            </a:lvl5pPr>
            <a:lvl6pPr lvl="5" rtl="0" algn="r">
              <a:buNone/>
              <a:defRPr b="1" sz="2400">
                <a:solidFill>
                  <a:schemeClr val="dk1"/>
                </a:solidFill>
              </a:defRPr>
            </a:lvl6pPr>
            <a:lvl7pPr lvl="6" rtl="0" algn="r">
              <a:buNone/>
              <a:defRPr b="1" sz="2400">
                <a:solidFill>
                  <a:schemeClr val="dk1"/>
                </a:solidFill>
              </a:defRPr>
            </a:lvl7pPr>
            <a:lvl8pPr lvl="7" rtl="0" algn="r">
              <a:buNone/>
              <a:defRPr b="1" sz="2400">
                <a:solidFill>
                  <a:schemeClr val="dk1"/>
                </a:solidFill>
              </a:defRPr>
            </a:lvl8pPr>
            <a:lvl9pPr lvl="8" rtl="0" algn="r">
              <a:buNone/>
              <a:defRPr b="1" sz="2400">
                <a:solidFill>
                  <a:schemeClr val="dk1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1000" u="sng">
                <a:solidFill>
                  <a:schemeClr val="hlink"/>
                </a:solidFill>
                <a:hlinkClick r:id="rId2"/>
              </a:rPr>
              <a:t>uni1.de/nyt</a:t>
            </a:r>
            <a:r>
              <a:rPr b="0" lang="en" sz="1000"/>
              <a:t> </a:t>
            </a:r>
            <a:endParaRPr b="0" sz="100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hyperlink" Target="http://uni1.de/nyt" TargetMode="Externa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27430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3429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Char char="●"/>
              <a:defRPr sz="1800">
                <a:solidFill>
                  <a:schemeClr val="dk1"/>
                </a:solidFill>
              </a:defRPr>
            </a:lvl1pPr>
            <a:lvl2pPr indent="-3175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○"/>
              <a:defRPr>
                <a:solidFill>
                  <a:schemeClr val="dk1"/>
                </a:solidFill>
              </a:defRPr>
            </a:lvl2pPr>
            <a:lvl3pPr indent="-3175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■"/>
              <a:defRPr>
                <a:solidFill>
                  <a:schemeClr val="dk1"/>
                </a:solidFill>
              </a:defRPr>
            </a:lvl3pPr>
            <a:lvl4pPr indent="-3175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●"/>
              <a:defRPr>
                <a:solidFill>
                  <a:schemeClr val="dk1"/>
                </a:solidFill>
              </a:defRPr>
            </a:lvl4pPr>
            <a:lvl5pPr indent="-3175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○"/>
              <a:defRPr>
                <a:solidFill>
                  <a:schemeClr val="dk1"/>
                </a:solidFill>
              </a:defRPr>
            </a:lvl5pPr>
            <a:lvl6pPr indent="-3175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■"/>
              <a:defRPr>
                <a:solidFill>
                  <a:schemeClr val="dk1"/>
                </a:solidFill>
              </a:defRPr>
            </a:lvl6pPr>
            <a:lvl7pPr indent="-3175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●"/>
              <a:defRPr>
                <a:solidFill>
                  <a:schemeClr val="dk1"/>
                </a:solidFill>
              </a:defRPr>
            </a:lvl7pPr>
            <a:lvl8pPr indent="-3175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○"/>
              <a:defRPr>
                <a:solidFill>
                  <a:schemeClr val="dk1"/>
                </a:solidFill>
              </a:defRPr>
            </a:lvl8pPr>
            <a:lvl9pPr indent="-3175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■"/>
              <a:defRPr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7315209" y="4229101"/>
            <a:ext cx="1828800" cy="9144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rtl="0" algn="r">
              <a:buNone/>
              <a:defRPr b="1" sz="2400">
                <a:solidFill>
                  <a:schemeClr val="dk1"/>
                </a:solidFill>
              </a:defRPr>
            </a:lvl1pPr>
            <a:lvl2pPr lvl="1" rtl="0" algn="r">
              <a:buNone/>
              <a:defRPr b="1" sz="2400">
                <a:solidFill>
                  <a:schemeClr val="dk1"/>
                </a:solidFill>
              </a:defRPr>
            </a:lvl2pPr>
            <a:lvl3pPr lvl="2" rtl="0" algn="r">
              <a:buNone/>
              <a:defRPr b="1" sz="2400">
                <a:solidFill>
                  <a:schemeClr val="dk1"/>
                </a:solidFill>
              </a:defRPr>
            </a:lvl3pPr>
            <a:lvl4pPr lvl="3" rtl="0" algn="r">
              <a:buNone/>
              <a:defRPr b="1" sz="2400">
                <a:solidFill>
                  <a:schemeClr val="dk1"/>
                </a:solidFill>
              </a:defRPr>
            </a:lvl4pPr>
            <a:lvl5pPr lvl="4" rtl="0" algn="r">
              <a:buNone/>
              <a:defRPr b="1" sz="2400">
                <a:solidFill>
                  <a:schemeClr val="dk1"/>
                </a:solidFill>
              </a:defRPr>
            </a:lvl5pPr>
            <a:lvl6pPr lvl="5" rtl="0" algn="r">
              <a:buNone/>
              <a:defRPr b="1" sz="2400">
                <a:solidFill>
                  <a:schemeClr val="dk1"/>
                </a:solidFill>
              </a:defRPr>
            </a:lvl6pPr>
            <a:lvl7pPr lvl="6" rtl="0" algn="r">
              <a:buNone/>
              <a:defRPr b="1" sz="2400">
                <a:solidFill>
                  <a:schemeClr val="dk1"/>
                </a:solidFill>
              </a:defRPr>
            </a:lvl7pPr>
            <a:lvl8pPr lvl="7" rtl="0" algn="r">
              <a:buNone/>
              <a:defRPr b="1" sz="2400">
                <a:solidFill>
                  <a:schemeClr val="dk1"/>
                </a:solidFill>
              </a:defRPr>
            </a:lvl8pPr>
            <a:lvl9pPr lvl="8" rtl="0" algn="r">
              <a:buNone/>
              <a:defRPr b="1" sz="2400">
                <a:solidFill>
                  <a:schemeClr val="dk1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1000" u="sng">
                <a:solidFill>
                  <a:schemeClr val="hlink"/>
                </a:solidFill>
                <a:hlinkClick r:id="rId1"/>
              </a:rPr>
              <a:t>uni1.de/nyt</a:t>
            </a:r>
            <a:r>
              <a:rPr b="0" lang="en" sz="1000"/>
              <a:t> </a:t>
            </a:r>
            <a:endParaRPr b="0" sz="1000"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2"/>
    <p:sldLayoutId id="2147483649" r:id="rId3"/>
    <p:sldLayoutId id="2147483650" r:id="rId4"/>
    <p:sldLayoutId id="2147483651" r:id="rId5"/>
    <p:sldLayoutId id="2147483652" r:id="rId6"/>
    <p:sldLayoutId id="2147483653" r:id="rId7"/>
  </p:sldLayoutIdLst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hyperlink" Target="http://creativecommons.org/licenses/by/4.0/" TargetMode="Externa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Relationship Id="rId3" Type="http://schemas.openxmlformats.org/officeDocument/2006/relationships/hyperlink" Target="http://uni1.de/nyt" TargetMode="Externa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Relationship Id="rId3" Type="http://schemas.openxmlformats.org/officeDocument/2006/relationships/hyperlink" Target="http://uni1.de/nyt" TargetMode="Externa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hyperlink" Target="http://uni1.de/nyt" TargetMode="Externa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hyperlink" Target="http://uni1.de/nyt" TargetMode="Externa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Relationship Id="rId3" Type="http://schemas.openxmlformats.org/officeDocument/2006/relationships/hyperlink" Target="http://uni1.de/nyt" TargetMode="External"/><Relationship Id="rId4" Type="http://schemas.openxmlformats.org/officeDocument/2006/relationships/image" Target="../media/image2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Relationship Id="rId3" Type="http://schemas.openxmlformats.org/officeDocument/2006/relationships/hyperlink" Target="http://uni1.de/nyt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Relationship Id="rId3" Type="http://schemas.openxmlformats.org/officeDocument/2006/relationships/hyperlink" Target="http://uni1.de/nyt" TargetMode="Externa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Relationship Id="rId3" Type="http://schemas.openxmlformats.org/officeDocument/2006/relationships/hyperlink" Target="http://uni1.de/nyt" TargetMode="Externa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1.png"/><Relationship Id="rId4" Type="http://schemas.openxmlformats.org/officeDocument/2006/relationships/hyperlink" Target="http://uni1.de/nyt" TargetMode="Externa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Relationship Id="rId3" Type="http://schemas.openxmlformats.org/officeDocument/2006/relationships/hyperlink" Target="http://uni1.de/nyt" TargetMode="Externa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Relationship Id="rId3" Type="http://schemas.openxmlformats.org/officeDocument/2006/relationships/hyperlink" Target="http://uni1.de/nyt" TargetMode="Externa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Relationship Id="rId3" Type="http://schemas.openxmlformats.org/officeDocument/2006/relationships/hyperlink" Target="http://uni1.de/nyt" TargetMode="Externa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Relationship Id="rId3" Type="http://schemas.openxmlformats.org/officeDocument/2006/relationships/hyperlink" Target="http://uni1.de/nyt" TargetMode="External"/><Relationship Id="rId4" Type="http://schemas.openxmlformats.org/officeDocument/2006/relationships/image" Target="../media/image3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7.xml"/><Relationship Id="rId3" Type="http://schemas.openxmlformats.org/officeDocument/2006/relationships/hyperlink" Target="http://uni1.de/nyt" TargetMode="Externa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8.xml"/><Relationship Id="rId3" Type="http://schemas.openxmlformats.org/officeDocument/2006/relationships/hyperlink" Target="http://uni1.de/nyt" TargetMode="Externa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9.xml"/><Relationship Id="rId3" Type="http://schemas.openxmlformats.org/officeDocument/2006/relationships/hyperlink" Target="http://uni1.de/nyt" TargetMode="Externa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hyperlink" Target="http://uni1.de/nyt" TargetMode="External"/><Relationship Id="rId4" Type="http://schemas.openxmlformats.org/officeDocument/2006/relationships/image" Target="../media/image5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Relationship Id="rId3" Type="http://schemas.openxmlformats.org/officeDocument/2006/relationships/hyperlink" Target="http://uni1.de/nyt" TargetMode="Externa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3.xml"/><Relationship Id="rId3" Type="http://schemas.openxmlformats.org/officeDocument/2006/relationships/hyperlink" Target="http://uni1.de/nyt" TargetMode="Externa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4.xml"/><Relationship Id="rId3" Type="http://schemas.openxmlformats.org/officeDocument/2006/relationships/hyperlink" Target="http://uni1.de/nyt" TargetMode="Externa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Relationship Id="rId3" Type="http://schemas.openxmlformats.org/officeDocument/2006/relationships/hyperlink" Target="http://uni1.de/nyt" TargetMode="Externa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hyperlink" Target="http://uni1.de/nyt" TargetMode="External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hyperlink" Target="http://uni1.de/nyt" TargetMode="External"/><Relationship Id="rId4" Type="http://schemas.openxmlformats.org/officeDocument/2006/relationships/image" Target="../media/image6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9.xml"/><Relationship Id="rId3" Type="http://schemas.openxmlformats.org/officeDocument/2006/relationships/hyperlink" Target="http://uni1.de/nyt" TargetMode="External"/><Relationship Id="rId4" Type="http://schemas.openxmlformats.org/officeDocument/2006/relationships/image" Target="../media/image4.png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Relationship Id="rId3" Type="http://schemas.openxmlformats.org/officeDocument/2006/relationships/hyperlink" Target="http://uni1.de/nyt" TargetMode="External"/><Relationship Id="rId4" Type="http://schemas.openxmlformats.org/officeDocument/2006/relationships/image" Target="../media/image7.png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1.xml"/><Relationship Id="rId3" Type="http://schemas.openxmlformats.org/officeDocument/2006/relationships/hyperlink" Target="http://uni1.de/nyt" TargetMode="Externa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3.xml"/><Relationship Id="rId3" Type="http://schemas.openxmlformats.org/officeDocument/2006/relationships/hyperlink" Target="http://uni1.de/nyt" TargetMode="Externa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4.xml"/><Relationship Id="rId3" Type="http://schemas.openxmlformats.org/officeDocument/2006/relationships/hyperlink" Target="http://uni1.de/nyt" TargetMode="Externa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5.xml"/><Relationship Id="rId3" Type="http://schemas.openxmlformats.org/officeDocument/2006/relationships/hyperlink" Target="http://uni1.de/nyt" TargetMode="Externa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6.xml"/><Relationship Id="rId3" Type="http://schemas.openxmlformats.org/officeDocument/2006/relationships/hyperlink" Target="http://uni1.de/nyt" TargetMode="Externa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7.xml"/><Relationship Id="rId3" Type="http://schemas.openxmlformats.org/officeDocument/2006/relationships/hyperlink" Target="http://uni1.de/nyt" TargetMode="External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8.xml"/><Relationship Id="rId3" Type="http://schemas.openxmlformats.org/officeDocument/2006/relationships/hyperlink" Target="http://uni1.de/nyt" TargetMode="External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9.xml"/><Relationship Id="rId3" Type="http://schemas.openxmlformats.org/officeDocument/2006/relationships/hyperlink" Target="http://uni1.de/nyt" TargetMode="External"/></Relationships>
</file>

<file path=ppt/slides/_rels/slide4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0.xml"/><Relationship Id="rId3" Type="http://schemas.openxmlformats.org/officeDocument/2006/relationships/hyperlink" Target="http://uni1.de/nyt" TargetMode="External"/></Relationships>
</file>

<file path=ppt/slides/_rels/slide4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1.xml"/><Relationship Id="rId3" Type="http://schemas.openxmlformats.org/officeDocument/2006/relationships/hyperlink" Target="http://uni1.de/nyt" TargetMode="External"/></Relationships>
</file>

<file path=ppt/slides/_rels/slide4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2.xml"/><Relationship Id="rId3" Type="http://schemas.openxmlformats.org/officeDocument/2006/relationships/hyperlink" Target="http://uni1.de/nyt" TargetMode="External"/></Relationships>
</file>

<file path=ppt/slides/_rels/slide4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3.xml"/><Relationship Id="rId3" Type="http://schemas.openxmlformats.org/officeDocument/2006/relationships/hyperlink" Target="http://uni1.de/nyt" TargetMode="External"/></Relationships>
</file>

<file path=ppt/slides/_rels/slide4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4.xml"/><Relationship Id="rId3" Type="http://schemas.openxmlformats.org/officeDocument/2006/relationships/hyperlink" Target="http://uni1.de/nyt" TargetMode="External"/></Relationships>
</file>

<file path=ppt/slides/_rels/slide4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5.xml"/><Relationship Id="rId3" Type="http://schemas.openxmlformats.org/officeDocument/2006/relationships/hyperlink" Target="http://uni1.de/nyt" TargetMode="External"/></Relationships>
</file>

<file path=ppt/slides/_rels/slide4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6.xml"/><Relationship Id="rId3" Type="http://schemas.openxmlformats.org/officeDocument/2006/relationships/hyperlink" Target="http://uni1.de/nyt" TargetMode="External"/></Relationships>
</file>

<file path=ppt/slides/_rels/slide4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7.xml"/><Relationship Id="rId3" Type="http://schemas.openxmlformats.org/officeDocument/2006/relationships/hyperlink" Target="http://uni1.de/nyt" TargetMode="External"/></Relationships>
</file>

<file path=ppt/slides/_rels/slide4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8.xml"/><Relationship Id="rId3" Type="http://schemas.openxmlformats.org/officeDocument/2006/relationships/hyperlink" Target="http://uni1.de/nyt" TargetMode="External"/></Relationships>
</file>

<file path=ppt/slides/_rels/slide4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9.xml"/></Relationships>
</file>

<file path=ppt/slides/_rels/slide5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0.xml"/><Relationship Id="rId3" Type="http://schemas.openxmlformats.org/officeDocument/2006/relationships/hyperlink" Target="http://uni1.de/nyt" TargetMode="External"/></Relationships>
</file>

<file path=ppt/slides/_rels/slide5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1.xml"/><Relationship Id="rId3" Type="http://schemas.openxmlformats.org/officeDocument/2006/relationships/hyperlink" Target="http://uni1.de/nyt" TargetMode="External"/></Relationships>
</file>

<file path=ppt/slides/_rels/slide5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2.xml"/><Relationship Id="rId3" Type="http://schemas.openxmlformats.org/officeDocument/2006/relationships/hyperlink" Target="mailto:dirk.riehle@fau.de" TargetMode="External"/><Relationship Id="rId4" Type="http://schemas.openxmlformats.org/officeDocument/2006/relationships/hyperlink" Target="https://oss.cs.fau.de" TargetMode="External"/><Relationship Id="rId5" Type="http://schemas.openxmlformats.org/officeDocument/2006/relationships/hyperlink" Target="mailto:dirk@riehle.org" TargetMode="External"/><Relationship Id="rId6" Type="http://schemas.openxmlformats.org/officeDocument/2006/relationships/hyperlink" Target="https://dirkriehle.com" TargetMode="External"/><Relationship Id="rId7" Type="http://schemas.openxmlformats.org/officeDocument/2006/relationships/hyperlink" Target="https://twitter.com/dirkriehle" TargetMode="External"/></Relationships>
</file>

<file path=ppt/slides/_rels/slide5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3.xml"/><Relationship Id="rId3" Type="http://schemas.openxmlformats.org/officeDocument/2006/relationships/hyperlink" Target="https://profriehle.com" TargetMode="External"/><Relationship Id="rId4" Type="http://schemas.openxmlformats.org/officeDocument/2006/relationships/hyperlink" Target="http://creativecommons.org/licenses/by/4.0/" TargetMode="Externa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6" name="Shape 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Google Shape;37;p8"/>
          <p:cNvSpPr txBox="1"/>
          <p:nvPr>
            <p:ph type="ctrTitle"/>
          </p:nvPr>
        </p:nvSpPr>
        <p:spPr>
          <a:xfrm>
            <a:off x="0" y="0"/>
            <a:ext cx="9144000" cy="2388900"/>
          </a:xfrm>
          <a:prstGeom prst="rect">
            <a:avLst/>
          </a:prstGeom>
        </p:spPr>
        <p:txBody>
          <a:bodyPr anchorCtr="0" anchor="b" bIns="274300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Action Research</a:t>
            </a:r>
            <a:endParaRPr/>
          </a:p>
        </p:txBody>
      </p:sp>
      <p:sp>
        <p:nvSpPr>
          <p:cNvPr id="38" name="Google Shape;38;p8"/>
          <p:cNvSpPr txBox="1"/>
          <p:nvPr>
            <p:ph idx="1" type="subTitle"/>
          </p:nvPr>
        </p:nvSpPr>
        <p:spPr>
          <a:xfrm>
            <a:off x="0" y="2569475"/>
            <a:ext cx="9144000" cy="2574000"/>
          </a:xfrm>
          <a:prstGeom prst="rect">
            <a:avLst/>
          </a:prstGeom>
        </p:spPr>
        <p:txBody>
          <a:bodyPr anchorCtr="0" anchor="t" bIns="91425" lIns="91425" spcFirstLastPara="1" rIns="91425" wrap="square" tIns="27430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Dirk Riehle, FAU Erlangen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/>
              <a:t>NYT C04</a:t>
            </a:r>
            <a:endParaRPr b="1"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/>
              <a:t>Licensed under </a:t>
            </a:r>
            <a:r>
              <a:rPr lang="en" sz="1800" u="sng">
                <a:solidFill>
                  <a:schemeClr val="hlink"/>
                </a:solidFill>
                <a:hlinkClick r:id="rId3"/>
              </a:rPr>
              <a:t>CC BY 4.0 International</a:t>
            </a:r>
            <a:endParaRPr sz="180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9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AutoNum type="arabicPeriod"/>
            </a:pPr>
            <a:r>
              <a:rPr lang="en"/>
              <a:t>Action research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AutoNum type="arabicPeriod"/>
            </a:pPr>
            <a:r>
              <a:rPr lang="en"/>
              <a:t>Participatory action research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AutoNum type="arabicPeriod"/>
            </a:pPr>
            <a:r>
              <a:rPr lang="en"/>
              <a:t>Problem identification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AutoNum type="arabicPeriod"/>
            </a:pPr>
            <a:r>
              <a:rPr lang="en"/>
              <a:t>Research design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AutoNum type="arabicPeriod"/>
            </a:pPr>
            <a:r>
              <a:rPr lang="en"/>
              <a:t>The action-feedback loop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AutoNum type="arabicPeriod"/>
            </a:pPr>
            <a:r>
              <a:rPr lang="en"/>
              <a:t>Quality assurance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  <p:sp>
        <p:nvSpPr>
          <p:cNvPr id="44" name="Google Shape;44;p9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Agenda</a:t>
            </a:r>
            <a:endParaRPr/>
          </a:p>
        </p:txBody>
      </p:sp>
      <p:sp>
        <p:nvSpPr>
          <p:cNvPr id="45" name="Google Shape;45;p9"/>
          <p:cNvSpPr txBox="1"/>
          <p:nvPr>
            <p:ph idx="12" type="sldNum"/>
          </p:nvPr>
        </p:nvSpPr>
        <p:spPr>
          <a:xfrm>
            <a:off x="7315209" y="4229101"/>
            <a:ext cx="1828800" cy="914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1000" u="sng">
                <a:solidFill>
                  <a:schemeClr val="hlink"/>
                </a:solidFill>
                <a:hlinkClick r:id="rId3"/>
              </a:rPr>
              <a:t>uni1.de/nyt</a:t>
            </a:r>
            <a:r>
              <a:rPr b="0" lang="en" sz="1000"/>
              <a:t> </a:t>
            </a:r>
            <a:endParaRPr b="0" sz="1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10"/>
          <p:cNvSpPr txBox="1"/>
          <p:nvPr>
            <p:ph type="title"/>
          </p:nvPr>
        </p:nvSpPr>
        <p:spPr>
          <a:xfrm>
            <a:off x="0" y="-7"/>
            <a:ext cx="9144000" cy="2386500"/>
          </a:xfrm>
          <a:prstGeom prst="rect">
            <a:avLst/>
          </a:prstGeom>
        </p:spPr>
        <p:txBody>
          <a:bodyPr anchorCtr="0" anchor="b" bIns="274300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1. Action Research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11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Action Research</a:t>
            </a:r>
            <a:endParaRPr/>
          </a:p>
        </p:txBody>
      </p:sp>
      <p:sp>
        <p:nvSpPr>
          <p:cNvPr id="56" name="Google Shape;56;p11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/>
              <a:t>Action research</a:t>
            </a:r>
            <a:r>
              <a:rPr lang="en"/>
              <a:t> is a research methodology in which the researcher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Iterates over </a:t>
            </a:r>
            <a:r>
              <a:rPr b="1" lang="en"/>
              <a:t>applying</a:t>
            </a:r>
            <a:r>
              <a:rPr lang="en"/>
              <a:t>, evaluating, and revising a theory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To </a:t>
            </a:r>
            <a:r>
              <a:rPr b="1" lang="en"/>
              <a:t>cause change</a:t>
            </a:r>
            <a:r>
              <a:rPr lang="en"/>
              <a:t> and build out the theory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Key is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The active involvement (the “action” and/or “intervention”) and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Its expected effects in the world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"/>
              <a:t>The researcher is not just a distant observer!</a:t>
            </a:r>
            <a:endParaRPr/>
          </a:p>
        </p:txBody>
      </p:sp>
      <p:sp>
        <p:nvSpPr>
          <p:cNvPr id="57" name="Google Shape;57;p11"/>
          <p:cNvSpPr txBox="1"/>
          <p:nvPr>
            <p:ph idx="12" type="sldNum"/>
          </p:nvPr>
        </p:nvSpPr>
        <p:spPr>
          <a:xfrm>
            <a:off x="7315209" y="4229101"/>
            <a:ext cx="1828800" cy="914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1000" u="sng">
                <a:solidFill>
                  <a:schemeClr val="hlink"/>
                </a:solidFill>
                <a:hlinkClick r:id="rId3"/>
              </a:rPr>
              <a:t>uni1.de/nyt</a:t>
            </a:r>
            <a:r>
              <a:rPr b="0" lang="en" sz="1000"/>
              <a:t> </a:t>
            </a:r>
            <a:endParaRPr b="0" sz="100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12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Facilitation vs. Participation</a:t>
            </a:r>
            <a:endParaRPr/>
          </a:p>
        </p:txBody>
      </p:sp>
      <p:sp>
        <p:nvSpPr>
          <p:cNvPr id="63" name="Google Shape;63;p12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The researcher is not necessarily executing the action themselves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An outside researcher is a facilitator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An inside researcher is a participant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  <p:sp>
        <p:nvSpPr>
          <p:cNvPr id="64" name="Google Shape;64;p12"/>
          <p:cNvSpPr txBox="1"/>
          <p:nvPr>
            <p:ph idx="12" type="sldNum"/>
          </p:nvPr>
        </p:nvSpPr>
        <p:spPr>
          <a:xfrm>
            <a:off x="7315209" y="4229101"/>
            <a:ext cx="1828800" cy="914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1000" u="sng">
                <a:solidFill>
                  <a:schemeClr val="hlink"/>
                </a:solidFill>
                <a:hlinkClick r:id="rId3"/>
              </a:rPr>
              <a:t>uni1.de/nyt</a:t>
            </a:r>
            <a:r>
              <a:rPr b="0" lang="en" sz="1000"/>
              <a:t> </a:t>
            </a:r>
            <a:endParaRPr b="0" sz="100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8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13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Duality of Purpose</a:t>
            </a:r>
            <a:endParaRPr/>
          </a:p>
        </p:txBody>
      </p:sp>
      <p:sp>
        <p:nvSpPr>
          <p:cNvPr id="70" name="Google Shape;70;p13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The goal of action research is to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AutoNum type="arabicPeriod"/>
            </a:pPr>
            <a:r>
              <a:rPr lang="en"/>
              <a:t>Improve practice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AutoNum type="arabicPeriod"/>
            </a:pPr>
            <a:r>
              <a:rPr lang="en"/>
              <a:t>Build out a theory</a:t>
            </a:r>
            <a:endParaRPr/>
          </a:p>
        </p:txBody>
      </p:sp>
      <p:sp>
        <p:nvSpPr>
          <p:cNvPr id="71" name="Google Shape;71;p13"/>
          <p:cNvSpPr txBox="1"/>
          <p:nvPr>
            <p:ph idx="12" type="sldNum"/>
          </p:nvPr>
        </p:nvSpPr>
        <p:spPr>
          <a:xfrm>
            <a:off x="7315209" y="4229101"/>
            <a:ext cx="1828800" cy="914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1000" u="sng">
                <a:solidFill>
                  <a:schemeClr val="hlink"/>
                </a:solidFill>
                <a:hlinkClick r:id="rId3"/>
              </a:rPr>
              <a:t>uni1.de/nyt</a:t>
            </a:r>
            <a:r>
              <a:rPr b="0" lang="en" sz="1000"/>
              <a:t> </a:t>
            </a:r>
            <a:endParaRPr b="0" sz="100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5" name="Shape 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" name="Google Shape;76;p14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The Action Research Process</a:t>
            </a:r>
            <a:endParaRPr/>
          </a:p>
        </p:txBody>
      </p:sp>
      <p:sp>
        <p:nvSpPr>
          <p:cNvPr id="77" name="Google Shape;77;p14"/>
          <p:cNvSpPr txBox="1"/>
          <p:nvPr>
            <p:ph idx="12" type="sldNum"/>
          </p:nvPr>
        </p:nvSpPr>
        <p:spPr>
          <a:xfrm>
            <a:off x="7315209" y="4229101"/>
            <a:ext cx="1828800" cy="914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1000" u="sng">
                <a:solidFill>
                  <a:schemeClr val="hlink"/>
                </a:solidFill>
                <a:hlinkClick r:id="rId3"/>
              </a:rPr>
              <a:t>uni1.de/nyt</a:t>
            </a:r>
            <a:r>
              <a:rPr b="0" lang="en" sz="1000"/>
              <a:t> </a:t>
            </a:r>
            <a:endParaRPr b="0" sz="1000"/>
          </a:p>
        </p:txBody>
      </p:sp>
      <p:sp>
        <p:nvSpPr>
          <p:cNvPr id="78" name="Google Shape;78;p14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Action</a:t>
            </a:r>
            <a:r>
              <a:rPr lang="en"/>
              <a:t> research is linear yet iterative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AutoNum type="arabicPeriod"/>
            </a:pPr>
            <a:r>
              <a:rPr lang="en"/>
              <a:t>Identify (</a:t>
            </a:r>
            <a:r>
              <a:rPr lang="en"/>
              <a:t>research) </a:t>
            </a:r>
            <a:r>
              <a:rPr lang="en"/>
              <a:t>problem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AutoNum type="arabicPeriod"/>
            </a:pPr>
            <a:r>
              <a:rPr lang="en"/>
              <a:t>Create </a:t>
            </a:r>
            <a:r>
              <a:rPr lang="en"/>
              <a:t>research </a:t>
            </a:r>
            <a:r>
              <a:rPr lang="en"/>
              <a:t>design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AutoNum type="arabicPeriod"/>
            </a:pPr>
            <a:r>
              <a:rPr lang="en"/>
              <a:t>Perform action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AutoNum type="alphaLcPeriod"/>
            </a:pPr>
            <a:r>
              <a:rPr lang="en"/>
              <a:t>Choose focus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AutoNum type="alphaLcPeriod"/>
            </a:pPr>
            <a:r>
              <a:rPr lang="en"/>
              <a:t>Plan action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AutoNum type="alphaLcPeriod"/>
            </a:pPr>
            <a:r>
              <a:rPr lang="en"/>
              <a:t>Execute action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AutoNum type="alphaLcPeriod"/>
            </a:pPr>
            <a:r>
              <a:rPr lang="en"/>
              <a:t>Observe effects</a:t>
            </a:r>
            <a:endParaRPr/>
          </a:p>
          <a:p>
            <a:pPr indent="-342900" lvl="0" marL="457200" rtl="0" algn="l">
              <a:spcBef>
                <a:spcPts val="1000"/>
              </a:spcBef>
              <a:spcAft>
                <a:spcPts val="0"/>
              </a:spcAft>
              <a:buSzPts val="1800"/>
              <a:buAutoNum type="arabicPeriod"/>
            </a:pPr>
            <a:r>
              <a:rPr lang="en"/>
              <a:t>Learn from observations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AutoNum type="arabicPeriod"/>
            </a:pPr>
            <a:r>
              <a:rPr lang="en"/>
              <a:t>Report from findings</a:t>
            </a:r>
            <a:endParaRPr/>
          </a:p>
        </p:txBody>
      </p:sp>
      <p:pic>
        <p:nvPicPr>
          <p:cNvPr id="79" name="Google Shape;79;p14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6126425" y="914400"/>
            <a:ext cx="2743200" cy="377364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5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Three Motivations for Action Research</a:t>
            </a:r>
            <a:endParaRPr/>
          </a:p>
        </p:txBody>
      </p:sp>
      <p:sp>
        <p:nvSpPr>
          <p:cNvPr id="85" name="Google Shape;85;p15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/>
              <a:t>Technical action research </a:t>
            </a:r>
            <a:r>
              <a:rPr lang="en"/>
              <a:t>is interested in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Improving control over outcomes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b="1" lang="en"/>
              <a:t>Educational action research</a:t>
            </a:r>
            <a:r>
              <a:rPr lang="en"/>
              <a:t> is motivated by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Helping practitioners act more wisely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b="1" lang="en"/>
              <a:t>Critical action research</a:t>
            </a:r>
            <a:r>
              <a:rPr lang="en"/>
              <a:t> is motivated by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Emancipating practitioners</a:t>
            </a:r>
            <a:endParaRPr/>
          </a:p>
        </p:txBody>
      </p:sp>
      <p:sp>
        <p:nvSpPr>
          <p:cNvPr id="86" name="Google Shape;86;p15"/>
          <p:cNvSpPr txBox="1"/>
          <p:nvPr>
            <p:ph idx="12" type="sldNum"/>
          </p:nvPr>
        </p:nvSpPr>
        <p:spPr>
          <a:xfrm>
            <a:off x="7315209" y="4229101"/>
            <a:ext cx="1828800" cy="914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1000" u="sng">
                <a:solidFill>
                  <a:schemeClr val="hlink"/>
                </a:solidFill>
                <a:hlinkClick r:id="rId3"/>
              </a:rPr>
              <a:t>uni1.de/nyt</a:t>
            </a:r>
            <a:r>
              <a:rPr b="0" lang="en" sz="1000"/>
              <a:t> </a:t>
            </a:r>
            <a:endParaRPr b="0" sz="10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Google Shape;91;p16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/>
              <a:t>Action research (AR)</a:t>
            </a:r>
            <a:r>
              <a:rPr lang="en"/>
              <a:t> is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The original research methodology (as before)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b="1" lang="en"/>
              <a:t>Participatory action research (PAR)</a:t>
            </a:r>
            <a:r>
              <a:rPr lang="en"/>
              <a:t> is action research in which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The researcher is an active participant of the whole research process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b="1" lang="en"/>
              <a:t>Critical (theory) participatory action research</a:t>
            </a:r>
            <a:r>
              <a:rPr lang="en"/>
              <a:t> is action research in which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The research uses critical theory as the underlying epistemological position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Critical theory seeks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“to liberate human beings from the circumstances that enslave them” [1]</a:t>
            </a:r>
            <a:endParaRPr/>
          </a:p>
        </p:txBody>
      </p:sp>
      <p:sp>
        <p:nvSpPr>
          <p:cNvPr id="92" name="Google Shape;92;p16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Variants of Action Research</a:t>
            </a:r>
            <a:endParaRPr/>
          </a:p>
        </p:txBody>
      </p:sp>
      <p:sp>
        <p:nvSpPr>
          <p:cNvPr id="93" name="Google Shape;93;p16"/>
          <p:cNvSpPr txBox="1"/>
          <p:nvPr>
            <p:ph idx="12" type="sldNum"/>
          </p:nvPr>
        </p:nvSpPr>
        <p:spPr>
          <a:xfrm>
            <a:off x="7315209" y="4229101"/>
            <a:ext cx="1828800" cy="914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1000" u="sng">
                <a:solidFill>
                  <a:schemeClr val="hlink"/>
                </a:solidFill>
                <a:hlinkClick r:id="rId3"/>
              </a:rPr>
              <a:t>uni1.de/nyt</a:t>
            </a:r>
            <a:r>
              <a:rPr b="0" lang="en" sz="1000"/>
              <a:t> </a:t>
            </a:r>
            <a:endParaRPr b="0" sz="1000"/>
          </a:p>
        </p:txBody>
      </p:sp>
      <p:sp>
        <p:nvSpPr>
          <p:cNvPr id="94" name="Google Shape;94;p16"/>
          <p:cNvSpPr txBox="1"/>
          <p:nvPr/>
        </p:nvSpPr>
        <p:spPr>
          <a:xfrm>
            <a:off x="0" y="4233672"/>
            <a:ext cx="7315200" cy="9144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[1] See Horckheimer (1982): Critical theory. 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7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As a Research Methodology Category</a:t>
            </a:r>
            <a:endParaRPr/>
          </a:p>
        </p:txBody>
      </p:sp>
      <p:sp>
        <p:nvSpPr>
          <p:cNvPr id="100" name="Google Shape;100;p17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AutoNum type="arabicPeriod"/>
            </a:pPr>
            <a:r>
              <a:rPr lang="en"/>
              <a:t>Action research (Lewin, 1946)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AutoNum type="arabicPeriod"/>
            </a:pPr>
            <a:r>
              <a:rPr lang="en"/>
              <a:t>Participatory action research (McIntyre, 2008)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AutoNum type="arabicPeriod"/>
            </a:pPr>
            <a:r>
              <a:rPr lang="en"/>
              <a:t>Critical participatory action research (Kemmis et al., 2014)</a:t>
            </a:r>
            <a:endParaRPr/>
          </a:p>
        </p:txBody>
      </p:sp>
      <p:sp>
        <p:nvSpPr>
          <p:cNvPr id="101" name="Google Shape;101;p17"/>
          <p:cNvSpPr txBox="1"/>
          <p:nvPr>
            <p:ph idx="12" type="sldNum"/>
          </p:nvPr>
        </p:nvSpPr>
        <p:spPr>
          <a:xfrm>
            <a:off x="7315209" y="4229101"/>
            <a:ext cx="1828800" cy="914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1000" u="sng">
                <a:solidFill>
                  <a:schemeClr val="hlink"/>
                </a:solidFill>
                <a:hlinkClick r:id="rId3"/>
              </a:rPr>
              <a:t>uni1.de/nyt</a:t>
            </a:r>
            <a:r>
              <a:rPr b="0" lang="en" sz="1000"/>
              <a:t> </a:t>
            </a:r>
            <a:endParaRPr b="0" sz="1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5" name="Shape 1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6" name="Google Shape;106;p1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74320" y="914400"/>
            <a:ext cx="8595360" cy="3504997"/>
          </a:xfrm>
          <a:prstGeom prst="rect">
            <a:avLst/>
          </a:prstGeom>
          <a:noFill/>
          <a:ln>
            <a:noFill/>
          </a:ln>
        </p:spPr>
      </p:pic>
      <p:sp>
        <p:nvSpPr>
          <p:cNvPr id="107" name="Google Shape;107;p18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Action Research in a Larger Research Design</a:t>
            </a:r>
            <a:endParaRPr/>
          </a:p>
        </p:txBody>
      </p:sp>
      <p:sp>
        <p:nvSpPr>
          <p:cNvPr id="108" name="Google Shape;108;p18"/>
          <p:cNvSpPr txBox="1"/>
          <p:nvPr>
            <p:ph idx="12" type="sldNum"/>
          </p:nvPr>
        </p:nvSpPr>
        <p:spPr>
          <a:xfrm>
            <a:off x="7315209" y="4229101"/>
            <a:ext cx="1828800" cy="914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1000" u="sng">
                <a:solidFill>
                  <a:schemeClr val="hlink"/>
                </a:solidFill>
                <a:hlinkClick r:id="rId4"/>
              </a:rPr>
              <a:t>uni1.de/nyt</a:t>
            </a:r>
            <a:r>
              <a:rPr b="0" lang="en" sz="1000"/>
              <a:t> </a:t>
            </a:r>
            <a:endParaRPr b="0" sz="1000"/>
          </a:p>
        </p:txBody>
      </p:sp>
      <p:sp>
        <p:nvSpPr>
          <p:cNvPr id="109" name="Google Shape;109;p18"/>
          <p:cNvSpPr/>
          <p:nvPr/>
        </p:nvSpPr>
        <p:spPr>
          <a:xfrm>
            <a:off x="3337500" y="1428690"/>
            <a:ext cx="2469000" cy="2469000"/>
          </a:xfrm>
          <a:prstGeom prst="ellipse">
            <a:avLst/>
          </a:prstGeom>
          <a:noFill/>
          <a:ln cap="flat" cmpd="sng" w="38100">
            <a:solidFill>
              <a:schemeClr val="accent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9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 Sweet Spot for Action Research</a:t>
            </a:r>
            <a:endParaRPr/>
          </a:p>
        </p:txBody>
      </p:sp>
      <p:sp>
        <p:nvSpPr>
          <p:cNvPr id="115" name="Google Shape;115;p19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Participatory action research is a good choice if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There is an initial theory already in place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The researcher has access to appropriate cases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The theory under development is evolving quickly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There is significant tacit knowledge</a:t>
            </a:r>
            <a:r>
              <a:rPr lang="en"/>
              <a:t> with the researcher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Participants expect to learn/benefit from the research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  <p:sp>
        <p:nvSpPr>
          <p:cNvPr id="116" name="Google Shape;116;p19"/>
          <p:cNvSpPr txBox="1"/>
          <p:nvPr>
            <p:ph idx="12" type="sldNum"/>
          </p:nvPr>
        </p:nvSpPr>
        <p:spPr>
          <a:xfrm>
            <a:off x="7315209" y="4229101"/>
            <a:ext cx="1828800" cy="914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1000" u="sng">
                <a:solidFill>
                  <a:schemeClr val="hlink"/>
                </a:solidFill>
                <a:hlinkClick r:id="rId3"/>
              </a:rPr>
              <a:t>uni1.de/nyt</a:t>
            </a:r>
            <a:r>
              <a:rPr b="0" lang="en" sz="1000"/>
              <a:t> </a:t>
            </a:r>
            <a:endParaRPr b="0" sz="100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20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Industry Consulting as Action Research</a:t>
            </a:r>
            <a:endParaRPr/>
          </a:p>
        </p:txBody>
      </p:sp>
      <p:sp>
        <p:nvSpPr>
          <p:cNvPr id="122" name="Google Shape;122;p20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In industry consulting (paid or unpaid), a researcher provides advice to practitioners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Researchers are called upon to help improve the outcome of practitioner work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They do not have to be participants (of implementation), but may simply advise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"/>
              <a:t>Industry consulting on new, novel topics, works well with action research</a:t>
            </a:r>
            <a:endParaRPr/>
          </a:p>
        </p:txBody>
      </p:sp>
      <p:sp>
        <p:nvSpPr>
          <p:cNvPr id="123" name="Google Shape;123;p20"/>
          <p:cNvSpPr txBox="1"/>
          <p:nvPr>
            <p:ph idx="12" type="sldNum"/>
          </p:nvPr>
        </p:nvSpPr>
        <p:spPr>
          <a:xfrm>
            <a:off x="7315209" y="4229101"/>
            <a:ext cx="1828800" cy="914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1000" u="sng">
                <a:solidFill>
                  <a:schemeClr val="hlink"/>
                </a:solidFill>
                <a:hlinkClick r:id="rId3"/>
              </a:rPr>
              <a:t>uni1.de/nyt</a:t>
            </a:r>
            <a:r>
              <a:rPr b="0" lang="en" sz="1000"/>
              <a:t> </a:t>
            </a:r>
            <a:endParaRPr b="0" sz="100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21"/>
          <p:cNvSpPr txBox="1"/>
          <p:nvPr>
            <p:ph type="title"/>
          </p:nvPr>
        </p:nvSpPr>
        <p:spPr>
          <a:xfrm>
            <a:off x="0" y="-7"/>
            <a:ext cx="9144000" cy="2386500"/>
          </a:xfrm>
          <a:prstGeom prst="rect">
            <a:avLst/>
          </a:prstGeom>
        </p:spPr>
        <p:txBody>
          <a:bodyPr anchorCtr="0" anchor="b" bIns="274300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2. Participatory Action Research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22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Participatory Action Research (PAR)</a:t>
            </a:r>
            <a:endParaRPr/>
          </a:p>
        </p:txBody>
      </p:sp>
      <p:sp>
        <p:nvSpPr>
          <p:cNvPr id="134" name="Google Shape;134;p22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/>
              <a:t>Participatory action research</a:t>
            </a:r>
            <a:r>
              <a:rPr lang="en"/>
              <a:t> is action research in which 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Researchers and practitioners perform the research jointly and collaboratively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For the practitioners, this has the following consequences; they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Can understand and develop practices while on the case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Can develop a joint, reflective, language of critical debate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Can form communities of practice based on the research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Participatory action research is a “practice-changing practice” [1]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22"/>
          <p:cNvSpPr txBox="1"/>
          <p:nvPr>
            <p:ph idx="12" type="sldNum"/>
          </p:nvPr>
        </p:nvSpPr>
        <p:spPr>
          <a:xfrm>
            <a:off x="7315209" y="4229101"/>
            <a:ext cx="1828800" cy="914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1000" u="sng">
                <a:solidFill>
                  <a:schemeClr val="hlink"/>
                </a:solidFill>
                <a:hlinkClick r:id="rId3"/>
              </a:rPr>
              <a:t>uni1.de/nyt</a:t>
            </a:r>
            <a:r>
              <a:rPr b="0" lang="en" sz="1000"/>
              <a:t> </a:t>
            </a:r>
            <a:endParaRPr b="0" sz="1000"/>
          </a:p>
        </p:txBody>
      </p:sp>
      <p:sp>
        <p:nvSpPr>
          <p:cNvPr id="136" name="Google Shape;136;p22"/>
          <p:cNvSpPr txBox="1"/>
          <p:nvPr/>
        </p:nvSpPr>
        <p:spPr>
          <a:xfrm>
            <a:off x="0" y="4233672"/>
            <a:ext cx="7315200" cy="9144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[1] See Kemmis et al. (2014): Critical participatory action research.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23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Critical Participatory Action Research (CPAR)</a:t>
            </a:r>
            <a:endParaRPr/>
          </a:p>
        </p:txBody>
      </p:sp>
      <p:sp>
        <p:nvSpPr>
          <p:cNvPr id="142" name="Google Shape;142;p23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/>
              <a:t>Critical participatory action research</a:t>
            </a:r>
            <a:r>
              <a:rPr lang="en"/>
              <a:t> is action research that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Empowers participants to change practices in the face of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irrational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unsustainable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unjust situations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With this addition of critical theory, we are leaving positivism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No objective independent reality but rather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Individual and collective action and reflection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23"/>
          <p:cNvSpPr txBox="1"/>
          <p:nvPr>
            <p:ph idx="12" type="sldNum"/>
          </p:nvPr>
        </p:nvSpPr>
        <p:spPr>
          <a:xfrm>
            <a:off x="7315209" y="4229101"/>
            <a:ext cx="1828800" cy="914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1000" u="sng">
                <a:solidFill>
                  <a:schemeClr val="hlink"/>
                </a:solidFill>
                <a:hlinkClick r:id="rId3"/>
              </a:rPr>
              <a:t>uni1.de/nyt</a:t>
            </a:r>
            <a:r>
              <a:rPr b="0" lang="en" sz="1000"/>
              <a:t> </a:t>
            </a:r>
            <a:endParaRPr b="0" sz="1000"/>
          </a:p>
        </p:txBody>
      </p:sp>
      <p:pic>
        <p:nvPicPr>
          <p:cNvPr id="144" name="Google Shape;144;p23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6583680" y="914400"/>
            <a:ext cx="2286000" cy="354418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8" name="Shape 1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Google Shape;149;p24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Context Specificity / No Fixed Formula</a:t>
            </a:r>
            <a:endParaRPr/>
          </a:p>
        </p:txBody>
      </p:sp>
      <p:sp>
        <p:nvSpPr>
          <p:cNvPr id="150" name="Google Shape;150;p24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Participatory action research is context-dependent research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Every research project is different and so are the employed methods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May require significant adaptation to situation beyond the core process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Participatory action research has no single theoretical framework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24"/>
          <p:cNvSpPr txBox="1"/>
          <p:nvPr>
            <p:ph idx="12" type="sldNum"/>
          </p:nvPr>
        </p:nvSpPr>
        <p:spPr>
          <a:xfrm>
            <a:off x="7315209" y="4229101"/>
            <a:ext cx="1828800" cy="914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1000" u="sng">
                <a:solidFill>
                  <a:schemeClr val="hlink"/>
                </a:solidFill>
                <a:hlinkClick r:id="rId3"/>
              </a:rPr>
              <a:t>uni1.de/nyt</a:t>
            </a:r>
            <a:r>
              <a:rPr b="0" lang="en" sz="1000"/>
              <a:t> </a:t>
            </a:r>
            <a:endParaRPr b="0" sz="1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5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Roles in Participatory Action Research</a:t>
            </a:r>
            <a:endParaRPr/>
          </a:p>
        </p:txBody>
      </p:sp>
      <p:sp>
        <p:nvSpPr>
          <p:cNvPr id="157" name="Google Shape;157;p25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Everyone is a participant, some are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Researchers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Practitioners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You are either in the researcher or practitioner role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Researchers are temporary participants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Practitioners are (more) permanent participants</a:t>
            </a:r>
            <a:endParaRPr/>
          </a:p>
        </p:txBody>
      </p:sp>
      <p:sp>
        <p:nvSpPr>
          <p:cNvPr id="158" name="Google Shape;158;p25"/>
          <p:cNvSpPr txBox="1"/>
          <p:nvPr>
            <p:ph idx="12" type="sldNum"/>
          </p:nvPr>
        </p:nvSpPr>
        <p:spPr>
          <a:xfrm>
            <a:off x="7315209" y="4229101"/>
            <a:ext cx="1828800" cy="914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1000" u="sng">
                <a:solidFill>
                  <a:schemeClr val="hlink"/>
                </a:solidFill>
                <a:hlinkClick r:id="rId3"/>
              </a:rPr>
              <a:t>uni1.de/nyt</a:t>
            </a:r>
            <a:r>
              <a:rPr b="0" lang="en" sz="1000"/>
              <a:t> </a:t>
            </a:r>
            <a:endParaRPr b="0" sz="100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2" name="Shape 1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" name="Google Shape;163;p26"/>
          <p:cNvSpPr txBox="1"/>
          <p:nvPr>
            <p:ph idx="1" type="body"/>
          </p:nvPr>
        </p:nvSpPr>
        <p:spPr>
          <a:xfrm>
            <a:off x="274320" y="914400"/>
            <a:ext cx="4114800" cy="4114800"/>
          </a:xfrm>
          <a:prstGeom prst="rect">
            <a:avLst/>
          </a:prstGeom>
        </p:spPr>
        <p:txBody>
          <a:bodyPr anchorCtr="0" anchor="t" bIns="91425" lIns="0" spcFirstLastPara="1" rIns="91425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/>
              <a:t>Participation</a:t>
            </a:r>
            <a:endParaRPr b="1"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Participants are stakeholders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Participation may be uneven</a:t>
            </a:r>
            <a:endParaRPr/>
          </a:p>
        </p:txBody>
      </p:sp>
      <p:sp>
        <p:nvSpPr>
          <p:cNvPr id="164" name="Google Shape;164;p26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0" lIns="27430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Participation vs. Involvement</a:t>
            </a:r>
            <a:endParaRPr/>
          </a:p>
        </p:txBody>
      </p:sp>
      <p:sp>
        <p:nvSpPr>
          <p:cNvPr id="165" name="Google Shape;165;p26"/>
          <p:cNvSpPr txBox="1"/>
          <p:nvPr>
            <p:ph idx="12" type="sldNum"/>
          </p:nvPr>
        </p:nvSpPr>
        <p:spPr>
          <a:xfrm>
            <a:off x="7315209" y="4229101"/>
            <a:ext cx="1828800" cy="914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1000" u="sng">
                <a:solidFill>
                  <a:schemeClr val="hlink"/>
                </a:solidFill>
                <a:hlinkClick r:id="rId3"/>
              </a:rPr>
              <a:t>uni1.de/nyt</a:t>
            </a:r>
            <a:r>
              <a:rPr b="0" lang="en" sz="1000"/>
              <a:t> </a:t>
            </a:r>
            <a:endParaRPr b="0" sz="1000"/>
          </a:p>
        </p:txBody>
      </p:sp>
      <p:sp>
        <p:nvSpPr>
          <p:cNvPr id="166" name="Google Shape;166;p26"/>
          <p:cNvSpPr txBox="1"/>
          <p:nvPr>
            <p:ph idx="2" type="body"/>
          </p:nvPr>
        </p:nvSpPr>
        <p:spPr>
          <a:xfrm>
            <a:off x="4846320" y="914400"/>
            <a:ext cx="41148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/>
              <a:t>Involvement</a:t>
            </a:r>
            <a:endParaRPr b="1"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No agency or ownership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0" name="Shape 1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1" name="Google Shape;171;p27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The </a:t>
            </a:r>
            <a:r>
              <a:rPr lang="en"/>
              <a:t>Action</a:t>
            </a:r>
            <a:r>
              <a:rPr lang="en"/>
              <a:t> Research Process in Context</a:t>
            </a:r>
            <a:endParaRPr/>
          </a:p>
        </p:txBody>
      </p:sp>
      <p:sp>
        <p:nvSpPr>
          <p:cNvPr id="172" name="Google Shape;172;p27"/>
          <p:cNvSpPr txBox="1"/>
          <p:nvPr>
            <p:ph idx="12" type="sldNum"/>
          </p:nvPr>
        </p:nvSpPr>
        <p:spPr>
          <a:xfrm>
            <a:off x="7315209" y="4229101"/>
            <a:ext cx="1828800" cy="914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1000" u="sng">
                <a:solidFill>
                  <a:schemeClr val="hlink"/>
                </a:solidFill>
                <a:hlinkClick r:id="rId3"/>
              </a:rPr>
              <a:t>uni1.de/nyt</a:t>
            </a:r>
            <a:r>
              <a:rPr b="0" lang="en" sz="1000"/>
              <a:t> </a:t>
            </a:r>
            <a:endParaRPr b="0" sz="1000"/>
          </a:p>
        </p:txBody>
      </p:sp>
      <p:pic>
        <p:nvPicPr>
          <p:cNvPr id="173" name="Google Shape;173;p27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274320" y="914400"/>
            <a:ext cx="8595360" cy="350284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7" name="Shape 1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8" name="Google Shape;178;p28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Activity Names by Methodology Variant</a:t>
            </a:r>
            <a:endParaRPr/>
          </a:p>
        </p:txBody>
      </p:sp>
      <p:sp>
        <p:nvSpPr>
          <p:cNvPr id="179" name="Google Shape;179;p28"/>
          <p:cNvSpPr txBox="1"/>
          <p:nvPr>
            <p:ph idx="12" type="sldNum"/>
          </p:nvPr>
        </p:nvSpPr>
        <p:spPr>
          <a:xfrm>
            <a:off x="7315209" y="4229101"/>
            <a:ext cx="1828800" cy="914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1000" u="sng">
                <a:solidFill>
                  <a:schemeClr val="hlink"/>
                </a:solidFill>
                <a:hlinkClick r:id="rId3"/>
              </a:rPr>
              <a:t>uni1.de/nyt</a:t>
            </a:r>
            <a:r>
              <a:rPr b="0" lang="en" sz="1000"/>
              <a:t> </a:t>
            </a:r>
            <a:endParaRPr b="0" sz="1000"/>
          </a:p>
        </p:txBody>
      </p:sp>
      <p:graphicFrame>
        <p:nvGraphicFramePr>
          <p:cNvPr id="180" name="Google Shape;180;p28"/>
          <p:cNvGraphicFramePr/>
          <p:nvPr/>
        </p:nvGraphicFramePr>
        <p:xfrm>
          <a:off x="274320" y="9144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{093D59FF-5EC2-42E6-801D-1FF52FC918EA}</a:tableStyleId>
              </a:tblPr>
              <a:tblGrid>
                <a:gridCol w="2148850"/>
                <a:gridCol w="2148850"/>
                <a:gridCol w="2148850"/>
                <a:gridCol w="2148850"/>
              </a:tblGrid>
              <a:tr h="457200"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>
                          <a:solidFill>
                            <a:schemeClr val="lt1"/>
                          </a:solidFill>
                        </a:rPr>
                        <a:t>Generic</a:t>
                      </a:r>
                      <a:endParaRPr b="1">
                        <a:solidFill>
                          <a:schemeClr val="lt1"/>
                        </a:solidFill>
                      </a:endParaRPr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dk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>
                          <a:solidFill>
                            <a:schemeClr val="lt1"/>
                          </a:solidFill>
                        </a:rPr>
                        <a:t>Action research [1]</a:t>
                      </a:r>
                      <a:endParaRPr b="1">
                        <a:solidFill>
                          <a:schemeClr val="lt1"/>
                        </a:solidFill>
                      </a:endParaRPr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dk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>
                          <a:solidFill>
                            <a:schemeClr val="lt1"/>
                          </a:solidFill>
                        </a:rPr>
                        <a:t>Participatory AR [2]</a:t>
                      </a:r>
                      <a:endParaRPr b="1">
                        <a:solidFill>
                          <a:schemeClr val="lt1"/>
                        </a:solidFill>
                      </a:endParaRPr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dk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>
                          <a:solidFill>
                            <a:schemeClr val="lt1"/>
                          </a:solidFill>
                        </a:rPr>
                        <a:t>Critical</a:t>
                      </a:r>
                      <a:r>
                        <a:rPr b="1" lang="en">
                          <a:solidFill>
                            <a:schemeClr val="lt1"/>
                          </a:solidFill>
                        </a:rPr>
                        <a:t> PAR [3]</a:t>
                      </a:r>
                      <a:endParaRPr b="1">
                        <a:solidFill>
                          <a:schemeClr val="lt1"/>
                        </a:solidFill>
                      </a:endParaRPr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dk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–</a:t>
                      </a:r>
                      <a:endParaRPr/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–</a:t>
                      </a:r>
                      <a:endParaRPr/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Questioning</a:t>
                      </a:r>
                      <a:endParaRPr/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– </a:t>
                      </a:r>
                      <a:endParaRPr/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Choosing</a:t>
                      </a:r>
                      <a:endParaRPr/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–</a:t>
                      </a:r>
                      <a:endParaRPr/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Investigating</a:t>
                      </a:r>
                      <a:endParaRPr/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solidFill>
                            <a:schemeClr val="dk1"/>
                          </a:solidFill>
                        </a:rPr>
                        <a:t>Reconnaissance</a:t>
                      </a:r>
                      <a:endParaRPr/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1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Planning</a:t>
                      </a:r>
                      <a:endParaRPr/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Planning</a:t>
                      </a:r>
                      <a:endParaRPr/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Developing</a:t>
                      </a:r>
                      <a:endParaRPr/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Planning</a:t>
                      </a:r>
                      <a:endParaRPr/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Executing</a:t>
                      </a:r>
                      <a:endParaRPr/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1"/>
                    </a:solidFill>
                  </a:tcPr>
                </a:tc>
                <a:tc rowSpan="2"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Executing</a:t>
                      </a:r>
                      <a:endParaRPr/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1"/>
                    </a:solidFill>
                  </a:tcPr>
                </a:tc>
                <a:tc rowSpan="2"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Implementing</a:t>
                      </a:r>
                      <a:endParaRPr/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Enacting</a:t>
                      </a:r>
                      <a:endParaRPr/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1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Observing</a:t>
                      </a:r>
                      <a:endParaRPr/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vMerge="1"/>
                <a:tc vMerge="1"/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Observing</a:t>
                      </a:r>
                      <a:endParaRPr/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Learning</a:t>
                      </a:r>
                      <a:endParaRPr/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solidFill>
                            <a:schemeClr val="dk1"/>
                          </a:solidFill>
                        </a:rPr>
                        <a:t>Fact-finding</a:t>
                      </a:r>
                      <a:endParaRPr>
                        <a:solidFill>
                          <a:schemeClr val="dk1"/>
                        </a:solidFill>
                      </a:endParaRPr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Refining</a:t>
                      </a:r>
                      <a:endParaRPr/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Reflection</a:t>
                      </a:r>
                      <a:endParaRPr/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1"/>
                    </a:solidFill>
                  </a:tcPr>
                </a:tc>
              </a:tr>
            </a:tbl>
          </a:graphicData>
        </a:graphic>
      </p:graphicFrame>
      <p:sp>
        <p:nvSpPr>
          <p:cNvPr id="181" name="Google Shape;181;p28"/>
          <p:cNvSpPr txBox="1"/>
          <p:nvPr/>
        </p:nvSpPr>
        <p:spPr>
          <a:xfrm>
            <a:off x="0" y="4233672"/>
            <a:ext cx="7315200" cy="9144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[1] See </a:t>
            </a:r>
            <a:r>
              <a:rPr lang="en"/>
              <a:t>Lewin (1946): Action research.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[2] See McIntyre (2008): Participatory action research.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[3] See Kemmis et al. (2014): Critical participatory action research.</a:t>
            </a:r>
            <a:endParaRPr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9"/>
          <p:cNvSpPr txBox="1"/>
          <p:nvPr>
            <p:ph type="title"/>
          </p:nvPr>
        </p:nvSpPr>
        <p:spPr>
          <a:xfrm>
            <a:off x="0" y="-7"/>
            <a:ext cx="9144000" cy="2386500"/>
          </a:xfrm>
          <a:prstGeom prst="rect">
            <a:avLst/>
          </a:prstGeom>
        </p:spPr>
        <p:txBody>
          <a:bodyPr anchorCtr="0" anchor="b" bIns="274300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3. Problem Identification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30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Problem Identification</a:t>
            </a:r>
            <a:endParaRPr/>
          </a:p>
        </p:txBody>
      </p:sp>
      <p:sp>
        <p:nvSpPr>
          <p:cNvPr id="192" name="Google Shape;192;p30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You choose action research, because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Your theory is young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You may have a project at hand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The project can benefit from your help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You approach the project with the goal of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Helping practitioners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Performing research</a:t>
            </a:r>
            <a:endParaRPr/>
          </a:p>
        </p:txBody>
      </p:sp>
      <p:sp>
        <p:nvSpPr>
          <p:cNvPr id="193" name="Google Shape;193;p30"/>
          <p:cNvSpPr txBox="1"/>
          <p:nvPr>
            <p:ph idx="12" type="sldNum"/>
          </p:nvPr>
        </p:nvSpPr>
        <p:spPr>
          <a:xfrm>
            <a:off x="7315209" y="4229101"/>
            <a:ext cx="1828800" cy="914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1000" u="sng">
                <a:solidFill>
                  <a:schemeClr val="hlink"/>
                </a:solidFill>
                <a:hlinkClick r:id="rId3"/>
              </a:rPr>
              <a:t>uni1.de/nyt</a:t>
            </a:r>
            <a:r>
              <a:rPr b="0" lang="en" sz="1000"/>
              <a:t> </a:t>
            </a:r>
            <a:endParaRPr b="0" sz="100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31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Example Problem Identification</a:t>
            </a:r>
            <a:endParaRPr/>
          </a:p>
        </p:txBody>
      </p:sp>
      <p:sp>
        <p:nvSpPr>
          <p:cNvPr id="199" name="Google Shape;199;p31"/>
          <p:cNvSpPr txBox="1"/>
          <p:nvPr>
            <p:ph idx="12" type="sldNum"/>
          </p:nvPr>
        </p:nvSpPr>
        <p:spPr>
          <a:xfrm>
            <a:off x="7315209" y="4229101"/>
            <a:ext cx="1828800" cy="914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1000" u="sng">
                <a:solidFill>
                  <a:schemeClr val="hlink"/>
                </a:solidFill>
                <a:hlinkClick r:id="rId3"/>
              </a:rPr>
              <a:t>uni1.de/nyt</a:t>
            </a:r>
            <a:r>
              <a:rPr b="0" lang="en" sz="1000"/>
              <a:t> </a:t>
            </a:r>
            <a:endParaRPr b="0" sz="1000"/>
          </a:p>
        </p:txBody>
      </p:sp>
      <p:sp>
        <p:nvSpPr>
          <p:cNvPr id="200" name="Google Shape;200;p31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We identified a need by companies to manage using open-source software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  <p:sp>
        <p:nvSpPr>
          <p:cNvPr id="201" name="Google Shape;201;p31"/>
          <p:cNvSpPr txBox="1"/>
          <p:nvPr/>
        </p:nvSpPr>
        <p:spPr>
          <a:xfrm>
            <a:off x="0" y="4233672"/>
            <a:ext cx="7315200" cy="9144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[1] See Riehle et al. (2021): Pattern discovery and validation.</a:t>
            </a:r>
            <a:endParaRPr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5" name="Shape 2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6" name="Google Shape;206;p32"/>
          <p:cNvSpPr txBox="1"/>
          <p:nvPr>
            <p:ph type="title"/>
          </p:nvPr>
        </p:nvSpPr>
        <p:spPr>
          <a:xfrm>
            <a:off x="0" y="-7"/>
            <a:ext cx="9144000" cy="2386500"/>
          </a:xfrm>
          <a:prstGeom prst="rect">
            <a:avLst/>
          </a:prstGeom>
        </p:spPr>
        <p:txBody>
          <a:bodyPr anchorCtr="0" anchor="b" bIns="274300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4. Research Design</a:t>
            </a:r>
            <a:endParaRPr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3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The Handbook Method</a:t>
            </a:r>
            <a:endParaRPr/>
          </a:p>
        </p:txBody>
      </p:sp>
      <p:sp>
        <p:nvSpPr>
          <p:cNvPr id="212" name="Google Shape;212;p33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The handbook method is an approach for taking research results into practice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AutoNum type="arabicPeriod"/>
            </a:pPr>
            <a:r>
              <a:rPr lang="en"/>
              <a:t>A research theory is codified as a best practice handbook of the domain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AutoNum type="arabicPeriod"/>
            </a:pPr>
            <a:r>
              <a:rPr lang="en"/>
              <a:t>The best practices are derived from practitioners using a qualitative survey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AutoNum type="arabicPeriod"/>
            </a:pPr>
            <a:r>
              <a:rPr lang="en"/>
              <a:t>Using action research, a researcher helps a practitioner apply the handbook</a:t>
            </a:r>
            <a:endParaRPr/>
          </a:p>
        </p:txBody>
      </p:sp>
      <p:sp>
        <p:nvSpPr>
          <p:cNvPr id="213" name="Google Shape;213;p33"/>
          <p:cNvSpPr txBox="1"/>
          <p:nvPr>
            <p:ph idx="12" type="sldNum"/>
          </p:nvPr>
        </p:nvSpPr>
        <p:spPr>
          <a:xfrm>
            <a:off x="7315209" y="4229101"/>
            <a:ext cx="1828800" cy="914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1000" u="sng">
                <a:solidFill>
                  <a:schemeClr val="hlink"/>
                </a:solidFill>
                <a:hlinkClick r:id="rId3"/>
              </a:rPr>
              <a:t>uni1.de/nyt</a:t>
            </a:r>
            <a:r>
              <a:rPr b="0" lang="en" sz="1000"/>
              <a:t> </a:t>
            </a:r>
            <a:endParaRPr b="0" sz="100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4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Example Theory Building</a:t>
            </a:r>
            <a:endParaRPr/>
          </a:p>
        </p:txBody>
      </p:sp>
      <p:sp>
        <p:nvSpPr>
          <p:cNvPr id="219" name="Google Shape;219;p34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We identified a need by companies to manage using open-source software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First, we developed a theory using a qualitative survey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We then codified (wrote down) the theory as a best practices handbook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The resulting theory had substance but was still young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We then took the handbook to an industry partner for participatory action research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  <p:sp>
        <p:nvSpPr>
          <p:cNvPr id="220" name="Google Shape;220;p34"/>
          <p:cNvSpPr txBox="1"/>
          <p:nvPr>
            <p:ph idx="12" type="sldNum"/>
          </p:nvPr>
        </p:nvSpPr>
        <p:spPr>
          <a:xfrm>
            <a:off x="7315209" y="4229101"/>
            <a:ext cx="1828800" cy="914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1000" u="sng">
                <a:solidFill>
                  <a:schemeClr val="hlink"/>
                </a:solidFill>
                <a:hlinkClick r:id="rId3"/>
              </a:rPr>
              <a:t>uni1.de/nyt</a:t>
            </a:r>
            <a:r>
              <a:rPr b="0" lang="en" sz="1000"/>
              <a:t> </a:t>
            </a:r>
            <a:endParaRPr b="0" sz="100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5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Base structure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AutoNum type="arabicPeriod"/>
            </a:pPr>
            <a:r>
              <a:rPr lang="en"/>
              <a:t>Domains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AutoNum type="arabicPeriod"/>
            </a:pPr>
            <a:r>
              <a:rPr lang="en"/>
              <a:t>Workflows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AutoNum type="arabicPeriod"/>
            </a:pPr>
            <a:r>
              <a:rPr lang="en"/>
              <a:t>Practices</a:t>
            </a:r>
            <a:endParaRPr/>
          </a:p>
        </p:txBody>
      </p:sp>
      <p:sp>
        <p:nvSpPr>
          <p:cNvPr id="226" name="Google Shape;226;p35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Illustration of Open Source Governance Handbook 1 / 3</a:t>
            </a:r>
            <a:endParaRPr/>
          </a:p>
        </p:txBody>
      </p:sp>
      <p:sp>
        <p:nvSpPr>
          <p:cNvPr id="227" name="Google Shape;227;p35"/>
          <p:cNvSpPr txBox="1"/>
          <p:nvPr>
            <p:ph idx="12" type="sldNum"/>
          </p:nvPr>
        </p:nvSpPr>
        <p:spPr>
          <a:xfrm>
            <a:off x="7315209" y="4229101"/>
            <a:ext cx="1828800" cy="914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1000" u="sng">
                <a:solidFill>
                  <a:schemeClr val="hlink"/>
                </a:solidFill>
                <a:hlinkClick r:id="rId3"/>
              </a:rPr>
              <a:t>uni1.de/nyt</a:t>
            </a:r>
            <a:r>
              <a:rPr b="0" lang="en" sz="1000"/>
              <a:t> </a:t>
            </a:r>
            <a:endParaRPr b="0" sz="1000"/>
          </a:p>
        </p:txBody>
      </p:sp>
      <p:pic>
        <p:nvPicPr>
          <p:cNvPr id="228" name="Google Shape;228;p35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2975175" y="914400"/>
            <a:ext cx="5894451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2" name="Shape 2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3" name="Google Shape;233;p36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Illustration of Open Source Governance Handbook 2 / 3</a:t>
            </a:r>
            <a:endParaRPr/>
          </a:p>
        </p:txBody>
      </p:sp>
      <p:sp>
        <p:nvSpPr>
          <p:cNvPr id="234" name="Google Shape;234;p36"/>
          <p:cNvSpPr txBox="1"/>
          <p:nvPr>
            <p:ph idx="12" type="sldNum"/>
          </p:nvPr>
        </p:nvSpPr>
        <p:spPr>
          <a:xfrm>
            <a:off x="7315209" y="4229101"/>
            <a:ext cx="1828800" cy="914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1000" u="sng">
                <a:solidFill>
                  <a:schemeClr val="hlink"/>
                </a:solidFill>
                <a:hlinkClick r:id="rId3"/>
              </a:rPr>
              <a:t>uni1.de/nyt</a:t>
            </a:r>
            <a:r>
              <a:rPr b="0" lang="en" sz="1000"/>
              <a:t> </a:t>
            </a:r>
            <a:endParaRPr b="0" sz="1000"/>
          </a:p>
        </p:txBody>
      </p:sp>
      <p:pic>
        <p:nvPicPr>
          <p:cNvPr id="235" name="Google Shape;235;p36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274330" y="914388"/>
            <a:ext cx="8595361" cy="2349398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7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Illustration of Open Source Governance Handbook 3 / 3</a:t>
            </a:r>
            <a:endParaRPr/>
          </a:p>
        </p:txBody>
      </p:sp>
      <p:sp>
        <p:nvSpPr>
          <p:cNvPr id="241" name="Google Shape;241;p37"/>
          <p:cNvSpPr txBox="1"/>
          <p:nvPr>
            <p:ph idx="12" type="sldNum"/>
          </p:nvPr>
        </p:nvSpPr>
        <p:spPr>
          <a:xfrm>
            <a:off x="7315209" y="4229101"/>
            <a:ext cx="1828800" cy="914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1000" u="sng">
                <a:solidFill>
                  <a:schemeClr val="hlink"/>
                </a:solidFill>
                <a:hlinkClick r:id="rId3"/>
              </a:rPr>
              <a:t>uni1.de/nyt</a:t>
            </a:r>
            <a:r>
              <a:rPr b="0" lang="en" sz="1000"/>
              <a:t> </a:t>
            </a:r>
            <a:endParaRPr b="0" sz="1000"/>
          </a:p>
        </p:txBody>
      </p:sp>
      <p:pic>
        <p:nvPicPr>
          <p:cNvPr id="242" name="Google Shape;242;p37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274320" y="914400"/>
            <a:ext cx="5328667" cy="411480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8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Research Protocol</a:t>
            </a:r>
            <a:endParaRPr/>
          </a:p>
        </p:txBody>
      </p:sp>
      <p:sp>
        <p:nvSpPr>
          <p:cNvPr id="248" name="Google Shape;248;p38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As before, describe methods and data to be acquired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As you are now dealing with human subjects, also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Review research ethics and implications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Document expected effects on human subjects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Devise strategies for protecting human subjects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Acquire and document ethics board approval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"/>
              <a:t>Include this additional information in research protocol</a:t>
            </a:r>
            <a:endParaRPr/>
          </a:p>
        </p:txBody>
      </p:sp>
      <p:sp>
        <p:nvSpPr>
          <p:cNvPr id="249" name="Google Shape;249;p38"/>
          <p:cNvSpPr txBox="1"/>
          <p:nvPr>
            <p:ph idx="12" type="sldNum"/>
          </p:nvPr>
        </p:nvSpPr>
        <p:spPr>
          <a:xfrm>
            <a:off x="7315209" y="4229101"/>
            <a:ext cx="1828800" cy="914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1000" u="sng">
                <a:solidFill>
                  <a:schemeClr val="hlink"/>
                </a:solidFill>
                <a:hlinkClick r:id="rId3"/>
              </a:rPr>
              <a:t>uni1.de/nyt</a:t>
            </a:r>
            <a:r>
              <a:rPr b="0" lang="en" sz="1000"/>
              <a:t> </a:t>
            </a:r>
            <a:endParaRPr b="0" sz="100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9"/>
          <p:cNvSpPr txBox="1"/>
          <p:nvPr>
            <p:ph type="title"/>
          </p:nvPr>
        </p:nvSpPr>
        <p:spPr>
          <a:xfrm>
            <a:off x="0" y="-7"/>
            <a:ext cx="9144000" cy="2386500"/>
          </a:xfrm>
          <a:prstGeom prst="rect">
            <a:avLst/>
          </a:prstGeom>
        </p:spPr>
        <p:txBody>
          <a:bodyPr anchorCtr="0" anchor="b" bIns="274300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5. The Action-Feedback Loop</a:t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8" name="Shape 2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9" name="Google Shape;259;p40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Choose Focus</a:t>
            </a:r>
            <a:endParaRPr/>
          </a:p>
        </p:txBody>
      </p:sp>
      <p:sp>
        <p:nvSpPr>
          <p:cNvPr id="260" name="Google Shape;260;p40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During </a:t>
            </a:r>
            <a:r>
              <a:rPr b="1" lang="en"/>
              <a:t>choosing (focus)</a:t>
            </a:r>
            <a:r>
              <a:rPr lang="en"/>
              <a:t>, you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Choose which aspect of your theory to build out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Criteria to choose focus by can be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Strategic: Immaturity of theory aspect chosen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Pragmatic: Aspect readily available in project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Action research prefers pragmatic choices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Because it is about helping </a:t>
            </a:r>
            <a:r>
              <a:rPr lang="en"/>
              <a:t>practitioners</a:t>
            </a:r>
            <a:r>
              <a:rPr lang="en"/>
              <a:t> </a:t>
            </a:r>
            <a:endParaRPr/>
          </a:p>
        </p:txBody>
      </p:sp>
      <p:sp>
        <p:nvSpPr>
          <p:cNvPr id="261" name="Google Shape;261;p40"/>
          <p:cNvSpPr txBox="1"/>
          <p:nvPr>
            <p:ph idx="12" type="sldNum"/>
          </p:nvPr>
        </p:nvSpPr>
        <p:spPr>
          <a:xfrm>
            <a:off x="7315209" y="4229101"/>
            <a:ext cx="1828800" cy="914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1000" u="sng">
                <a:solidFill>
                  <a:schemeClr val="hlink"/>
                </a:solidFill>
                <a:hlinkClick r:id="rId3"/>
              </a:rPr>
              <a:t>uni1.de/nyt</a:t>
            </a:r>
            <a:r>
              <a:rPr b="0" lang="en" sz="1000"/>
              <a:t> </a:t>
            </a:r>
            <a:endParaRPr b="0" sz="100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65" name="Shape 2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6" name="Google Shape;266;p41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Example of Choosing Focus 1 / 2</a:t>
            </a:r>
            <a:endParaRPr/>
          </a:p>
        </p:txBody>
      </p:sp>
      <p:sp>
        <p:nvSpPr>
          <p:cNvPr id="267" name="Google Shape;267;p41"/>
          <p:cNvSpPr txBox="1"/>
          <p:nvPr>
            <p:ph idx="12" type="sldNum"/>
          </p:nvPr>
        </p:nvSpPr>
        <p:spPr>
          <a:xfrm>
            <a:off x="7315209" y="4229101"/>
            <a:ext cx="1828800" cy="914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1000" u="sng">
                <a:solidFill>
                  <a:schemeClr val="hlink"/>
                </a:solidFill>
                <a:hlinkClick r:id="rId3"/>
              </a:rPr>
              <a:t>uni1.de/nyt</a:t>
            </a:r>
            <a:r>
              <a:rPr b="0" lang="en" sz="1000"/>
              <a:t> </a:t>
            </a:r>
            <a:endParaRPr b="0" sz="1000"/>
          </a:p>
        </p:txBody>
      </p:sp>
      <p:sp>
        <p:nvSpPr>
          <p:cNvPr id="268" name="Google Shape;268;p41"/>
          <p:cNvSpPr txBox="1"/>
          <p:nvPr>
            <p:ph idx="1" type="body"/>
          </p:nvPr>
        </p:nvSpPr>
        <p:spPr>
          <a:xfrm>
            <a:off x="274325" y="914400"/>
            <a:ext cx="8595300" cy="685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We decided early to focus on the component approval process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Component approval is a critical process in open source governance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2" name="Shape 2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3" name="Google Shape;273;p42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0" lIns="27430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Example of Choosing Focus 2 / 2</a:t>
            </a:r>
            <a:endParaRPr/>
          </a:p>
        </p:txBody>
      </p:sp>
      <p:sp>
        <p:nvSpPr>
          <p:cNvPr id="274" name="Google Shape;274;p42"/>
          <p:cNvSpPr txBox="1"/>
          <p:nvPr>
            <p:ph idx="12" type="sldNum"/>
          </p:nvPr>
        </p:nvSpPr>
        <p:spPr>
          <a:xfrm>
            <a:off x="7315209" y="4229101"/>
            <a:ext cx="1828800" cy="914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1000" u="sng">
                <a:solidFill>
                  <a:schemeClr val="hlink"/>
                </a:solidFill>
                <a:hlinkClick r:id="rId3"/>
              </a:rPr>
              <a:t>uni1.de/nyt</a:t>
            </a:r>
            <a:r>
              <a:rPr b="0" lang="en" sz="1000"/>
              <a:t> </a:t>
            </a:r>
            <a:endParaRPr b="0" sz="1000"/>
          </a:p>
        </p:txBody>
      </p:sp>
      <p:sp>
        <p:nvSpPr>
          <p:cNvPr id="275" name="Google Shape;275;p42"/>
          <p:cNvSpPr txBox="1"/>
          <p:nvPr>
            <p:ph idx="1" type="body"/>
          </p:nvPr>
        </p:nvSpPr>
        <p:spPr>
          <a:xfrm>
            <a:off x="274320" y="914400"/>
            <a:ext cx="4114800" cy="4114800"/>
          </a:xfrm>
          <a:prstGeom prst="rect">
            <a:avLst/>
          </a:prstGeom>
        </p:spPr>
        <p:txBody>
          <a:bodyPr anchorCtr="0" anchor="t" bIns="91425" lIns="0" spcFirstLastPara="1" rIns="91425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/>
              <a:t>As participant improving practice</a:t>
            </a:r>
            <a:endParaRPr b="1"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We helped review the situation</a:t>
            </a:r>
            <a:endParaRPr/>
          </a:p>
        </p:txBody>
      </p:sp>
      <p:sp>
        <p:nvSpPr>
          <p:cNvPr id="276" name="Google Shape;276;p42"/>
          <p:cNvSpPr txBox="1"/>
          <p:nvPr>
            <p:ph idx="2" type="body"/>
          </p:nvPr>
        </p:nvSpPr>
        <p:spPr>
          <a:xfrm>
            <a:off x="4846320" y="914400"/>
            <a:ext cx="41148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/>
              <a:t>As researcher performing research</a:t>
            </a:r>
            <a:endParaRPr b="1"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We performed participant observation</a:t>
            </a:r>
            <a:endParaRPr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80" name="Shape 2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1" name="Google Shape;281;p43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Plan Action</a:t>
            </a:r>
            <a:endParaRPr/>
          </a:p>
        </p:txBody>
      </p:sp>
      <p:sp>
        <p:nvSpPr>
          <p:cNvPr id="282" name="Google Shape;282;p43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During </a:t>
            </a:r>
            <a:r>
              <a:rPr b="1" lang="en"/>
              <a:t>planning</a:t>
            </a:r>
            <a:r>
              <a:rPr lang="en"/>
              <a:t>, you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Choose an appropriate method to perform the action and investigate its effects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43"/>
          <p:cNvSpPr txBox="1"/>
          <p:nvPr>
            <p:ph idx="12" type="sldNum"/>
          </p:nvPr>
        </p:nvSpPr>
        <p:spPr>
          <a:xfrm>
            <a:off x="7315209" y="4229101"/>
            <a:ext cx="1828800" cy="914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1000" u="sng">
                <a:solidFill>
                  <a:schemeClr val="hlink"/>
                </a:solidFill>
                <a:hlinkClick r:id="rId3"/>
              </a:rPr>
              <a:t>uni1.de/nyt</a:t>
            </a:r>
            <a:r>
              <a:rPr b="0" lang="en" sz="1000"/>
              <a:t> </a:t>
            </a:r>
            <a:endParaRPr b="0" sz="100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44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Example of Planning an Action 1 / 2</a:t>
            </a:r>
            <a:endParaRPr/>
          </a:p>
        </p:txBody>
      </p:sp>
      <p:sp>
        <p:nvSpPr>
          <p:cNvPr id="289" name="Google Shape;289;p44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We worked with the OSPO to define the component approval process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We used the handbook to define a first version of the process</a:t>
            </a:r>
            <a:endParaRPr/>
          </a:p>
        </p:txBody>
      </p:sp>
      <p:sp>
        <p:nvSpPr>
          <p:cNvPr id="290" name="Google Shape;290;p44"/>
          <p:cNvSpPr txBox="1"/>
          <p:nvPr>
            <p:ph idx="12" type="sldNum"/>
          </p:nvPr>
        </p:nvSpPr>
        <p:spPr>
          <a:xfrm>
            <a:off x="7315209" y="4229101"/>
            <a:ext cx="1828800" cy="914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1000" u="sng">
                <a:solidFill>
                  <a:schemeClr val="hlink"/>
                </a:solidFill>
                <a:hlinkClick r:id="rId3"/>
              </a:rPr>
              <a:t>uni1.de/nyt</a:t>
            </a:r>
            <a:r>
              <a:rPr b="0" lang="en" sz="1000"/>
              <a:t> </a:t>
            </a:r>
            <a:endParaRPr b="0" sz="100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4" name="Shape 2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5" name="Google Shape;295;p45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0" lIns="27430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Example of Planning an Action 2 / 2</a:t>
            </a:r>
            <a:endParaRPr/>
          </a:p>
        </p:txBody>
      </p:sp>
      <p:sp>
        <p:nvSpPr>
          <p:cNvPr id="296" name="Google Shape;296;p45"/>
          <p:cNvSpPr txBox="1"/>
          <p:nvPr>
            <p:ph idx="12" type="sldNum"/>
          </p:nvPr>
        </p:nvSpPr>
        <p:spPr>
          <a:xfrm>
            <a:off x="7315209" y="4229101"/>
            <a:ext cx="1828800" cy="914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1000" u="sng">
                <a:solidFill>
                  <a:schemeClr val="hlink"/>
                </a:solidFill>
                <a:hlinkClick r:id="rId3"/>
              </a:rPr>
              <a:t>uni1.de/nyt</a:t>
            </a:r>
            <a:r>
              <a:rPr b="0" lang="en" sz="1000"/>
              <a:t> </a:t>
            </a:r>
            <a:endParaRPr b="0" sz="1000"/>
          </a:p>
        </p:txBody>
      </p:sp>
      <p:sp>
        <p:nvSpPr>
          <p:cNvPr id="297" name="Google Shape;297;p45"/>
          <p:cNvSpPr txBox="1"/>
          <p:nvPr>
            <p:ph idx="2" type="body"/>
          </p:nvPr>
        </p:nvSpPr>
        <p:spPr>
          <a:xfrm>
            <a:off x="4846320" y="914400"/>
            <a:ext cx="41148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/>
              <a:t>As researcher performing research</a:t>
            </a:r>
            <a:endParaRPr b="1"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We continued participant observation</a:t>
            </a:r>
            <a:endParaRPr/>
          </a:p>
        </p:txBody>
      </p:sp>
      <p:sp>
        <p:nvSpPr>
          <p:cNvPr id="298" name="Google Shape;298;p45"/>
          <p:cNvSpPr txBox="1"/>
          <p:nvPr>
            <p:ph idx="1" type="body"/>
          </p:nvPr>
        </p:nvSpPr>
        <p:spPr>
          <a:xfrm>
            <a:off x="274320" y="914400"/>
            <a:ext cx="4114800" cy="4114800"/>
          </a:xfrm>
          <a:prstGeom prst="rect">
            <a:avLst/>
          </a:prstGeom>
        </p:spPr>
        <p:txBody>
          <a:bodyPr anchorCtr="0" anchor="t" bIns="91425" lIns="0" spcFirstLastPara="1" rIns="91425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/>
              <a:t>As participant improving practice</a:t>
            </a:r>
            <a:endParaRPr b="1"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We helped define the process</a:t>
            </a:r>
            <a:endParaRPr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02" name="Shape 3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3" name="Google Shape;303;p46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Execute Action</a:t>
            </a:r>
            <a:endParaRPr/>
          </a:p>
        </p:txBody>
      </p:sp>
      <p:sp>
        <p:nvSpPr>
          <p:cNvPr id="304" name="Google Shape;304;p46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During </a:t>
            </a:r>
            <a:r>
              <a:rPr b="1" lang="en"/>
              <a:t>execution,</a:t>
            </a:r>
            <a:r>
              <a:rPr lang="en"/>
              <a:t> you follow your plan and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Participate in the project working on the aspect of choice</a:t>
            </a:r>
            <a:endParaRPr/>
          </a:p>
        </p:txBody>
      </p:sp>
      <p:sp>
        <p:nvSpPr>
          <p:cNvPr id="305" name="Google Shape;305;p46"/>
          <p:cNvSpPr txBox="1"/>
          <p:nvPr>
            <p:ph idx="12" type="sldNum"/>
          </p:nvPr>
        </p:nvSpPr>
        <p:spPr>
          <a:xfrm>
            <a:off x="7315209" y="4229101"/>
            <a:ext cx="1828800" cy="914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1000" u="sng">
                <a:solidFill>
                  <a:schemeClr val="hlink"/>
                </a:solidFill>
                <a:hlinkClick r:id="rId3"/>
              </a:rPr>
              <a:t>uni1.de/nyt</a:t>
            </a:r>
            <a:r>
              <a:rPr b="0" lang="en" sz="1000"/>
              <a:t> </a:t>
            </a:r>
            <a:endParaRPr b="0" sz="100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7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We helped the first component approval processes along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We performed both entry and exit interviews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We performed participant observation</a:t>
            </a:r>
            <a:endParaRPr/>
          </a:p>
        </p:txBody>
      </p:sp>
      <p:sp>
        <p:nvSpPr>
          <p:cNvPr id="311" name="Google Shape;311;p47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Example of Executing Action 1 / 2</a:t>
            </a:r>
            <a:endParaRPr/>
          </a:p>
        </p:txBody>
      </p:sp>
      <p:sp>
        <p:nvSpPr>
          <p:cNvPr id="312" name="Google Shape;312;p47"/>
          <p:cNvSpPr txBox="1"/>
          <p:nvPr>
            <p:ph idx="12" type="sldNum"/>
          </p:nvPr>
        </p:nvSpPr>
        <p:spPr>
          <a:xfrm>
            <a:off x="7315209" y="4229101"/>
            <a:ext cx="1828800" cy="914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1000" u="sng">
                <a:solidFill>
                  <a:schemeClr val="hlink"/>
                </a:solidFill>
                <a:hlinkClick r:id="rId3"/>
              </a:rPr>
              <a:t>uni1.de/nyt</a:t>
            </a:r>
            <a:r>
              <a:rPr b="0" lang="en" sz="1000"/>
              <a:t> </a:t>
            </a:r>
            <a:endParaRPr b="0" sz="100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48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0" lIns="27430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Example of Executing Action 2 / 2</a:t>
            </a:r>
            <a:endParaRPr/>
          </a:p>
        </p:txBody>
      </p:sp>
      <p:sp>
        <p:nvSpPr>
          <p:cNvPr id="318" name="Google Shape;318;p48"/>
          <p:cNvSpPr txBox="1"/>
          <p:nvPr>
            <p:ph idx="12" type="sldNum"/>
          </p:nvPr>
        </p:nvSpPr>
        <p:spPr>
          <a:xfrm>
            <a:off x="7315209" y="4229101"/>
            <a:ext cx="1828800" cy="914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1000" u="sng">
                <a:solidFill>
                  <a:schemeClr val="hlink"/>
                </a:solidFill>
                <a:hlinkClick r:id="rId3"/>
              </a:rPr>
              <a:t>uni1.de/nyt</a:t>
            </a:r>
            <a:r>
              <a:rPr b="0" lang="en" sz="1000"/>
              <a:t> </a:t>
            </a:r>
            <a:endParaRPr b="0" sz="1000"/>
          </a:p>
        </p:txBody>
      </p:sp>
      <p:sp>
        <p:nvSpPr>
          <p:cNvPr id="319" name="Google Shape;319;p48"/>
          <p:cNvSpPr txBox="1"/>
          <p:nvPr>
            <p:ph idx="1" type="body"/>
          </p:nvPr>
        </p:nvSpPr>
        <p:spPr>
          <a:xfrm>
            <a:off x="274320" y="914400"/>
            <a:ext cx="4114800" cy="4114800"/>
          </a:xfrm>
          <a:prstGeom prst="rect">
            <a:avLst/>
          </a:prstGeom>
        </p:spPr>
        <p:txBody>
          <a:bodyPr anchorCtr="0" anchor="t" bIns="91425" lIns="0" spcFirstLastPara="1" rIns="91425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/>
              <a:t>As participant improving practice</a:t>
            </a:r>
            <a:endParaRPr b="1"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We helped the first process instances</a:t>
            </a:r>
            <a:endParaRPr/>
          </a:p>
        </p:txBody>
      </p:sp>
      <p:sp>
        <p:nvSpPr>
          <p:cNvPr id="320" name="Google Shape;320;p48"/>
          <p:cNvSpPr txBox="1"/>
          <p:nvPr>
            <p:ph idx="2" type="body"/>
          </p:nvPr>
        </p:nvSpPr>
        <p:spPr>
          <a:xfrm>
            <a:off x="4846320" y="914400"/>
            <a:ext cx="41148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"/>
              <a:t>As researcher performing research</a:t>
            </a:r>
            <a:endParaRPr b="1"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We continued participant observation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We performed entry interviews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We performed exit interviews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49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Observe Effects</a:t>
            </a:r>
            <a:endParaRPr/>
          </a:p>
        </p:txBody>
      </p:sp>
      <p:sp>
        <p:nvSpPr>
          <p:cNvPr id="326" name="Google Shape;326;p49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During </a:t>
            </a:r>
            <a:r>
              <a:rPr b="1" lang="en"/>
              <a:t>observation,</a:t>
            </a:r>
            <a:r>
              <a:rPr lang="en"/>
              <a:t> you continue with your plan and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Observe the results of the execution using the methods you chose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  <p:sp>
        <p:nvSpPr>
          <p:cNvPr id="327" name="Google Shape;327;p49"/>
          <p:cNvSpPr txBox="1"/>
          <p:nvPr>
            <p:ph idx="12" type="sldNum"/>
          </p:nvPr>
        </p:nvSpPr>
        <p:spPr>
          <a:xfrm>
            <a:off x="7315209" y="4229101"/>
            <a:ext cx="1828800" cy="914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1000" u="sng">
                <a:solidFill>
                  <a:schemeClr val="hlink"/>
                </a:solidFill>
                <a:hlinkClick r:id="rId3"/>
              </a:rPr>
              <a:t>uni1.de/nyt</a:t>
            </a:r>
            <a:r>
              <a:rPr b="0" lang="en" sz="1000"/>
              <a:t> </a:t>
            </a:r>
            <a:endParaRPr b="0" sz="1000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50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Example of Observing Effects 1 / 2</a:t>
            </a:r>
            <a:endParaRPr/>
          </a:p>
        </p:txBody>
      </p:sp>
      <p:sp>
        <p:nvSpPr>
          <p:cNvPr id="333" name="Google Shape;333;p50"/>
          <p:cNvSpPr txBox="1"/>
          <p:nvPr>
            <p:ph idx="12" type="sldNum"/>
          </p:nvPr>
        </p:nvSpPr>
        <p:spPr>
          <a:xfrm>
            <a:off x="7315209" y="4229101"/>
            <a:ext cx="1828800" cy="914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1000" u="sng">
                <a:solidFill>
                  <a:schemeClr val="hlink"/>
                </a:solidFill>
                <a:hlinkClick r:id="rId3"/>
              </a:rPr>
              <a:t>uni1.de/nyt</a:t>
            </a:r>
            <a:r>
              <a:rPr b="0" lang="en" sz="1000"/>
              <a:t> </a:t>
            </a:r>
            <a:endParaRPr b="0" sz="1000"/>
          </a:p>
        </p:txBody>
      </p:sp>
      <p:sp>
        <p:nvSpPr>
          <p:cNvPr id="334" name="Google Shape;334;p50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After the action, in addition to in-action observations, we reviewed the results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More interviews with the OSPO after a couple of instances had run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Taking note of statistics (duration, complications, results)</a:t>
            </a:r>
            <a:endParaRPr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38" name="Shape 3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9" name="Google Shape;339;p51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0" lIns="27430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Example of Observing Effects 2 / 2</a:t>
            </a:r>
            <a:endParaRPr/>
          </a:p>
        </p:txBody>
      </p:sp>
      <p:sp>
        <p:nvSpPr>
          <p:cNvPr id="340" name="Google Shape;340;p51"/>
          <p:cNvSpPr txBox="1"/>
          <p:nvPr>
            <p:ph idx="12" type="sldNum"/>
          </p:nvPr>
        </p:nvSpPr>
        <p:spPr>
          <a:xfrm>
            <a:off x="7315209" y="4229101"/>
            <a:ext cx="1828800" cy="914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1000" u="sng">
                <a:solidFill>
                  <a:schemeClr val="hlink"/>
                </a:solidFill>
                <a:hlinkClick r:id="rId3"/>
              </a:rPr>
              <a:t>uni1.de/nyt</a:t>
            </a:r>
            <a:r>
              <a:rPr b="0" lang="en" sz="1000"/>
              <a:t> </a:t>
            </a:r>
            <a:endParaRPr b="0" sz="1000"/>
          </a:p>
        </p:txBody>
      </p:sp>
      <p:sp>
        <p:nvSpPr>
          <p:cNvPr id="341" name="Google Shape;341;p51"/>
          <p:cNvSpPr txBox="1"/>
          <p:nvPr>
            <p:ph idx="1" type="body"/>
          </p:nvPr>
        </p:nvSpPr>
        <p:spPr>
          <a:xfrm>
            <a:off x="274320" y="914400"/>
            <a:ext cx="4114800" cy="4114800"/>
          </a:xfrm>
          <a:prstGeom prst="rect">
            <a:avLst/>
          </a:prstGeom>
        </p:spPr>
        <p:txBody>
          <a:bodyPr anchorCtr="0" anchor="t" bIns="91425" lIns="0" spcFirstLastPara="1" rIns="91425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As participant improving practice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None</a:t>
            </a:r>
            <a:endParaRPr/>
          </a:p>
        </p:txBody>
      </p:sp>
      <p:sp>
        <p:nvSpPr>
          <p:cNvPr id="342" name="Google Shape;342;p51"/>
          <p:cNvSpPr txBox="1"/>
          <p:nvPr>
            <p:ph idx="2" type="body"/>
          </p:nvPr>
        </p:nvSpPr>
        <p:spPr>
          <a:xfrm>
            <a:off x="4846320" y="914400"/>
            <a:ext cx="41148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As researcher performing research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Continued participant observation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Conducted additional interviews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Took notes of emerging statistics</a:t>
            </a:r>
            <a:endParaRPr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46" name="Shape 3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7" name="Google Shape;347;p52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Learn from Observations</a:t>
            </a:r>
            <a:endParaRPr/>
          </a:p>
        </p:txBody>
      </p:sp>
      <p:sp>
        <p:nvSpPr>
          <p:cNvPr id="348" name="Google Shape;348;p52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During </a:t>
            </a:r>
            <a:r>
              <a:rPr b="1" lang="en"/>
              <a:t>learning,</a:t>
            </a:r>
            <a:r>
              <a:rPr lang="en"/>
              <a:t> you 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Analyse the observed data towards the aspect of interest</a:t>
            </a:r>
            <a:endParaRPr/>
          </a:p>
        </p:txBody>
      </p:sp>
      <p:sp>
        <p:nvSpPr>
          <p:cNvPr id="349" name="Google Shape;349;p52"/>
          <p:cNvSpPr txBox="1"/>
          <p:nvPr>
            <p:ph idx="12" type="sldNum"/>
          </p:nvPr>
        </p:nvSpPr>
        <p:spPr>
          <a:xfrm>
            <a:off x="7315209" y="4229101"/>
            <a:ext cx="1828800" cy="914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1000" u="sng">
                <a:solidFill>
                  <a:schemeClr val="hlink"/>
                </a:solidFill>
                <a:hlinkClick r:id="rId3"/>
              </a:rPr>
              <a:t>uni1.de/nyt</a:t>
            </a:r>
            <a:r>
              <a:rPr b="0" lang="en" sz="1000"/>
              <a:t> </a:t>
            </a:r>
            <a:endParaRPr b="0" sz="1000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3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Example of Learning from Observations 1 / 2</a:t>
            </a:r>
            <a:endParaRPr/>
          </a:p>
        </p:txBody>
      </p:sp>
      <p:sp>
        <p:nvSpPr>
          <p:cNvPr id="355" name="Google Shape;355;p53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1200"/>
              </a:spcAft>
              <a:buNone/>
            </a:pPr>
            <a:r>
              <a:rPr lang="en"/>
              <a:t>We built out our theory and used it to provide feedback and make suggestions</a:t>
            </a:r>
            <a:endParaRPr/>
          </a:p>
        </p:txBody>
      </p:sp>
      <p:sp>
        <p:nvSpPr>
          <p:cNvPr id="356" name="Google Shape;356;p53"/>
          <p:cNvSpPr txBox="1"/>
          <p:nvPr>
            <p:ph idx="12" type="sldNum"/>
          </p:nvPr>
        </p:nvSpPr>
        <p:spPr>
          <a:xfrm>
            <a:off x="7315209" y="4229101"/>
            <a:ext cx="1828800" cy="914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1000" u="sng">
                <a:solidFill>
                  <a:schemeClr val="hlink"/>
                </a:solidFill>
                <a:hlinkClick r:id="rId3"/>
              </a:rPr>
              <a:t>uni1.de/nyt</a:t>
            </a:r>
            <a:r>
              <a:rPr b="0" lang="en" sz="1000"/>
              <a:t> </a:t>
            </a:r>
            <a:endParaRPr b="0" sz="1000"/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60" name="Shape 3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1" name="Google Shape;361;p54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0" lIns="27430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Example of Learning from Observations 2 / 2</a:t>
            </a:r>
            <a:endParaRPr/>
          </a:p>
        </p:txBody>
      </p:sp>
      <p:sp>
        <p:nvSpPr>
          <p:cNvPr id="362" name="Google Shape;362;p54"/>
          <p:cNvSpPr txBox="1"/>
          <p:nvPr>
            <p:ph idx="12" type="sldNum"/>
          </p:nvPr>
        </p:nvSpPr>
        <p:spPr>
          <a:xfrm>
            <a:off x="7315209" y="4229101"/>
            <a:ext cx="1828800" cy="914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1000" u="sng">
                <a:solidFill>
                  <a:schemeClr val="hlink"/>
                </a:solidFill>
                <a:hlinkClick r:id="rId3"/>
              </a:rPr>
              <a:t>uni1.de/nyt</a:t>
            </a:r>
            <a:r>
              <a:rPr b="0" lang="en" sz="1000"/>
              <a:t> </a:t>
            </a:r>
            <a:endParaRPr b="0" sz="1000"/>
          </a:p>
        </p:txBody>
      </p:sp>
      <p:sp>
        <p:nvSpPr>
          <p:cNvPr id="363" name="Google Shape;363;p54"/>
          <p:cNvSpPr txBox="1"/>
          <p:nvPr>
            <p:ph idx="1" type="body"/>
          </p:nvPr>
        </p:nvSpPr>
        <p:spPr>
          <a:xfrm>
            <a:off x="274320" y="914400"/>
            <a:ext cx="4114800" cy="4114800"/>
          </a:xfrm>
          <a:prstGeom prst="rect">
            <a:avLst/>
          </a:prstGeom>
        </p:spPr>
        <p:txBody>
          <a:bodyPr anchorCtr="0" anchor="t" bIns="91425" lIns="0" spcFirstLastPara="1" rIns="91425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As participant improving practice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Discussed ways to improve process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  <p:sp>
        <p:nvSpPr>
          <p:cNvPr id="364" name="Google Shape;364;p54"/>
          <p:cNvSpPr txBox="1"/>
          <p:nvPr>
            <p:ph idx="2" type="body"/>
          </p:nvPr>
        </p:nvSpPr>
        <p:spPr>
          <a:xfrm>
            <a:off x="4846320" y="914400"/>
            <a:ext cx="41148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As researcher performing research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Integrated collected data into theory</a:t>
            </a:r>
            <a:endParaRPr/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68" name="Shape 3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9" name="Google Shape;369;p55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Closing the Action-Feedback Loop</a:t>
            </a:r>
            <a:endParaRPr/>
          </a:p>
        </p:txBody>
      </p:sp>
      <p:sp>
        <p:nvSpPr>
          <p:cNvPr id="370" name="Google Shape;370;p55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Based on what you learned, you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Either continue with another iteration of action research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Or move on to next steps (publications / methodology)</a:t>
            </a:r>
            <a:endParaRPr/>
          </a:p>
        </p:txBody>
      </p:sp>
      <p:sp>
        <p:nvSpPr>
          <p:cNvPr id="371" name="Google Shape;371;p55"/>
          <p:cNvSpPr txBox="1"/>
          <p:nvPr>
            <p:ph idx="12" type="sldNum"/>
          </p:nvPr>
        </p:nvSpPr>
        <p:spPr>
          <a:xfrm>
            <a:off x="7315209" y="4229101"/>
            <a:ext cx="1828800" cy="914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1000" u="sng">
                <a:solidFill>
                  <a:schemeClr val="hlink"/>
                </a:solidFill>
                <a:hlinkClick r:id="rId3"/>
              </a:rPr>
              <a:t>uni1.de/nyt</a:t>
            </a:r>
            <a:r>
              <a:rPr b="0" lang="en" sz="1000"/>
              <a:t> </a:t>
            </a:r>
            <a:endParaRPr b="0" sz="1000"/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75" name="Shape 3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6" name="Google Shape;376;p56"/>
          <p:cNvSpPr txBox="1"/>
          <p:nvPr>
            <p:ph type="title"/>
          </p:nvPr>
        </p:nvSpPr>
        <p:spPr>
          <a:xfrm>
            <a:off x="0" y="-7"/>
            <a:ext cx="9144000" cy="2386500"/>
          </a:xfrm>
          <a:prstGeom prst="rect">
            <a:avLst/>
          </a:prstGeom>
        </p:spPr>
        <p:txBody>
          <a:bodyPr anchorCtr="0" anchor="b" bIns="274300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6</a:t>
            </a:r>
            <a:r>
              <a:rPr lang="en"/>
              <a:t>. Quality Assurance</a:t>
            </a:r>
            <a:endParaRPr/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80" name="Shape 3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1" name="Google Shape;381;p57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Quality assurance is closely tied to the research methods employed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In our example (open source governance) these were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Participant observation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Practitioner interviews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Qualitative data analysis</a:t>
            </a:r>
            <a:endParaRPr/>
          </a:p>
        </p:txBody>
      </p:sp>
      <p:sp>
        <p:nvSpPr>
          <p:cNvPr id="382" name="Google Shape;382;p57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Quality Assurance</a:t>
            </a:r>
            <a:endParaRPr/>
          </a:p>
        </p:txBody>
      </p:sp>
      <p:sp>
        <p:nvSpPr>
          <p:cNvPr id="383" name="Google Shape;383;p57"/>
          <p:cNvSpPr txBox="1"/>
          <p:nvPr>
            <p:ph idx="12" type="sldNum"/>
          </p:nvPr>
        </p:nvSpPr>
        <p:spPr>
          <a:xfrm>
            <a:off x="7315209" y="4229101"/>
            <a:ext cx="1828800" cy="914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1000" u="sng">
                <a:solidFill>
                  <a:schemeClr val="hlink"/>
                </a:solidFill>
                <a:hlinkClick r:id="rId3"/>
              </a:rPr>
              <a:t>uni1.de/nyt</a:t>
            </a:r>
            <a:r>
              <a:rPr b="0" lang="en" sz="1000"/>
              <a:t> </a:t>
            </a:r>
            <a:endParaRPr b="0" sz="1000"/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87" name="Shape 3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8" name="Google Shape;388;p58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AutoNum type="arabicPeriod"/>
            </a:pPr>
            <a:r>
              <a:rPr lang="en"/>
              <a:t>Action research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AutoNum type="arabicPeriod"/>
            </a:pPr>
            <a:r>
              <a:rPr lang="en"/>
              <a:t>Participatory action research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AutoNum type="arabicPeriod"/>
            </a:pPr>
            <a:r>
              <a:rPr lang="en"/>
              <a:t>Problem identification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AutoNum type="arabicPeriod"/>
            </a:pPr>
            <a:r>
              <a:rPr lang="en"/>
              <a:t>Research design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AutoNum type="arabicPeriod"/>
            </a:pPr>
            <a:r>
              <a:rPr lang="en"/>
              <a:t>The action-feedback loop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AutoNum type="arabicPeriod"/>
            </a:pPr>
            <a:r>
              <a:rPr lang="en"/>
              <a:t>Quality assurance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  <p:sp>
        <p:nvSpPr>
          <p:cNvPr id="389" name="Google Shape;389;p58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Summary</a:t>
            </a:r>
            <a:endParaRPr/>
          </a:p>
        </p:txBody>
      </p:sp>
      <p:sp>
        <p:nvSpPr>
          <p:cNvPr id="390" name="Google Shape;390;p58"/>
          <p:cNvSpPr txBox="1"/>
          <p:nvPr>
            <p:ph idx="12" type="sldNum"/>
          </p:nvPr>
        </p:nvSpPr>
        <p:spPr>
          <a:xfrm>
            <a:off x="7315209" y="4229101"/>
            <a:ext cx="1828800" cy="914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1000" u="sng">
                <a:solidFill>
                  <a:schemeClr val="hlink"/>
                </a:solidFill>
                <a:hlinkClick r:id="rId3"/>
              </a:rPr>
              <a:t>uni1.de/nyt</a:t>
            </a:r>
            <a:r>
              <a:rPr b="0" lang="en" sz="1000"/>
              <a:t> </a:t>
            </a:r>
            <a:endParaRPr b="0" sz="1000"/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94" name="Shape 3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5" name="Google Shape;395;p59"/>
          <p:cNvSpPr txBox="1"/>
          <p:nvPr>
            <p:ph type="ctrTitle"/>
          </p:nvPr>
        </p:nvSpPr>
        <p:spPr>
          <a:xfrm>
            <a:off x="0" y="0"/>
            <a:ext cx="9144000" cy="2388900"/>
          </a:xfrm>
          <a:prstGeom prst="rect">
            <a:avLst/>
          </a:prstGeom>
        </p:spPr>
        <p:txBody>
          <a:bodyPr anchorCtr="0" anchor="b" bIns="274300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Thank you! Any questions?</a:t>
            </a:r>
            <a:endParaRPr/>
          </a:p>
        </p:txBody>
      </p:sp>
      <p:sp>
        <p:nvSpPr>
          <p:cNvPr id="396" name="Google Shape;396;p59"/>
          <p:cNvSpPr txBox="1"/>
          <p:nvPr>
            <p:ph idx="1" type="subTitle"/>
          </p:nvPr>
        </p:nvSpPr>
        <p:spPr>
          <a:xfrm>
            <a:off x="0" y="2569475"/>
            <a:ext cx="9144000" cy="2574000"/>
          </a:xfrm>
          <a:prstGeom prst="rect">
            <a:avLst/>
          </a:prstGeom>
        </p:spPr>
        <p:txBody>
          <a:bodyPr anchorCtr="0" anchor="t" bIns="91425" lIns="91425" spcFirstLastPara="1" rIns="91425" wrap="square" tIns="274300">
            <a:noAutofit/>
          </a:bodyPr>
          <a:lstStyle/>
          <a:p>
            <a:pPr indent="0" lvl="0" marL="0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u="sng">
                <a:solidFill>
                  <a:schemeClr val="hlink"/>
                </a:solidFill>
                <a:hlinkClick r:id="rId3"/>
              </a:rPr>
              <a:t>dirk.riehle@fau.de</a:t>
            </a:r>
            <a:r>
              <a:rPr lang="en"/>
              <a:t> </a:t>
            </a:r>
            <a:r>
              <a:rPr lang="en" sz="2400"/>
              <a:t>–</a:t>
            </a:r>
            <a:r>
              <a:rPr lang="en"/>
              <a:t> </a:t>
            </a:r>
            <a:r>
              <a:rPr lang="en" u="sng">
                <a:solidFill>
                  <a:schemeClr val="hlink"/>
                </a:solidFill>
                <a:hlinkClick r:id="rId4"/>
              </a:rPr>
              <a:t>https://oss.cs.fau.de</a:t>
            </a:r>
            <a:endParaRPr/>
          </a:p>
          <a:p>
            <a:pPr indent="0" lvl="0" marL="0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2400" u="sng">
                <a:solidFill>
                  <a:schemeClr val="hlink"/>
                </a:solidFill>
                <a:hlinkClick r:id="rId5"/>
              </a:rPr>
              <a:t>dirk@riehle.org</a:t>
            </a:r>
            <a:r>
              <a:rPr lang="en" sz="2400"/>
              <a:t> – </a:t>
            </a:r>
            <a:r>
              <a:rPr lang="en" sz="2400" u="sng">
                <a:solidFill>
                  <a:schemeClr val="hlink"/>
                </a:solidFill>
                <a:hlinkClick r:id="rId6"/>
              </a:rPr>
              <a:t>https://dirkriehle.com</a:t>
            </a:r>
            <a:r>
              <a:rPr lang="en" sz="2400"/>
              <a:t> – </a:t>
            </a:r>
            <a:r>
              <a:rPr lang="en" sz="2400" u="sng">
                <a:solidFill>
                  <a:schemeClr val="hlink"/>
                </a:solidFill>
                <a:hlinkClick r:id="rId7"/>
              </a:rPr>
              <a:t>@dirkriehle</a:t>
            </a:r>
            <a:endParaRPr sz="2400"/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00" name="Shape 4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1" name="Google Shape;401;p60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Legal Notices</a:t>
            </a:r>
            <a:endParaRPr/>
          </a:p>
        </p:txBody>
      </p:sp>
      <p:sp>
        <p:nvSpPr>
          <p:cNvPr id="402" name="Google Shape;402;p60"/>
          <p:cNvSpPr txBox="1"/>
          <p:nvPr>
            <p:ph idx="12" type="sldNum"/>
          </p:nvPr>
        </p:nvSpPr>
        <p:spPr>
          <a:xfrm>
            <a:off x="7315209" y="4229101"/>
            <a:ext cx="1828800" cy="914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3"/>
              </a:rPr>
              <a:t>https://profriehle.com</a:t>
            </a:r>
            <a:r>
              <a:rPr b="0" lang="en" sz="900">
                <a:solidFill>
                  <a:schemeClr val="dk2"/>
                </a:solidFill>
              </a:rPr>
              <a:t> </a:t>
            </a:r>
            <a:endParaRPr b="0" sz="900">
              <a:solidFill>
                <a:schemeClr val="dk2"/>
              </a:solidFill>
            </a:endParaRPr>
          </a:p>
        </p:txBody>
      </p:sp>
      <p:sp>
        <p:nvSpPr>
          <p:cNvPr id="403" name="Google Shape;403;p60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License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Licensed under the </a:t>
            </a:r>
            <a:r>
              <a:rPr lang="en" u="sng">
                <a:solidFill>
                  <a:schemeClr val="hlink"/>
                </a:solidFill>
                <a:hlinkClick r:id="rId4"/>
              </a:rPr>
              <a:t>CC BY 4.0 International</a:t>
            </a:r>
            <a:r>
              <a:rPr lang="en"/>
              <a:t> license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Copyright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© 2012, 2023, 2024 Dirk Riehle, some rights reserved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NYT Slides Template">
  <a:themeElements>
    <a:clrScheme name="Simple Light">
      <a:dk1>
        <a:srgbClr val="000000"/>
      </a:dk1>
      <a:lt1>
        <a:srgbClr val="FFFFFF"/>
      </a:lt1>
      <a:dk2>
        <a:srgbClr val="404040"/>
      </a:dk2>
      <a:lt2>
        <a:srgbClr val="808080"/>
      </a:lt2>
      <a:accent1>
        <a:srgbClr val="D0D0D0"/>
      </a:accent1>
      <a:accent2>
        <a:srgbClr val="4169E1"/>
      </a:accent2>
      <a:accent3>
        <a:srgbClr val="D50D01"/>
      </a:accent3>
      <a:accent4>
        <a:srgbClr val="FEB612"/>
      </a:accent4>
      <a:accent5>
        <a:srgbClr val="4CAF50"/>
      </a:accent5>
      <a:accent6>
        <a:srgbClr val="8E44AD"/>
      </a:accent6>
      <a:hlink>
        <a:srgbClr val="34A3C5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
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41D4AF-50D1-43DA-9999-FE5ABDC81EB2}">
  <a:tblStyle styleId="{8941D4AF-50D1-43DA-9999-FE5ABDC81E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f3f6c9900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1f3f6c9900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35eea766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135eea766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f9bad1e8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f9bad1e8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347a15ff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347a15ff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35eea7662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35eea7662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35eea7662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35eea7662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35eea7662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35eea7662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35eea7662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35eea7662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37bc1158e6_2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37bc1158e6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5eea7662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35eea7662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5eea7662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5eea7662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5eea7662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35eea7662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5eea7662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5eea7662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7bc1158e6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37bc1158e6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35eea7662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35eea7662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37bc1158e6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37bc1158e6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37bc1158e6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37bc1158e6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5eea7662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5eea7662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35eea7662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35eea7662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35eea7662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35eea7662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35eea7662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35eea7662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35eea7662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35eea7662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35eea7662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35eea7662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37bc1158e6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37bc1158e6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37bc1158e6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37bc1158e6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37bc1158e6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37bc1158e6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37bc1158e6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37bc1158e6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37bc1158e6_2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37bc1158e6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37bc1158e6_2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37bc1158e6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37bc1158e6_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37bc1158e6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37bc1158e6_2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37bc1158e6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35eea7662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35eea7662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37bc1158e6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37bc1158e6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37bc1158e6_2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37bc1158e6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37bc1158e6_2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37bc1158e6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37bc1158e6_2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37bc1158e6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37bc1158e6_2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37bc1158e6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39311a9ef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39311a9ef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39311a9ef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39311a9ef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f5269aba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f5269aba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f5269abad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f5269abad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f5269abad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f5269aba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f5269abad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f5269abad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uni1.de/nyt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uni1.de/ny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uni1.de/ny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uni1.de/ny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uni1.de/ny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uni1.de/ny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uni1.de/nyt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uni1.de/ny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uni1.de/ny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uni1.de/nyt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uni1.de/ny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uni1.de/ny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uni1.de/nyt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uni1.de/ny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uni1.de/nyt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uni1.de/nyt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uni1.de/nyt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uni1.de/nyt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uni1.de/nyt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uni1.de/nyt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uni1.de/nyt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uni1.de/nyt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uni1.de/nyt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://uni1.de/nyt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uni1.de/nyt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uni1.de/nyt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uni1.de/nyt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://creativecommons.org/licenses/by/4.0/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://uni1.de/nyt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://uni1.de/nyt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4.png"/><Relationship Id="rId5" Type="http://schemas.openxmlformats.org/officeDocument/2006/relationships/hyperlink" Target="https://phdcomics.com/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3.png"/><Relationship Id="rId5" Type="http://schemas.openxmlformats.org/officeDocument/2006/relationships/hyperlink" Target="https://en.wikipedia.org/wiki/Streetlight_eff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Survey Research</a:t>
            </a:r>
            <a:endParaRPr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NYT D02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Survey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Research questions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Survey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Survey execution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Survey evaluation</a:t>
            </a:r>
            <a:endParaRPr/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Definitions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Survey a.k.a. </a:t>
            </a:r>
            <a:r>
              <a:rPr b="1" lang="en"/>
              <a:t>questionnaire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structured </a:t>
            </a:r>
            <a:r>
              <a:rPr b="1" lang="en"/>
              <a:t>quantitative</a:t>
            </a:r>
            <a:r>
              <a:rPr lang="en"/>
              <a:t> research methodology aimed at gathering information about (one or more) properties of a (large) population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Qualitative</a:t>
            </a:r>
            <a:r>
              <a:rPr lang="en"/>
              <a:t> survey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qualitative</a:t>
            </a:r>
            <a:r>
              <a:rPr lang="en"/>
              <a:t> research methodology based on analysis primary qualitative materials like interviews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of Survey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purpose</a:t>
            </a:r>
            <a:r>
              <a:rPr lang="en"/>
              <a:t> of a survey is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Gather relevant and representative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theory evaluation and validation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Relevant and Representative Information</a:t>
            </a:r>
            <a:endParaRPr/>
          </a:p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becomes</a:t>
            </a:r>
            <a:r>
              <a:rPr b="1" lang="en"/>
              <a:t> relevant / useful</a:t>
            </a:r>
            <a:r>
              <a:rPr lang="en"/>
              <a:t> if it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Captures properties of interest correctly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→	You need to define properties and how to measure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Information becomes </a:t>
            </a:r>
            <a:r>
              <a:rPr b="1" lang="en"/>
              <a:t>representative </a:t>
            </a:r>
            <a:r>
              <a:rPr lang="en"/>
              <a:t>if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matching population responds properly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→	You need to define population and how to reach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Survey Process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Define goals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Design survey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Test survey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Execute survey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Evaluate 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Research question is well-defined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Clear hypotheses can be expressed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Target population can be defined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Sample population can be reached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Generalization is principally possible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survey context is well-defined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Survey Research</a:t>
            </a:r>
            <a:endParaRPr/>
          </a:p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Hypothesis-Testing Survey</a:t>
            </a:r>
            <a:endParaRPr/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59" cy="3208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Forms of Survey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Online questionnaire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Paper-based questionnaire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Shopping street in-person survey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Content structure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trike="sngStrike"/>
              <a:t>Unstructured</a:t>
            </a:r>
            <a:endParaRPr strike="sngStrike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Semi-structured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Structured questionnaire</a:t>
            </a:r>
            <a:endParaRPr/>
          </a:p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Survey Questions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Questions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question</a:t>
            </a:r>
            <a:r>
              <a:rPr lang="en"/>
              <a:t> is 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Measurement instrument for an underlying (theoretical) construct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construct (recap) is 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Human-made phenomenon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theoretical construct (recap) is an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Intangible construct</a:t>
            </a:r>
            <a:endParaRPr/>
          </a:p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Descriptive Questions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descriptive question </a:t>
            </a:r>
            <a:r>
              <a:rPr lang="en"/>
              <a:t>is a question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Asks about straightforward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Accepts potential subjectivity in the answer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primarily for </a:t>
            </a:r>
            <a:r>
              <a:rPr lang="en"/>
              <a:t>theory</a:t>
            </a:r>
            <a:r>
              <a:rPr lang="en"/>
              <a:t> evaluation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descriptive questions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year were you born?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your preferred color?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you like to dance?</a:t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 (Recap)</a:t>
            </a:r>
            <a:endParaRPr/>
          </a:p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6577" y="1428750"/>
            <a:ext cx="5890846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Item Blocks</a:t>
            </a:r>
            <a:endParaRPr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b="1" lang="en"/>
              <a:t>item block </a:t>
            </a:r>
            <a:r>
              <a:rPr lang="en"/>
              <a:t>is a measurement instrument consisting of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set of questions triangulating the measure of an underlying construct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Tries to get to the essence and avoid participant bias or subjectivity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primarily for </a:t>
            </a:r>
            <a:r>
              <a:rPr lang="en"/>
              <a:t>theory</a:t>
            </a:r>
            <a:r>
              <a:rPr lang="en"/>
              <a:t> validation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item block for “personal innovativeness” [AP98]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</a:t>
            </a:r>
            <a:r>
              <a:rPr lang="en"/>
              <a:t>f I heard about a new technology, I would look for ways to experiment with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Among my peers, I’m usually the first to try out new technologies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general, I am hesitant to try out new technologies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like to experiment with new technologies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Creation of Item Blocks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 instruments like item blocks need to be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Developed and calibrated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is a significant specialized undertaking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large number of questions are generated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Their expressiveness is tested against a ground truth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number of questions is reduced to a manageable size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Use of Item Blocks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Survey </a:t>
            </a:r>
            <a:r>
              <a:rPr lang="en"/>
              <a:t>creators draw on a large library of item blocks in the literature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first pick an item block close to their variable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either use the item block as is (existing variable) 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vary (within safe limits) the item block to match their need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adaptation of innovativeness in IT [AP98] to open-source software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 instrument for information technology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 heard about a new information technology, I would look for ways to experiment with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Among my peers, I’m usually the first to try out new information technologies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I am hesitant to try out new information technologies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like to experiment with new information technologies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Adjusted instrument for open source software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 heard about a new technology, I would look for ways to experiment with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Among my peers, I’m usually the first to try out new technologies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I am hesitant to try out new technologies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like to experiment with new technologies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Answers to Questions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answers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 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Quantitative answers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Numerical answers using a scale</a:t>
            </a:r>
            <a:endParaRPr/>
          </a:p>
        </p:txBody>
      </p:sp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Scales</a:t>
            </a:r>
            <a:endParaRPr/>
          </a:p>
        </p:txBody>
      </p:sp>
      <p:sp>
        <p:nvSpPr>
          <p:cNvPr id="159" name="Google Shape;159;p2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160" name="Google Shape;160;p26"/>
          <p:cNvGraphicFramePr/>
          <p:nvPr/>
        </p:nvGraphicFramePr>
        <p:xfrm>
          <a:off x="27432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{8941D4AF-50D1-43DA-9999-FE5ABDC81EB2}</a:tableStyleId>
              </a:tblPr>
              <a:tblGrid>
                <a:gridCol w="1560375"/>
                <a:gridCol w="3517500"/>
                <a:gridCol w="3517500"/>
              </a:tblGrid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Name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Definition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Examples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Nominal</a:t>
                      </a:r>
                      <a:endParaRPr sz="15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Provides classes only</a:t>
                      </a:r>
                      <a:endParaRPr sz="15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{ bike, car, ship, … }</a:t>
                      </a:r>
                      <a:endParaRPr sz="15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Ordinal</a:t>
                      </a:r>
                      <a:endParaRPr sz="15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Adds rank ordering of values</a:t>
                      </a:r>
                      <a:endParaRPr sz="15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1st prize, 2nd prize, 3rd prize</a:t>
                      </a:r>
                      <a:endParaRPr sz="15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Interval</a:t>
                      </a:r>
                      <a:endParaRPr sz="15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Adds distance to values</a:t>
                      </a:r>
                      <a:endParaRPr sz="15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Temperature</a:t>
                      </a:r>
                      <a:endParaRPr sz="15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Ratio</a:t>
                      </a:r>
                      <a:endParaRPr sz="15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Adds ratios to values</a:t>
                      </a:r>
                      <a:endParaRPr sz="15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Prices for goods</a:t>
                      </a:r>
                      <a:endParaRPr sz="15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Quiz: What Type of Scale is the Likert Scale?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five-point Likert scale looks like this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Disagree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Somewhat disagree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Neutral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Somewhat agree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Agree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type of scale is this?</a:t>
            </a:r>
            <a:endParaRPr/>
          </a:p>
        </p:txBody>
      </p:sp>
      <p:sp>
        <p:nvSpPr>
          <p:cNvPr id="167" name="Google Shape;167;p2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68" name="Google Shape;16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9900" y="1373688"/>
            <a:ext cx="458138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descriptive survey </a:t>
            </a:r>
            <a:r>
              <a:rPr lang="en"/>
              <a:t>is a questionnaire with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Questions gathering descriptive information about the population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hypothesis-testing survey</a:t>
            </a:r>
            <a:r>
              <a:rPr lang="en"/>
              <a:t> is a questionnaire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Testing at least one hypothesis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Surveys</a:t>
            </a:r>
            <a:endParaRPr/>
          </a:p>
        </p:txBody>
      </p:sp>
      <p:sp>
        <p:nvSpPr>
          <p:cNvPr id="175" name="Google Shape;175;p2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Survey Design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Sections of a Survey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Preamble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Demographics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Main body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Closing</a:t>
            </a:r>
            <a:endParaRPr/>
          </a:p>
        </p:txBody>
      </p:sp>
      <p:sp>
        <p:nvSpPr>
          <p:cNvPr id="187" name="Google Shape;187;p3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Preamble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survey preamble creates informed consent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the survey about?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Introduction and purpose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to expect when taking it?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Duration, experiences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responsible?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to ask questions?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to complain?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And may offer a non-confounding incentive to take the survey</a:t>
            </a:r>
            <a:endParaRPr/>
          </a:p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Dilbert on Survey Ethics [1]</a:t>
            </a:r>
            <a:endParaRPr/>
          </a:p>
        </p:txBody>
      </p:sp>
      <p:sp>
        <p:nvSpPr>
          <p:cNvPr id="200" name="Google Shape;200;p3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" y="1394000"/>
            <a:ext cx="7315200" cy="235549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2"/>
          <p:cNvSpPr txBox="1"/>
          <p:nvPr/>
        </p:nvSpPr>
        <p:spPr>
          <a:xfrm>
            <a:off x="0" y="4416552"/>
            <a:ext cx="914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…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Demographics</a:t>
            </a:r>
            <a:endParaRPr/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demographics section profiles the respondent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anonymous way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create context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Typical </a:t>
            </a:r>
            <a:r>
              <a:rPr lang="en"/>
              <a:t>demographics questions are descriptive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year were you born?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your primary job function?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your highest level of education?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Body of Survey</a:t>
            </a:r>
            <a:endParaRPr/>
          </a:p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main body consists of one or more sections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Measuring variables using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Descriptive questions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Item blocks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variables are derived from a research model and its hypotheses</a:t>
            </a:r>
            <a:endParaRPr/>
          </a:p>
        </p:txBody>
      </p:sp>
      <p:sp>
        <p:nvSpPr>
          <p:cNvPr id="216" name="Google Shape;216;p3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217" name="Google Shape;21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2013" y="2815075"/>
            <a:ext cx="3657601" cy="1414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325" y="2670683"/>
            <a:ext cx="4572001" cy="1703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</a:t>
            </a:r>
            <a:endParaRPr/>
          </a:p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closing section marks the end of the survey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may offer self-disclosure (e.g. email address) of respondent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receive information about the survey result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receive the incentive </a:t>
            </a:r>
            <a:endParaRPr/>
          </a:p>
        </p:txBody>
      </p:sp>
      <p:sp>
        <p:nvSpPr>
          <p:cNvPr id="225" name="Google Shape;225;p3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Survey Logic</a:t>
            </a:r>
            <a:endParaRPr/>
          </a:p>
        </p:txBody>
      </p:sp>
      <p:sp>
        <p:nvSpPr>
          <p:cNvPr id="231" name="Google Shape;231;p3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 often can add if-then-else paths through the questionnaire </a:t>
            </a:r>
            <a:endParaRPr/>
          </a:p>
        </p:txBody>
      </p:sp>
      <p:sp>
        <p:nvSpPr>
          <p:cNvPr id="232" name="Google Shape;232;p3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Possibly Go Wrong?</a:t>
            </a:r>
            <a:endParaRPr/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Respondents misunderstand your questions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Questions are ambiguous, </a:t>
            </a:r>
            <a:r>
              <a:rPr lang="en"/>
              <a:t>allowing</a:t>
            </a:r>
            <a:r>
              <a:rPr lang="en"/>
              <a:t> for several valid interpretations</a:t>
            </a:r>
            <a:endParaRPr/>
          </a:p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Your Survey!</a:t>
            </a:r>
            <a:endParaRPr/>
          </a:p>
        </p:txBody>
      </p:sp>
      <p:sp>
        <p:nvSpPr>
          <p:cNvPr id="245" name="Google Shape;245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Test your survey with friends and colleagues or selected samples from your population</a:t>
            </a:r>
            <a:endParaRPr/>
          </a:p>
        </p:txBody>
      </p:sp>
      <p:sp>
        <p:nvSpPr>
          <p:cNvPr id="246" name="Google Shape;246;p3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Survey Execution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Survey Execution</a:t>
            </a:r>
            <a:endParaRPr/>
          </a:p>
        </p:txBody>
      </p:sp>
      <p:sp>
        <p:nvSpPr>
          <p:cNvPr id="257" name="Google Shape;257;p4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strategic approach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Define sampling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Sample population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Reach out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convenience approach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Blast on all channels</a:t>
            </a:r>
            <a:endParaRPr/>
          </a:p>
        </p:txBody>
      </p:sp>
      <p:sp>
        <p:nvSpPr>
          <p:cNvPr id="258" name="Google Shape;258;p4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Possibly Go Wrong?</a:t>
            </a:r>
            <a:endParaRPr/>
          </a:p>
        </p:txBody>
      </p:sp>
      <p:sp>
        <p:nvSpPr>
          <p:cNvPr id="264" name="Google Shape;264;p4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Respondents don’t finish because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survey has too many questions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Survey Evaluation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Survey Evaluation</a:t>
            </a:r>
            <a:endParaRPr/>
          </a:p>
        </p:txBody>
      </p:sp>
      <p:sp>
        <p:nvSpPr>
          <p:cNvPr id="276" name="Google Shape;276;p4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Test your hypotheses</a:t>
            </a:r>
            <a:endParaRPr/>
          </a:p>
        </p:txBody>
      </p:sp>
      <p:sp>
        <p:nvSpPr>
          <p:cNvPr id="277" name="Google Shape;277;p4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83" name="Google Shape;283;p4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Definitions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Survey questions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Survey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Survey execution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Survey evaluation</a:t>
            </a:r>
            <a:endParaRPr/>
          </a:p>
        </p:txBody>
      </p:sp>
      <p:sp>
        <p:nvSpPr>
          <p:cNvPr id="284" name="Google Shape;284;p4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5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290" name="Google Shape;290;p45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296" name="Google Shape;296;p4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https://profriehle.com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97" name="Google Shape;297;p4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2023,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 Model (Recap)</a:t>
            </a:r>
            <a:endParaRPr/>
          </a:p>
        </p:txBody>
      </p:sp>
      <p:sp>
        <p:nvSpPr>
          <p:cNvPr id="303" name="Google Shape;303;p4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</a:t>
            </a:r>
            <a:r>
              <a:rPr b="1" lang="en"/>
              <a:t>sampling model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a model of the population designed to sample from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Focuses on the </a:t>
            </a:r>
            <a:r>
              <a:rPr b="1" lang="en"/>
              <a:t>variables</a:t>
            </a:r>
            <a:r>
              <a:rPr lang="en"/>
              <a:t> of relevance to the research question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</a:t>
            </a:r>
            <a:endParaRPr/>
          </a:p>
        </p:txBody>
      </p:sp>
      <p:sp>
        <p:nvSpPr>
          <p:cNvPr id="310" name="Google Shape;310;p4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primary sampling strategy in testing hypotheses is random sampling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Random sampling</a:t>
            </a:r>
            <a:r>
              <a:rPr lang="en"/>
              <a:t> is 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Sampling strategy in which elements of the population are chosen randomly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Stratified random sampling</a:t>
            </a:r>
            <a:r>
              <a:rPr lang="en"/>
              <a:t> is 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Sampling strategy, in which the population is split into strata before random sampling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Random sampling is the strategy of choice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avoid researcher and other biases</a:t>
            </a:r>
            <a:endParaRPr/>
          </a:p>
        </p:txBody>
      </p:sp>
      <p:sp>
        <p:nvSpPr>
          <p:cNvPr id="311" name="Google Shape;311;p4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Fishing for results [1]</a:t>
            </a:r>
            <a:endParaRPr/>
          </a:p>
        </p:txBody>
      </p:sp>
      <p:sp>
        <p:nvSpPr>
          <p:cNvPr id="317" name="Google Shape;317;p4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318" name="Google Shape;31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822960"/>
            <a:ext cx="4629772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9"/>
          <p:cNvSpPr txBox="1"/>
          <p:nvPr/>
        </p:nvSpPr>
        <p:spPr>
          <a:xfrm>
            <a:off x="0" y="4690872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4690872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[1] See 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https://phdcomics.com/</a:t>
            </a:r>
            <a:r>
              <a:rPr lang="en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Convenience Sampling [1]</a:t>
            </a:r>
            <a:endParaRPr/>
          </a:p>
        </p:txBody>
      </p:sp>
      <p:sp>
        <p:nvSpPr>
          <p:cNvPr id="325" name="Google Shape;325;p5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326" name="Google Shape;32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822960"/>
            <a:ext cx="8595361" cy="35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0"/>
          <p:cNvSpPr txBox="1"/>
          <p:nvPr/>
        </p:nvSpPr>
        <p:spPr>
          <a:xfrm>
            <a:off x="0" y="4690872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[1] See </a:t>
            </a:r>
            <a:r>
              <a:rPr lang="en" sz="1200" u="sng">
                <a:solidFill>
                  <a:schemeClr val="hlink"/>
                </a:solidFill>
                <a:hlinkClick r:id="rId5"/>
              </a:rPr>
              <a:t>https://en.wikipedia.org/wiki/Streetlight_effect</a:t>
            </a:r>
            <a:r>
              <a:rPr lang="en" sz="1200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T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
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8B1287B-0280-4061-81DC-422D31685EAB}">
  <a:tblStyle styleId="{B8B1287B-0280-4061-81DC-422D31685EA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f3ff092ddc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" name="Google Shape;35;g1f3ff092dd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13d1cde2ff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Google Shape;41;g13d1cde2ff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f9bad1e87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f9bad1e87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121ddc5181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121ddc5181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3d1cde2ff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3d1cde2ff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3d1cde2ff3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3d1cde2ff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21ddc5181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121ddc518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3d1cde2ff3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13d1cde2ff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36ac22f7bd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136ac22f7bd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6ac22f7bd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136ac22f7bd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3d1cde2ff3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3d1cde2ff3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36ac22f7bd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36ac22f7bd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57e89dbbb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57e89dbbb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36ac22f7bd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136ac22f7bd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3d1cde2ff3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13d1cde2ff3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36ac22f7bd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36ac22f7bd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57e89dbbb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57e89dbbb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3d1cde2ff3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3d1cde2ff3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36ac22f7bd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136ac22f7bd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36ac22f7bd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136ac22f7bd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3d1cde2ff3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13d1cde2ff3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36ab2b641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136ab2b641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36ab2b641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136ab2b641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3d2397785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13d2397785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3d1cde2ff3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3d1cde2ff3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57e89dbbb7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57e89dbbb7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581d1345f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581d1345f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3d1cde2ff3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13d1cde2ff3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57e89dbbb7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257e89dbbb7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13d1cde2ff3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13d1cde2ff3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57e89dbbb7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57e89dbbb7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3d2397785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3d2397785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13d1cde2ff3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13d1cde2ff3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13d1cde2ff3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13d1cde2ff3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db5ccdfa6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db5ccdfa6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57e89dbbb7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257e89dbbb7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36ab2b641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136ab2b641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1251da7d4c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1251da7d4c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57e89dbbb7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257e89dbbb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13d2397785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13d2397785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57e89dbbb7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257e89dbbb7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57e89dbbb7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257e89dbbb7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257e89dbbb7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257e89dbbb7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57e89dbbb7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257e89dbbb7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136ab2b6419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136ab2b6419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136ab2b6419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136ab2b641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257e89dbbb7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257e89dbbb7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257e89dbbb7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257e89dbbb7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136ac22f7bd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136ac22f7b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136ac22f7bd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136ac22f7b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136ac22f7bd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136ac22f7bd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136ac22f7bd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136ac22f7bd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136ac22f7bd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136ac22f7bd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121ddc5181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121ddc5181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13d2397785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13d2397785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239615a810d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239615a810d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239615a810d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239615a810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uni1.de/nyt" TargetMode="Externa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uni1.de/nyt" TargetMode="Externa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uni1.de/nyt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uni1.de/nyt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  <a:noFill/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2" name="Google Shape;12;p2"/>
          <p:cNvSpPr/>
          <p:nvPr/>
        </p:nvSpPr>
        <p:spPr>
          <a:xfrm>
            <a:off x="0" y="2388810"/>
            <a:ext cx="9144000" cy="183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/>
          <p:nvPr/>
        </p:nvSpPr>
        <p:spPr>
          <a:xfrm>
            <a:off x="0" y="2386584"/>
            <a:ext cx="9144000" cy="91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2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/>
          <p:nvPr/>
        </p:nvSpPr>
        <p:spPr>
          <a:xfrm>
            <a:off x="0" y="685800"/>
            <a:ext cx="9144000" cy="91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2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46320" y="914400"/>
            <a:ext cx="4114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p5"/>
          <p:cNvSpPr/>
          <p:nvPr/>
        </p:nvSpPr>
        <p:spPr>
          <a:xfrm>
            <a:off x="0" y="685800"/>
            <a:ext cx="9144000" cy="91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2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/>
          <p:nvPr/>
        </p:nvSpPr>
        <p:spPr>
          <a:xfrm>
            <a:off x="0" y="685800"/>
            <a:ext cx="9144000" cy="91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2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hyperlink" Target="http://uni1.de/nyt" TargetMode="Externa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1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creativecommons.org/licenses/by/4.0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uni1.de/nyt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uni1.de/nyt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uni1.de/nyt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uni1.de/nyt" TargetMode="External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uni1.de/nyt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uni1.de/nyt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uni1.de/nyt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uni1.de/nyt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uni1.de/nyt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://uni1.de/nyt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uni1.de/nyt" TargetMode="External"/><Relationship Id="rId4" Type="http://schemas.openxmlformats.org/officeDocument/2006/relationships/hyperlink" Target="https://credit.niso.org/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://uni1.de/nyt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://uni1.de/nyt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uni1.de/nyt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://uni1.de/nyt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://uni1.de/nyt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://uni1.de/nyt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://uni1.de/nyt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://uni1.de/nyt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://uni1.de/nyt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://uni1.de/nyt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://uni1.de/nyt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://uni1.de/nyt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://uni1.de/nyt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://uni1.de/nyt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://uni1.de/nyt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://uni1.de/nyt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://uni1.de/nyt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://uni1.de/nyt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://uni1.de/nyt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://uni1.de/nyt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://uni1.de/nyt" TargetMode="Externa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://uni1.de/nyt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://uni1.de/nyt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://uni1.de/nyt" TargetMode="External"/><Relationship Id="rId4" Type="http://schemas.openxmlformats.org/officeDocument/2006/relationships/image" Target="../media/image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://uni1.de/nyt" TargetMode="Externa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://uni1.de/nyt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://uni1.de/nyt" TargetMode="Externa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://uni1.de/nyt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://uni1.de/nyt" TargetMode="Externa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hyperlink" Target="http://uni1.de/nyt" TargetMode="Externa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hyperlink" Target="http://uni1.de/nyt" TargetMode="Externa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hyperlink" Target="http://uni1.de/nyt" TargetMode="Externa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hyperlink" Target="http://uni1.de/nyt" TargetMode="Externa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hyperlink" Target="http://uni1.de/nyt" TargetMode="Externa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hyperlink" Target="http://uni1.de/nyt" TargetMode="Externa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hyperlink" Target="http://uni1.de/nyt" TargetMode="Externa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hyperlink" Target="http://uni1.de/nyt" TargetMode="Externa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hyperlink" Target="https://www.newyorker.com/magazine/2021/12/27/florida-woman-bites-camel" TargetMode="External"/><Relationship Id="rId4" Type="http://schemas.openxmlformats.org/officeDocument/2006/relationships/hyperlink" Target="http://uni1.de/nyt" TargetMode="Externa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hyperlink" Target="http://uni1.de/nyt" TargetMode="Externa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hyperlink" Target="mailto:dirk.riehle@fau.de" TargetMode="External"/><Relationship Id="rId4" Type="http://schemas.openxmlformats.org/officeDocument/2006/relationships/hyperlink" Target="https://oss.cs.fau.de" TargetMode="External"/><Relationship Id="rId5" Type="http://schemas.openxmlformats.org/officeDocument/2006/relationships/hyperlink" Target="mailto:dirk@riehle.org" TargetMode="External"/><Relationship Id="rId6" Type="http://schemas.openxmlformats.org/officeDocument/2006/relationships/hyperlink" Target="https://dirkriehle.com" TargetMode="External"/><Relationship Id="rId7" Type="http://schemas.openxmlformats.org/officeDocument/2006/relationships/hyperlink" Target="https://twitter.com/dirkriehle" TargetMode="Externa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hyperlink" Target="https://profriehle.com" TargetMode="External"/><Relationship Id="rId4" Type="http://schemas.openxmlformats.org/officeDocument/2006/relationships/hyperlink" Target="http://creativecommons.org/licenses/by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Scientific Writing</a:t>
            </a:r>
            <a:endParaRPr/>
          </a:p>
        </p:txBody>
      </p:sp>
      <p:sp>
        <p:nvSpPr>
          <p:cNvPr id="38" name="Google Shape;38;p8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Dirk Riehle, FAU Erlangen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NYT E01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Licensed under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CC BY 4.0 International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44" name="Google Shape;44;p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 research paper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Sections of a research paper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Final research theses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Academic writing</a:t>
            </a:r>
            <a:endParaRPr/>
          </a:p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The Research Paper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Papers</a:t>
            </a:r>
            <a:endParaRPr/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b="1" lang="en"/>
              <a:t>research paper</a:t>
            </a:r>
            <a:r>
              <a:rPr lang="en"/>
              <a:t> 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scientific article published after passing peer review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Scientific </a:t>
            </a:r>
            <a:r>
              <a:rPr b="1" lang="en"/>
              <a:t>peer review</a:t>
            </a:r>
            <a:r>
              <a:rPr lang="en"/>
              <a:t> 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lang="en"/>
              <a:t>review</a:t>
            </a:r>
            <a:r>
              <a:rPr lang="en"/>
              <a:t> (assessment) of some artifact by scientific peers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research paper is the gold standard of scientific publication</a:t>
            </a:r>
            <a:endParaRPr/>
          </a:p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Types of Research Publications</a:t>
            </a:r>
            <a:endParaRPr/>
          </a:p>
        </p:txBody>
      </p:sp>
      <p:sp>
        <p:nvSpPr>
          <p:cNvPr id="63" name="Google Shape;63;p1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types of research publications of varying quality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Public reviews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Monographies (books)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Presentation slides (lecturing)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Opinion</a:t>
            </a:r>
            <a:r>
              <a:rPr lang="en"/>
              <a:t> pieces e.g. letters to the editor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goal is public documented scientific exchange</a:t>
            </a:r>
            <a:endParaRPr/>
          </a:p>
        </p:txBody>
      </p:sp>
      <p:sp>
        <p:nvSpPr>
          <p:cNvPr id="64" name="Google Shape;64;p12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Sections of a Research Paper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Structure of a Typical Research Paper</a:t>
            </a:r>
            <a:endParaRPr/>
          </a:p>
        </p:txBody>
      </p:sp>
      <p:sp>
        <p:nvSpPr>
          <p:cNvPr id="75" name="Google Shape;75;p1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pic>
        <p:nvPicPr>
          <p:cNvPr id="76" name="Google Shape;7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502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Title</a:t>
            </a:r>
            <a:endParaRPr/>
          </a:p>
        </p:txBody>
      </p:sp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purpose of a paper’s title is to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Attract readers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Indicate content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 paper titles are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Context dependent (where will this be published)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Properly feed academic search engines</a:t>
            </a:r>
            <a:endParaRPr/>
          </a:p>
        </p:txBody>
      </p:sp>
      <p:sp>
        <p:nvSpPr>
          <p:cNvPr id="83" name="Google Shape;83;p15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 of Paper Titles</a:t>
            </a:r>
            <a:endParaRPr/>
          </a:p>
        </p:txBody>
      </p:sp>
      <p:sp>
        <p:nvSpPr>
          <p:cNvPr id="89" name="Google Shape;89;p16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Great title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“A rational design process: How and why to fake it”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 title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“Nailing your thesis” (you be the judge)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Poor title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“A comparative evaluation of common theories in computer science”</a:t>
            </a:r>
            <a:endParaRPr/>
          </a:p>
        </p:txBody>
      </p:sp>
      <p:sp>
        <p:nvSpPr>
          <p:cNvPr id="90" name="Google Shape;90;p16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Practices for Paper Titles</a:t>
            </a:r>
            <a:endParaRPr/>
          </a:p>
        </p:txBody>
      </p:sp>
      <p:sp>
        <p:nvSpPr>
          <p:cNvPr id="96" name="Google Shape;96;p17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Raise reader interest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 short and memorable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Carry a message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Indicate story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7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98" name="Google Shape;98;p17"/>
          <p:cNvSpPr txBox="1"/>
          <p:nvPr>
            <p:ph idx="2" type="body"/>
          </p:nvPr>
        </p:nvSpPr>
        <p:spPr>
          <a:xfrm>
            <a:off x="4846320" y="914400"/>
            <a:ext cx="4114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Don’t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 long and academic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 incomprehensible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 overly cute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Author List</a:t>
            </a:r>
            <a:endParaRPr/>
          </a:p>
        </p:txBody>
      </p:sp>
      <p:sp>
        <p:nvSpPr>
          <p:cNvPr id="104" name="Google Shape;104;p1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purpose of the author list is to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Name and identify authors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Rank-order their contributions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Authors always need to agree to be on an author list and at which position</a:t>
            </a:r>
            <a:endParaRPr/>
          </a:p>
        </p:txBody>
      </p:sp>
      <p:sp>
        <p:nvSpPr>
          <p:cNvPr id="105" name="Google Shape;105;p18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Can be Listed as an Author?</a:t>
            </a:r>
            <a:endParaRPr/>
          </a:p>
        </p:txBody>
      </p:sp>
      <p:sp>
        <p:nvSpPr>
          <p:cNvPr id="111" name="Google Shape;111;p1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author to a research paper must have made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non-trivial intellectual </a:t>
            </a:r>
            <a:r>
              <a:rPr lang="en"/>
              <a:t>contribution</a:t>
            </a:r>
            <a:r>
              <a:rPr lang="en"/>
              <a:t> to the presented scientific 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Authors of other contributions go into the acknowledgement section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9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Rank Order Authors on Author Lists</a:t>
            </a:r>
            <a:endParaRPr/>
          </a:p>
        </p:txBody>
      </p:sp>
      <p:sp>
        <p:nvSpPr>
          <p:cNvPr id="118" name="Google Shape;118;p2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 is a logic to the author ordering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Minimum contribution gets you 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Ranking of contribution moves you up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Alphabetical ordering after that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Common patterns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Ph.D. student followed by supervising professor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First author followed by alphabetical list of other contributors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Principal investigator followed by alphabetical list of all project members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0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Rank Ordering Intellectual Contributions</a:t>
            </a:r>
            <a:endParaRPr/>
          </a:p>
        </p:txBody>
      </p:sp>
      <p:sp>
        <p:nvSpPr>
          <p:cNvPr id="125" name="Google Shape;125;p2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126" name="Google Shape;126;p2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a contribution model like CRediT [1] to document and rank-order contributions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CRediT defines 14 different types of contributions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1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See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https://credit.niso.org/</a:t>
            </a:r>
            <a:r>
              <a:rPr lang="en"/>
              <a:t> </a:t>
            </a:r>
            <a:endParaRPr/>
          </a:p>
        </p:txBody>
      </p:sp>
      <p:graphicFrame>
        <p:nvGraphicFramePr>
          <p:cNvPr id="128" name="Google Shape;128;p21"/>
          <p:cNvGraphicFramePr/>
          <p:nvPr/>
        </p:nvGraphicFramePr>
        <p:xfrm>
          <a:off x="274320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{B8B1287B-0280-4061-81DC-422D31685EAB}</a:tableStyleId>
              </a:tblPr>
              <a:tblGrid>
                <a:gridCol w="2865125"/>
                <a:gridCol w="2865125"/>
                <a:gridCol w="2865125"/>
              </a:tblGrid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Conceptualization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Methodology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Validation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Data curation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Project administration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Visualization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Formal analysis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Resources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Writing (original draft)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Funding acquisition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Software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Writing (review and editing)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Investigation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Supervision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Abstract</a:t>
            </a:r>
            <a:endParaRPr/>
          </a:p>
        </p:txBody>
      </p:sp>
      <p:sp>
        <p:nvSpPr>
          <p:cNvPr id="134" name="Google Shape;134;p2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purpose of an abstract is to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Draw readers in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Summarize the paper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Most readers are lost in the abstract</a:t>
            </a:r>
            <a:endParaRPr/>
          </a:p>
        </p:txBody>
      </p:sp>
      <p:sp>
        <p:nvSpPr>
          <p:cNvPr id="135" name="Google Shape;135;p22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Generic Best Practice Pattern</a:t>
            </a:r>
            <a:endParaRPr/>
          </a:p>
        </p:txBody>
      </p:sp>
      <p:sp>
        <p:nvSpPr>
          <p:cNvPr id="141" name="Google Shape;141;p23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sentence each describing the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Context / domain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Research problem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Approach taken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Research results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Consequences of work</a:t>
            </a:r>
            <a:endParaRPr/>
          </a:p>
        </p:txBody>
      </p:sp>
      <p:sp>
        <p:nvSpPr>
          <p:cNvPr id="142" name="Google Shape;142;p23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143" name="Google Shape;143;p23"/>
          <p:cNvSpPr txBox="1"/>
          <p:nvPr>
            <p:ph idx="2" type="body"/>
          </p:nvPr>
        </p:nvSpPr>
        <p:spPr>
          <a:xfrm>
            <a:off x="4846320" y="914400"/>
            <a:ext cx="4114800" cy="3657600"/>
          </a:xfrm>
          <a:prstGeom prst="rect">
            <a:avLst/>
          </a:prstGeom>
          <a:solidFill>
            <a:schemeClr val="accen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(1) Open-source software is available for free and many companies use it in their products.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(2) However, many managers worry that open source is only a temporary phenomenon and will go away, leaving them with abandoned software components that nobody is maintaining.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(3) This article empirically analyses the growth of open-source software using the top 1000 projects from GitHub.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(4) We show that open source is alive and keeps growing.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(5) Thus, open source is a sustainable phenomenon and managers can use open-source software in their products.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Beck’s Four-Sentence Abstract [1]</a:t>
            </a:r>
            <a:endParaRPr/>
          </a:p>
        </p:txBody>
      </p:sp>
      <p:sp>
        <p:nvSpPr>
          <p:cNvPr id="149" name="Google Shape;149;p24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sentence each describing the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 problem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Why the problem is a problem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One “startling sentence”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Implications of findings</a:t>
            </a:r>
            <a:endParaRPr/>
          </a:p>
        </p:txBody>
      </p:sp>
      <p:sp>
        <p:nvSpPr>
          <p:cNvPr id="150" name="Google Shape;150;p2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151" name="Google Shape;151;p24"/>
          <p:cNvSpPr txBox="1"/>
          <p:nvPr>
            <p:ph idx="2" type="body"/>
          </p:nvPr>
        </p:nvSpPr>
        <p:spPr>
          <a:xfrm>
            <a:off x="4846320" y="914400"/>
            <a:ext cx="4114800" cy="3657600"/>
          </a:xfrm>
          <a:prstGeom prst="rect">
            <a:avLst/>
          </a:prstGeom>
          <a:solidFill>
            <a:schemeClr val="accen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(1) Users of open-source software worry that the open source phenomenon is not sustainable.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(2) They hesitate to adopt open-source software and miss out on its economic benefits.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(3) This paper shows that open source is a sustainable phenomenon.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(4) Thus, users should not worry but adopt and gain the benefits of open-source software.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2" name="Google Shape;152;p24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Johnson, R.E. et al. (1993): How to get a paper accepted at OOPSLA.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Introduction</a:t>
            </a:r>
            <a:endParaRPr/>
          </a:p>
        </p:txBody>
      </p:sp>
      <p:sp>
        <p:nvSpPr>
          <p:cNvPr id="158" name="Google Shape;158;p25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purpose of the introduction section is to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Keep drawing in the reader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Set expectations straight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Get going with the paper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Most readers’ </a:t>
            </a:r>
            <a:r>
              <a:rPr lang="en"/>
              <a:t>belief</a:t>
            </a:r>
            <a:r>
              <a:rPr lang="en"/>
              <a:t> is lost in the introduction</a:t>
            </a:r>
            <a:endParaRPr/>
          </a:p>
        </p:txBody>
      </p:sp>
      <p:sp>
        <p:nvSpPr>
          <p:cNvPr id="159" name="Google Shape;159;p25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Structure of the Introduction Section</a:t>
            </a:r>
            <a:endParaRPr/>
          </a:p>
        </p:txBody>
      </p:sp>
      <p:sp>
        <p:nvSpPr>
          <p:cNvPr id="165" name="Google Shape;165;p26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introduction section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Extends the abstract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Contrasts most-relevant 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Explicitly lists contributions of 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Summarizes the structure of the paper</a:t>
            </a:r>
            <a:endParaRPr/>
          </a:p>
        </p:txBody>
      </p:sp>
      <p:sp>
        <p:nvSpPr>
          <p:cNvPr id="166" name="Google Shape;166;p26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Claim to Contributions</a:t>
            </a:r>
            <a:endParaRPr/>
          </a:p>
        </p:txBody>
      </p:sp>
      <p:sp>
        <p:nvSpPr>
          <p:cNvPr id="172" name="Google Shape;172;p27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should claim your contributions,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explicitly, and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 precisely as you can</a:t>
            </a:r>
            <a:endParaRPr/>
          </a:p>
        </p:txBody>
      </p:sp>
      <p:sp>
        <p:nvSpPr>
          <p:cNvPr id="173" name="Google Shape;173;p27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174" name="Google Shape;174;p27"/>
          <p:cNvSpPr txBox="1"/>
          <p:nvPr>
            <p:ph idx="2" type="body"/>
          </p:nvPr>
        </p:nvSpPr>
        <p:spPr>
          <a:xfrm>
            <a:off x="4846320" y="914400"/>
            <a:ext cx="4114800" cy="3657600"/>
          </a:xfrm>
          <a:prstGeom prst="rect">
            <a:avLst/>
          </a:prstGeom>
          <a:solidFill>
            <a:schemeClr val="accen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The contributions of this paper are: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Font typeface="Courier New"/>
              <a:buAutoNum type="arabicPeriod"/>
            </a:pP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An operational definition of how to measure open source project growth;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Font typeface="Courier New"/>
              <a:buAutoNum type="arabicPeriod"/>
            </a:pP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The assessment of past open source growth using a large sample representative of open source;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1000"/>
              </a:spcAft>
              <a:buSzPts val="1200"/>
              <a:buFont typeface="Courier New"/>
              <a:buAutoNum type="arabicPeriod"/>
            </a:pP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The now plausible prediction that open-source software as a whole will keep growing in the future.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r>
              <a:rPr lang="en"/>
              <a:t>. Related Work</a:t>
            </a:r>
            <a:endParaRPr/>
          </a:p>
        </p:txBody>
      </p:sp>
      <p:sp>
        <p:nvSpPr>
          <p:cNvPr id="180" name="Google Shape;180;p2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related work section surveys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Prior art you are building on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Related</a:t>
            </a:r>
            <a:r>
              <a:rPr lang="en"/>
              <a:t> work (to yours)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Related work is identified through a literature survey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Typically done ad-hoc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8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Prior Art</a:t>
            </a:r>
            <a:endParaRPr/>
          </a:p>
        </p:txBody>
      </p:sp>
      <p:sp>
        <p:nvSpPr>
          <p:cNvPr id="187" name="Google Shape;187;p2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Prior art (work) is work you build on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needed it to perform your 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Readers need it to understand your work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Prior work does not compete with yours</a:t>
            </a:r>
            <a:endParaRPr/>
          </a:p>
        </p:txBody>
      </p:sp>
      <p:sp>
        <p:nvSpPr>
          <p:cNvPr id="188" name="Google Shape;188;p29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Related Work</a:t>
            </a:r>
            <a:endParaRPr/>
          </a:p>
        </p:txBody>
      </p:sp>
      <p:sp>
        <p:nvSpPr>
          <p:cNvPr id="194" name="Google Shape;194;p3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Related</a:t>
            </a:r>
            <a:r>
              <a:rPr lang="en"/>
              <a:t> work is work that may have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Attempted the same as your 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Have gone alternative ways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You need to</a:t>
            </a:r>
            <a:r>
              <a:rPr b="1" lang="en"/>
              <a:t> compare-and-contrast</a:t>
            </a:r>
            <a:r>
              <a:rPr lang="en"/>
              <a:t> this work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</a:t>
            </a:r>
            <a:r>
              <a:rPr b="1" lang="en"/>
              <a:t>compare</a:t>
            </a:r>
            <a:r>
              <a:rPr lang="en"/>
              <a:t> to show how the works relate to each other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the work is not related, it is irrelevant to your paper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</a:t>
            </a:r>
            <a:r>
              <a:rPr b="1" lang="en"/>
              <a:t>contrast</a:t>
            </a:r>
            <a:r>
              <a:rPr lang="en"/>
              <a:t> to show how your work is different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not different from yours, your work is not novel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30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Presentation Structure</a:t>
            </a:r>
            <a:endParaRPr/>
          </a:p>
        </p:txBody>
      </p:sp>
      <p:sp>
        <p:nvSpPr>
          <p:cNvPr id="201" name="Google Shape;201;p3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typically structure related work by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Domains first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Application domain, technical domain, etc.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 specialize within domain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From the more general to the more specialized work</a:t>
            </a:r>
            <a:endParaRPr/>
          </a:p>
        </p:txBody>
      </p:sp>
      <p:sp>
        <p:nvSpPr>
          <p:cNvPr id="202" name="Google Shape;202;p3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6. Research Design</a:t>
            </a:r>
            <a:endParaRPr/>
          </a:p>
        </p:txBody>
      </p:sp>
      <p:sp>
        <p:nvSpPr>
          <p:cNvPr id="208" name="Google Shape;208;p3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research design section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Presents your research design, methods employed, etc.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Serves to convince readers of rigor of work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section is also known as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Approach 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Methods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specifics depend on your research design</a:t>
            </a:r>
            <a:endParaRPr/>
          </a:p>
        </p:txBody>
      </p:sp>
      <p:sp>
        <p:nvSpPr>
          <p:cNvPr id="209" name="Google Shape;209;p32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Presentation of Research Design Section</a:t>
            </a:r>
            <a:endParaRPr/>
          </a:p>
        </p:txBody>
      </p:sp>
      <p:sp>
        <p:nvSpPr>
          <p:cNvPr id="215" name="Google Shape;215;p3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research design section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Presents the logical structure of the research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Presents a one-shot rationalized process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Discusses iterative process in own subsection</a:t>
            </a:r>
            <a:endParaRPr/>
          </a:p>
        </p:txBody>
      </p:sp>
      <p:sp>
        <p:nvSpPr>
          <p:cNvPr id="216" name="Google Shape;216;p33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of a Research Design Section</a:t>
            </a:r>
            <a:endParaRPr/>
          </a:p>
        </p:txBody>
      </p:sp>
      <p:sp>
        <p:nvSpPr>
          <p:cNvPr id="222" name="Google Shape;222;p3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223" name="Google Shape;223;p3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Example structure (systematic review)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Research approach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Research design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"/>
              <a:t>Research questions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"/>
              <a:t>Research protocol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Research execution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"/>
              <a:t>Study search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"/>
              <a:t>Study selection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"/>
              <a:t>Study quality filter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"/>
              <a:t>Data extraction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"/>
              <a:t>Data synthesis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7. Research Results</a:t>
            </a:r>
            <a:endParaRPr/>
          </a:p>
        </p:txBody>
      </p:sp>
      <p:sp>
        <p:nvSpPr>
          <p:cNvPr id="229" name="Google Shape;229;p35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research results section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Presents setup, data collection, and data analysis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Provides basis of relevance of your work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specifics also depend on your research design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results </a:t>
            </a:r>
            <a:r>
              <a:rPr lang="en"/>
              <a:t>typically mirror the design section structure</a:t>
            </a:r>
            <a:endParaRPr/>
          </a:p>
        </p:txBody>
      </p:sp>
      <p:sp>
        <p:nvSpPr>
          <p:cNvPr id="230" name="Google Shape;230;p35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8. Discussion</a:t>
            </a:r>
            <a:endParaRPr/>
          </a:p>
        </p:txBody>
      </p:sp>
      <p:sp>
        <p:nvSpPr>
          <p:cNvPr id="236" name="Google Shape;236;p36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discussions section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Discusses your research results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Establishes (beyond the results section) their quality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specifics depend on the type of research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36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qualitative research, usually called </a:t>
            </a:r>
            <a:r>
              <a:rPr b="1" lang="en"/>
              <a:t>limitations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Two separate (sub)sections, one each 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Interpreting research results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Limitations (using qualitative research quality criteria)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3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 in Qualitative Research Papers</a:t>
            </a:r>
            <a:endParaRPr/>
          </a:p>
        </p:txBody>
      </p:sp>
      <p:sp>
        <p:nvSpPr>
          <p:cNvPr id="244" name="Google Shape;244;p37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 in Quantitative Research Papers</a:t>
            </a:r>
            <a:endParaRPr/>
          </a:p>
        </p:txBody>
      </p:sp>
      <p:sp>
        <p:nvSpPr>
          <p:cNvPr id="250" name="Google Shape;250;p3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quantitative research, usually called </a:t>
            </a:r>
            <a:r>
              <a:rPr b="1" lang="en"/>
              <a:t>threats to validity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Two separate (sub)sections, one each 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Interpreting research results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Threats to validity (using quantitative research quality criteria)</a:t>
            </a:r>
            <a:endParaRPr/>
          </a:p>
        </p:txBody>
      </p:sp>
      <p:sp>
        <p:nvSpPr>
          <p:cNvPr id="251" name="Google Shape;251;p38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Structure of Limitations / Threats to Validity</a:t>
            </a:r>
            <a:endParaRPr/>
          </a:p>
        </p:txBody>
      </p:sp>
      <p:sp>
        <p:nvSpPr>
          <p:cNvPr id="257" name="Google Shape;257;p3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Break down by relevant quality criterion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Feel free to choose relevant criteria beyond the core four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You should always put weaknesses / challenges into context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Explain their consequences</a:t>
            </a:r>
            <a:endParaRPr/>
          </a:p>
        </p:txBody>
      </p:sp>
      <p:sp>
        <p:nvSpPr>
          <p:cNvPr id="258" name="Google Shape;258;p39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9. Conclusions</a:t>
            </a:r>
            <a:endParaRPr/>
          </a:p>
        </p:txBody>
      </p:sp>
      <p:sp>
        <p:nvSpPr>
          <p:cNvPr id="264" name="Google Shape;264;p4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conclusions section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Reiterates the main contributions and their significance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Some readers jump from abstract to conclusions </a:t>
            </a:r>
            <a:r>
              <a:rPr lang="en"/>
              <a:t>directly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Skip any outlook on future work</a:t>
            </a:r>
            <a:endParaRPr/>
          </a:p>
        </p:txBody>
      </p:sp>
      <p:sp>
        <p:nvSpPr>
          <p:cNvPr id="265" name="Google Shape;265;p40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10. Acknowledgments</a:t>
            </a:r>
            <a:endParaRPr/>
          </a:p>
        </p:txBody>
      </p:sp>
      <p:sp>
        <p:nvSpPr>
          <p:cNvPr id="271" name="Google Shape;271;p4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 all people and thank them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Who made a contribution that was relevant but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 enough to make them an author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Increasingly, make contributions explicit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Who made which contribution that made them an author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Expressed using a contribution model (see author list)</a:t>
            </a:r>
            <a:endParaRPr/>
          </a:p>
        </p:txBody>
      </p:sp>
      <p:sp>
        <p:nvSpPr>
          <p:cNvPr id="272" name="Google Shape;272;p4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11. References</a:t>
            </a:r>
            <a:endParaRPr/>
          </a:p>
        </p:txBody>
      </p:sp>
      <p:sp>
        <p:nvSpPr>
          <p:cNvPr id="278" name="Google Shape;278;p4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references section is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list of literature references used by the paper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literature reference 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 identifying description of the paper’s sources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references typically list articles referenced in the paper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They are usually sorted alphabetically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42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Working with References</a:t>
            </a:r>
            <a:endParaRPr/>
          </a:p>
        </p:txBody>
      </p:sp>
      <p:sp>
        <p:nvSpPr>
          <p:cNvPr id="285" name="Google Shape;285;p4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r>
              <a:rPr lang="en"/>
              <a:t>he main body of a paper uses shorthand references, for example: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“We use Braun &amp; Clarke (2012) as our qualitative data analysis method.”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short-hand reference serves as index into the references: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Braun, V., &amp; Clarke, V. (2012). Thematic analysis. APA.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43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Short-hand Reference (Indexing) Formats</a:t>
            </a:r>
            <a:endParaRPr/>
          </a:p>
        </p:txBody>
      </p:sp>
      <p:sp>
        <p:nvSpPr>
          <p:cNvPr id="292" name="Google Shape;292;p4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graphicFrame>
        <p:nvGraphicFramePr>
          <p:cNvPr id="293" name="Google Shape;293;p44"/>
          <p:cNvGraphicFramePr/>
          <p:nvPr/>
        </p:nvGraphicFramePr>
        <p:xfrm>
          <a:off x="27432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{B8B1287B-0280-4061-81DC-422D31685EAB}</a:tableStyleId>
              </a:tblPr>
              <a:tblGrid>
                <a:gridCol w="2022025"/>
                <a:gridCol w="6573325"/>
              </a:tblGrid>
              <a:tr h="73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Reference (key)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Referenced entry (value)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[27] 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[27]	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Spector, A. Z. (1989). Achieving application requirements. In Distributed Systems, S. Mullender, Ed. ACM Press. ACM, New York, NY, 19-33. 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[Spe89] 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[Spe89]	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Spector, A. Z. (1989). Achieving application requirements. In Distributed Systems, S. Mullender, Ed. ACM Press. ACM, New York, NY, 19-33. 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Spector (1989)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Spector, A. Z. (1989). 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Achieving application requirements. In Distributed Systems, S. Mullender, Ed. ACM Press. ACM, New York, NY, 19-33. 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an Appropriate Literature Reference</a:t>
            </a:r>
            <a:endParaRPr/>
          </a:p>
        </p:txBody>
      </p:sp>
      <p:sp>
        <p:nvSpPr>
          <p:cNvPr id="299" name="Google Shape;299;p45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pic>
        <p:nvPicPr>
          <p:cNvPr id="300" name="Google Shape;300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4400" y="1711825"/>
            <a:ext cx="7315200" cy="1719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6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r>
              <a:rPr lang="en"/>
              <a:t>. Final Research Theses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Research Theses</a:t>
            </a:r>
            <a:endParaRPr/>
          </a:p>
        </p:txBody>
      </p:sp>
      <p:sp>
        <p:nvSpPr>
          <p:cNvPr id="311" name="Google Shape;311;p4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offer three options for final research theses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Pure research thesis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Design science thesis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Engineering thesis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47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Pure Research Thesis</a:t>
            </a:r>
            <a:endParaRPr/>
          </a:p>
        </p:txBody>
      </p:sp>
      <p:sp>
        <p:nvSpPr>
          <p:cNvPr id="318" name="Google Shape;318;p4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pure research thesis follows the format of a research paper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either blows up the format to the full length of a thesis, 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presents the results as a research paper, followed by an elaboration</a:t>
            </a:r>
            <a:endParaRPr/>
          </a:p>
        </p:txBody>
      </p:sp>
      <p:sp>
        <p:nvSpPr>
          <p:cNvPr id="319" name="Google Shape;319;p48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Science Thesis</a:t>
            </a:r>
            <a:endParaRPr/>
          </a:p>
        </p:txBody>
      </p:sp>
      <p:sp>
        <p:nvSpPr>
          <p:cNvPr id="325" name="Google Shape;325;p4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design science thesis is a research thesis using a design </a:t>
            </a:r>
            <a:r>
              <a:rPr lang="en"/>
              <a:t>science structure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Problem identification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Objective definition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Solution design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Demonstration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Evaluation</a:t>
            </a:r>
            <a:endParaRPr/>
          </a:p>
        </p:txBody>
      </p:sp>
      <p:sp>
        <p:nvSpPr>
          <p:cNvPr id="326" name="Google Shape;326;p49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Engineering Thesis</a:t>
            </a:r>
            <a:endParaRPr/>
          </a:p>
        </p:txBody>
      </p:sp>
      <p:sp>
        <p:nvSpPr>
          <p:cNvPr id="332" name="Google Shape;332;p5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engineering thesis serves to demonstrate the student’s engineering skills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thesis structure follows the project results, for example: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Requirements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Design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Implementation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Evaluation of results</a:t>
            </a:r>
            <a:endParaRPr/>
          </a:p>
        </p:txBody>
      </p:sp>
      <p:sp>
        <p:nvSpPr>
          <p:cNvPr id="333" name="Google Shape;333;p50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 vs. Results</a:t>
            </a:r>
            <a:endParaRPr/>
          </a:p>
        </p:txBody>
      </p:sp>
      <p:sp>
        <p:nvSpPr>
          <p:cNvPr id="339" name="Google Shape;339;p5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Science rewards results, not effort (skip process, focus on results)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Do not present work in the sequence you performed it, present only the results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Research questions (research thesis) can be results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Requirements (engineering thesis) can be results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Demonstrated ability to separate process from results is a plus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absolutely must describe process, do it in a separate section</a:t>
            </a:r>
            <a:endParaRPr/>
          </a:p>
        </p:txBody>
      </p:sp>
      <p:sp>
        <p:nvSpPr>
          <p:cNvPr id="340" name="Google Shape;340;p5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2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r>
              <a:rPr lang="en"/>
              <a:t>. Academic Writing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 and foremost rule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Know your audience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All good writing is specific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active voice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“An active voice walks into a bar”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“The bar was walked into by a passive voice”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5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 Rule of Writing</a:t>
            </a:r>
            <a:endParaRPr/>
          </a:p>
        </p:txBody>
      </p:sp>
      <p:sp>
        <p:nvSpPr>
          <p:cNvPr id="352" name="Google Shape;352;p53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Second Rule of Writing</a:t>
            </a:r>
            <a:endParaRPr/>
          </a:p>
        </p:txBody>
      </p:sp>
      <p:sp>
        <p:nvSpPr>
          <p:cNvPr id="358" name="Google Shape;358;p5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 brief and concise, or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“Omit needless words” [1]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Variations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short sentences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subject-verb-object sentences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Avoid common phrases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Avoid imprecise adjectives (“very”)</a:t>
            </a:r>
            <a:endParaRPr/>
          </a:p>
        </p:txBody>
      </p:sp>
      <p:sp>
        <p:nvSpPr>
          <p:cNvPr id="359" name="Google Shape;359;p5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360" name="Google Shape;360;p54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Strunk &amp; White (1918): Elements of Style.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Best Practices</a:t>
            </a:r>
            <a:endParaRPr/>
          </a:p>
        </p:txBody>
      </p:sp>
      <p:sp>
        <p:nvSpPr>
          <p:cNvPr id="366" name="Google Shape;366;p55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Avoid weak wording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Avoid imprecise wording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Use data rather than qualifications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55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 Brief</a:t>
            </a:r>
            <a:endParaRPr/>
          </a:p>
        </p:txBody>
      </p:sp>
      <p:sp>
        <p:nvSpPr>
          <p:cNvPr id="373" name="Google Shape;373;p56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Before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“It is suggested to remove any dependency on </a:t>
            </a:r>
            <a:r>
              <a:rPr lang="en"/>
              <a:t>prerequisite</a:t>
            </a:r>
            <a:r>
              <a:rPr lang="en"/>
              <a:t> 3 in this experiment</a:t>
            </a:r>
            <a:br>
              <a:rPr lang="en"/>
            </a:br>
            <a:r>
              <a:rPr lang="en"/>
              <a:t>to not unduly restrict any possible outcome.”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After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“It is suggested to remove any dependency on prerequisite 3 </a:t>
            </a:r>
            <a:r>
              <a:rPr lang="en" strike="sngStrike"/>
              <a:t>in this experiment</a:t>
            </a:r>
            <a:br>
              <a:rPr lang="en" strike="sngStrike"/>
            </a:br>
            <a:r>
              <a:rPr lang="en"/>
              <a:t>to not unduly restrict the outcome.”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56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</a:t>
            </a:r>
            <a:r>
              <a:rPr lang="en"/>
              <a:t> Concise</a:t>
            </a:r>
            <a:endParaRPr/>
          </a:p>
        </p:txBody>
      </p:sp>
      <p:sp>
        <p:nvSpPr>
          <p:cNvPr id="380" name="Google Shape;380;p5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Before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“It is suggested to remove any dependency on prerequisite 3</a:t>
            </a:r>
            <a:br>
              <a:rPr lang="en"/>
            </a:br>
            <a:r>
              <a:rPr lang="en"/>
              <a:t>to not unduly restrict the outcome.”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After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“It is suggested to remove requirement 3.”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57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</a:t>
            </a:r>
            <a:r>
              <a:rPr lang="en"/>
              <a:t> Active Voice</a:t>
            </a:r>
            <a:endParaRPr/>
          </a:p>
        </p:txBody>
      </p:sp>
      <p:sp>
        <p:nvSpPr>
          <p:cNvPr id="387" name="Google Shape;387;p5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Before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“It is suggested to remove requirement 3.”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After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“Drop requirement 3.”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58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Avoid Weak Wording</a:t>
            </a:r>
            <a:endParaRPr/>
          </a:p>
        </p:txBody>
      </p:sp>
      <p:sp>
        <p:nvSpPr>
          <p:cNvPr id="394" name="Google Shape;394;p5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 of weak wording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“We tried to…” (So what?)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“We believe…” (OK, why?)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“Try not. Do or do not. There is no try.” </a:t>
            </a:r>
            <a:endParaRPr/>
          </a:p>
        </p:txBody>
      </p:sp>
      <p:sp>
        <p:nvSpPr>
          <p:cNvPr id="395" name="Google Shape;395;p59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Avoid Imprecise Wording</a:t>
            </a:r>
            <a:endParaRPr/>
          </a:p>
        </p:txBody>
      </p:sp>
      <p:sp>
        <p:nvSpPr>
          <p:cNvPr id="401" name="Google Shape;401;p6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 of imprecise wording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“Very efficient…” (How efficient?)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“Many occurrences…” (How many?)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Don’t leave your reader guessing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60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61"/>
          <p:cNvSpPr txBox="1"/>
          <p:nvPr/>
        </p:nvSpPr>
        <p:spPr>
          <a:xfrm>
            <a:off x="-25" y="4412100"/>
            <a:ext cx="9144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See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https://www.newyorker.com/magazine/2021/12/27/florida-woman-bites-camel</a:t>
            </a:r>
            <a:r>
              <a:rPr lang="en"/>
              <a:t> </a:t>
            </a:r>
            <a:endParaRPr/>
          </a:p>
        </p:txBody>
      </p:sp>
      <p:sp>
        <p:nvSpPr>
          <p:cNvPr id="408" name="Google Shape;408;p6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Rules Break Down, Eventually</a:t>
            </a:r>
            <a:endParaRPr/>
          </a:p>
        </p:txBody>
      </p:sp>
      <p:sp>
        <p:nvSpPr>
          <p:cNvPr id="409" name="Google Shape;409;p6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4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410" name="Google Shape;410;p61"/>
          <p:cNvSpPr txBox="1"/>
          <p:nvPr>
            <p:ph idx="1" type="body"/>
          </p:nvPr>
        </p:nvSpPr>
        <p:spPr>
          <a:xfrm>
            <a:off x="274320" y="914400"/>
            <a:ext cx="8595300" cy="3657600"/>
          </a:xfrm>
          <a:prstGeom prst="rect">
            <a:avLst/>
          </a:prstGeom>
        </p:spPr>
        <p:txBody>
          <a:bodyPr anchorCtr="0" anchor="ctr" bIns="91425" lIns="914400" spcFirstLastPara="1" rIns="914400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400"/>
              <a:t>“A veterinarian prescribed antibiotics Monday for a camel that lives behind an Iberville Parish truck stop after a Florida woman told law officers she bit the 600 pound animal’s genitalia after it sat on her when she and her husband entered its enclosure to retrieve their deaf dog.” [1]</a:t>
            </a:r>
            <a:endParaRPr sz="24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6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416" name="Google Shape;416;p6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 research paper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Sections of a research paper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Final research theses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Academic writing</a:t>
            </a:r>
            <a:endParaRPr/>
          </a:p>
        </p:txBody>
      </p:sp>
      <p:sp>
        <p:nvSpPr>
          <p:cNvPr id="417" name="Google Shape;417;p62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3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 Any questions?</a:t>
            </a:r>
            <a:endParaRPr/>
          </a:p>
        </p:txBody>
      </p:sp>
      <p:sp>
        <p:nvSpPr>
          <p:cNvPr id="423" name="Google Shape;423;p63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dirk.riehle@fau.de</a:t>
            </a:r>
            <a:r>
              <a:rPr lang="en"/>
              <a:t> </a:t>
            </a:r>
            <a:r>
              <a:rPr lang="en" sz="2400"/>
              <a:t>–</a:t>
            </a: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https://oss.cs.fau.de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hlink"/>
                </a:solidFill>
                <a:hlinkClick r:id="rId5"/>
              </a:rPr>
              <a:t>dirk@riehle.org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6"/>
              </a:rPr>
              <a:t>https://dirkriehle.com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7"/>
              </a:rPr>
              <a:t>@dirkriehle</a:t>
            </a:r>
            <a:endParaRPr sz="24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6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Legal Notices</a:t>
            </a:r>
            <a:endParaRPr/>
          </a:p>
        </p:txBody>
      </p:sp>
      <p:sp>
        <p:nvSpPr>
          <p:cNvPr id="429" name="Google Shape;429;p6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https://profriehle.com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430" name="Google Shape;430;p6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License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Licensed under the </a:t>
            </a:r>
            <a:r>
              <a:rPr lang="en" u="sng">
                <a:solidFill>
                  <a:schemeClr val="hlink"/>
                </a:solidFill>
                <a:hlinkClick r:id="rId4"/>
              </a:rPr>
              <a:t>CC BY 4.0 International</a:t>
            </a:r>
            <a:r>
              <a:rPr lang="en"/>
              <a:t> license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Copyright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© 2012, 2023, 2024 Dirk Riehle, some rights reserved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NYT Slides Template">
  <a:themeElements>
    <a:clrScheme name="Simple Light">
      <a:dk1>
        <a:srgbClr val="000000"/>
      </a:dk1>
      <a:lt1>
        <a:srgbClr val="FFFFFF"/>
      </a:lt1>
      <a:dk2>
        <a:srgbClr val="404040"/>
      </a:dk2>
      <a:lt2>
        <a:srgbClr val="808080"/>
      </a:lt2>
      <a:accent1>
        <a:srgbClr val="D0D0D0"/>
      </a:accent1>
      <a:accent2>
        <a:srgbClr val="4169E1"/>
      </a:accent2>
      <a:accent3>
        <a:srgbClr val="D50D01"/>
      </a:accent3>
      <a:accent4>
        <a:srgbClr val="FEB612"/>
      </a:accent4>
      <a:accent5>
        <a:srgbClr val="4CAF50"/>
      </a:accent5>
      <a:accent6>
        <a:srgbClr val="8E44AD"/>
      </a:accent6>
      <a:hlink>
        <a:srgbClr val="34A3C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
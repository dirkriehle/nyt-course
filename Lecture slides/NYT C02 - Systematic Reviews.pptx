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5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61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58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60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60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8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59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58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61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5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54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029CF45-E60A-4E5A-9FDD-1CB366E1C941}">
  <a:tblStyle styleId="{0029CF45-E60A-4E5A-9FDD-1CB366E1C94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44" Type="http://schemas.openxmlformats.org/officeDocument/2006/relationships/slide" Target="slides/slide38.xml"/><Relationship Id="rId43" Type="http://schemas.openxmlformats.org/officeDocument/2006/relationships/slide" Target="slides/slide37.xml"/><Relationship Id="rId46" Type="http://schemas.openxmlformats.org/officeDocument/2006/relationships/slide" Target="slides/slide40.xml"/><Relationship Id="rId45" Type="http://schemas.openxmlformats.org/officeDocument/2006/relationships/slide" Target="slides/slide39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48" Type="http://schemas.openxmlformats.org/officeDocument/2006/relationships/slide" Target="slides/slide42.xml"/><Relationship Id="rId47" Type="http://schemas.openxmlformats.org/officeDocument/2006/relationships/slide" Target="slides/slide41.xml"/><Relationship Id="rId49" Type="http://schemas.openxmlformats.org/officeDocument/2006/relationships/slide" Target="slides/slide43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33" Type="http://schemas.openxmlformats.org/officeDocument/2006/relationships/slide" Target="slides/slide27.xml"/><Relationship Id="rId32" Type="http://schemas.openxmlformats.org/officeDocument/2006/relationships/slide" Target="slides/slide26.xml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slide" Target="slides/slide33.xml"/><Relationship Id="rId38" Type="http://schemas.openxmlformats.org/officeDocument/2006/relationships/slide" Target="slides/slide32.xml"/><Relationship Id="rId62" Type="http://schemas.openxmlformats.org/officeDocument/2006/relationships/slide" Target="slides/slide56.xml"/><Relationship Id="rId61" Type="http://schemas.openxmlformats.org/officeDocument/2006/relationships/slide" Target="slides/slide55.xml"/><Relationship Id="rId20" Type="http://schemas.openxmlformats.org/officeDocument/2006/relationships/slide" Target="slides/slide14.xml"/><Relationship Id="rId64" Type="http://schemas.openxmlformats.org/officeDocument/2006/relationships/slide" Target="slides/slide58.xml"/><Relationship Id="rId63" Type="http://schemas.openxmlformats.org/officeDocument/2006/relationships/slide" Target="slides/slide57.xml"/><Relationship Id="rId22" Type="http://schemas.openxmlformats.org/officeDocument/2006/relationships/slide" Target="slides/slide16.xml"/><Relationship Id="rId66" Type="http://schemas.openxmlformats.org/officeDocument/2006/relationships/slide" Target="slides/slide60.xml"/><Relationship Id="rId21" Type="http://schemas.openxmlformats.org/officeDocument/2006/relationships/slide" Target="slides/slide15.xml"/><Relationship Id="rId65" Type="http://schemas.openxmlformats.org/officeDocument/2006/relationships/slide" Target="slides/slide59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67" Type="http://schemas.openxmlformats.org/officeDocument/2006/relationships/slide" Target="slides/slide61.xml"/><Relationship Id="rId60" Type="http://schemas.openxmlformats.org/officeDocument/2006/relationships/slide" Target="slides/slide54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51" Type="http://schemas.openxmlformats.org/officeDocument/2006/relationships/slide" Target="slides/slide45.xml"/><Relationship Id="rId50" Type="http://schemas.openxmlformats.org/officeDocument/2006/relationships/slide" Target="slides/slide44.xml"/><Relationship Id="rId53" Type="http://schemas.openxmlformats.org/officeDocument/2006/relationships/slide" Target="slides/slide47.xml"/><Relationship Id="rId52" Type="http://schemas.openxmlformats.org/officeDocument/2006/relationships/slide" Target="slides/slide46.xml"/><Relationship Id="rId11" Type="http://schemas.openxmlformats.org/officeDocument/2006/relationships/slide" Target="slides/slide5.xml"/><Relationship Id="rId55" Type="http://schemas.openxmlformats.org/officeDocument/2006/relationships/slide" Target="slides/slide49.xml"/><Relationship Id="rId10" Type="http://schemas.openxmlformats.org/officeDocument/2006/relationships/slide" Target="slides/slide4.xml"/><Relationship Id="rId54" Type="http://schemas.openxmlformats.org/officeDocument/2006/relationships/slide" Target="slides/slide48.xml"/><Relationship Id="rId13" Type="http://schemas.openxmlformats.org/officeDocument/2006/relationships/slide" Target="slides/slide7.xml"/><Relationship Id="rId57" Type="http://schemas.openxmlformats.org/officeDocument/2006/relationships/slide" Target="slides/slide51.xml"/><Relationship Id="rId12" Type="http://schemas.openxmlformats.org/officeDocument/2006/relationships/slide" Target="slides/slide6.xml"/><Relationship Id="rId56" Type="http://schemas.openxmlformats.org/officeDocument/2006/relationships/slide" Target="slides/slide50.xml"/><Relationship Id="rId15" Type="http://schemas.openxmlformats.org/officeDocument/2006/relationships/slide" Target="slides/slide9.xml"/><Relationship Id="rId59" Type="http://schemas.openxmlformats.org/officeDocument/2006/relationships/slide" Target="slides/slide53.xml"/><Relationship Id="rId14" Type="http://schemas.openxmlformats.org/officeDocument/2006/relationships/slide" Target="slides/slide8.xml"/><Relationship Id="rId58" Type="http://schemas.openxmlformats.org/officeDocument/2006/relationships/slide" Target="slides/slide52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g2c2d70f18b5_0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" name="Google Shape;34;g2c2d70f18b5_0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gdb5ccdfa6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" name="Google Shape;40;gdb5ccdfa6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gf9bad1e87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" name="Google Shape;47;gf9bad1e87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14e2fb27b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14e2fb27b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125a7049bb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125a7049bb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214e2fb27b2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214e2fb27b2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214e2fb27b2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214e2fb27b2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214e2fb27b2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214e2fb27b2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214e2fb27b2_0_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214e2fb27b2_0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214e2fb27b2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214e2fb27b2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25a7049bbe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125a7049bbe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214e2fb27b2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214e2fb27b2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125a7049bbe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125a7049bbe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216a49f5147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216a49f5147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214e2fb27b2_0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g214e2fb27b2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2233e8de662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2233e8de662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c23ba4905f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2c23ba4905f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2233e8de662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2233e8de662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214e2fb27b2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214e2fb27b2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2233e8de662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" name="Google Shape;167;g2233e8de662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2233e8de662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2233e8de662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2c2d70f18b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" name="Google Shape;182;g2c2d70f18b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2233e8de662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2233e8de662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2233e8de662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2233e8de662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2233e8de662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2233e8de662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233e8de662_0_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233e8de662_0_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214e2fb27b2_0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214e2fb27b2_0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214e2fb27b2_0_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5" name="Google Shape;225;g214e2fb27b2_0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c23ba4905f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2c23ba4905f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216a49f5147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g216a49f5147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14e2fb27b2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14e2fb27b2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216a49f5147_0_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4" name="Google Shape;254;g216a49f5147_0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2233e8de662_0_1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1" name="Google Shape;261;g2233e8de662_0_1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2233e8de662_0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2233e8de662_0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2c2d70f18b5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3" name="Google Shape;273;g2c2d70f18b5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214e2fb27b2_0_9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214e2fb27b2_0_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g2233e8de662_0_1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8" name="Google Shape;288;g2233e8de662_0_1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2233e8de662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5" name="Google Shape;295;g2233e8de662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g2233e8de662_0_1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2" name="Google Shape;302;g2233e8de662_0_1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2233e8de662_0_1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9" name="Google Shape;309;g2233e8de662_0_1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2233e8de662_0_1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7" name="Google Shape;317;g2233e8de662_0_1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g2233e8de662_0_1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4" name="Google Shape;324;g2233e8de662_0_1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g2233e8de662_0_1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1" name="Google Shape;331;g2233e8de662_0_1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5cf7ad6d9b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8" name="Google Shape;338;g35cf7ad6d9b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35cf7ad6d9b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3" name="Google Shape;343;g35cf7ad6d9b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35cf7ad6d9b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8" name="Google Shape;348;g35cf7ad6d9b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g35cf7ad6d9b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2" name="Google Shape;352;g35cf7ad6d9b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35cf7ad6d9b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6" name="Google Shape;356;g35cf7ad6d9b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8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g35cf7ad6d9b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0" name="Google Shape;360;g35cf7ad6d9b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g214e2fb27b2_0_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4" name="Google Shape;364;g214e2fb27b2_0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g2233e8de662_0_1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9" name="Google Shape;369;g2233e8de662_0_1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14e2fb27b2_0_1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7" name="Google Shape;377;g214e2fb27b2_0_1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c2d70f18b5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c2d70f18b5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g216a49f5147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1" name="Google Shape;391;g216a49f5147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216a49f5147_0_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8" name="Google Shape;398;g216a49f5147_0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3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g216a49f5147_0_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5" name="Google Shape;405;g216a49f5147_0_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0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214e2fb27b2_0_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2" name="Google Shape;412;g214e2fb27b2_0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5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g216a49f5147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7" name="Google Shape;417;g216a49f5147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2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g216a49f5147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4" name="Google Shape;424;g216a49f5147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9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g239265140e9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1" name="Google Shape;431;g239265140e9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239265140e9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239265140e9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://uni1.de/nyt" TargetMode="Externa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://uni1.de/nyt" TargetMode="Externa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://uni1.de/nyt" TargetMode="Externa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  <a:noFill/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sp>
        <p:nvSpPr>
          <p:cNvPr id="12" name="Google Shape;12;p2"/>
          <p:cNvSpPr/>
          <p:nvPr/>
        </p:nvSpPr>
        <p:spPr>
          <a:xfrm>
            <a:off x="0" y="2388810"/>
            <a:ext cx="9144000" cy="183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/>
          <p:nvPr/>
        </p:nvSpPr>
        <p:spPr>
          <a:xfrm>
            <a:off x="0" y="2386584"/>
            <a:ext cx="9144000" cy="915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/>
          <p:nvPr/>
        </p:nvSpPr>
        <p:spPr>
          <a:xfrm>
            <a:off x="0" y="685800"/>
            <a:ext cx="9144000" cy="915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" name="Google Shape;20;p4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1"/>
                </a:solidFill>
              </a:defRPr>
            </a:lvl1pPr>
            <a:lvl2pPr lvl="1" rtl="0" algn="r">
              <a:buNone/>
              <a:defRPr b="1" sz="2400">
                <a:solidFill>
                  <a:schemeClr val="dk1"/>
                </a:solidFill>
              </a:defRPr>
            </a:lvl2pPr>
            <a:lvl3pPr lvl="2" rtl="0" algn="r">
              <a:buNone/>
              <a:defRPr b="1" sz="2400">
                <a:solidFill>
                  <a:schemeClr val="dk1"/>
                </a:solidFill>
              </a:defRPr>
            </a:lvl3pPr>
            <a:lvl4pPr lvl="3" rtl="0" algn="r">
              <a:buNone/>
              <a:defRPr b="1" sz="2400">
                <a:solidFill>
                  <a:schemeClr val="dk1"/>
                </a:solidFill>
              </a:defRPr>
            </a:lvl4pPr>
            <a:lvl5pPr lvl="4" rtl="0" algn="r">
              <a:buNone/>
              <a:defRPr b="1" sz="2400">
                <a:solidFill>
                  <a:schemeClr val="dk1"/>
                </a:solidFill>
              </a:defRPr>
            </a:lvl5pPr>
            <a:lvl6pPr lvl="5" rtl="0" algn="r">
              <a:buNone/>
              <a:defRPr b="1" sz="2400">
                <a:solidFill>
                  <a:schemeClr val="dk1"/>
                </a:solidFill>
              </a:defRPr>
            </a:lvl6pPr>
            <a:lvl7pPr lvl="6" rtl="0" algn="r">
              <a:buNone/>
              <a:defRPr b="1" sz="2400">
                <a:solidFill>
                  <a:schemeClr val="dk1"/>
                </a:solidFill>
              </a:defRPr>
            </a:lvl7pPr>
            <a:lvl8pPr lvl="7" rtl="0" algn="r">
              <a:buNone/>
              <a:defRPr b="1" sz="2400">
                <a:solidFill>
                  <a:schemeClr val="dk1"/>
                </a:solidFill>
              </a:defRPr>
            </a:lvl8pPr>
            <a:lvl9pPr lvl="8" rtl="0" algn="r">
              <a:buNone/>
              <a:defRPr b="1" sz="2400"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2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3" name="Google Shape;23;p5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4" name="Google Shape;24;p5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5" name="Google Shape;25;p5"/>
          <p:cNvSpPr/>
          <p:nvPr/>
        </p:nvSpPr>
        <p:spPr>
          <a:xfrm>
            <a:off x="0" y="685800"/>
            <a:ext cx="9144000" cy="915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" name="Google Shape;26;p5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1"/>
                </a:solidFill>
              </a:defRPr>
            </a:lvl1pPr>
            <a:lvl2pPr lvl="1" rtl="0" algn="r">
              <a:buNone/>
              <a:defRPr b="1" sz="2400">
                <a:solidFill>
                  <a:schemeClr val="dk1"/>
                </a:solidFill>
              </a:defRPr>
            </a:lvl2pPr>
            <a:lvl3pPr lvl="2" rtl="0" algn="r">
              <a:buNone/>
              <a:defRPr b="1" sz="2400">
                <a:solidFill>
                  <a:schemeClr val="dk1"/>
                </a:solidFill>
              </a:defRPr>
            </a:lvl3pPr>
            <a:lvl4pPr lvl="3" rtl="0" algn="r">
              <a:buNone/>
              <a:defRPr b="1" sz="2400">
                <a:solidFill>
                  <a:schemeClr val="dk1"/>
                </a:solidFill>
              </a:defRPr>
            </a:lvl4pPr>
            <a:lvl5pPr lvl="4" rtl="0" algn="r">
              <a:buNone/>
              <a:defRPr b="1" sz="2400">
                <a:solidFill>
                  <a:schemeClr val="dk1"/>
                </a:solidFill>
              </a:defRPr>
            </a:lvl5pPr>
            <a:lvl6pPr lvl="5" rtl="0" algn="r">
              <a:buNone/>
              <a:defRPr b="1" sz="2400">
                <a:solidFill>
                  <a:schemeClr val="dk1"/>
                </a:solidFill>
              </a:defRPr>
            </a:lvl6pPr>
            <a:lvl7pPr lvl="6" rtl="0" algn="r">
              <a:buNone/>
              <a:defRPr b="1" sz="2400">
                <a:solidFill>
                  <a:schemeClr val="dk1"/>
                </a:solidFill>
              </a:defRPr>
            </a:lvl7pPr>
            <a:lvl8pPr lvl="7" rtl="0" algn="r">
              <a:buNone/>
              <a:defRPr b="1" sz="2400">
                <a:solidFill>
                  <a:schemeClr val="dk1"/>
                </a:solidFill>
              </a:defRPr>
            </a:lvl8pPr>
            <a:lvl9pPr lvl="8" rtl="0" algn="r">
              <a:buNone/>
              <a:defRPr b="1" sz="2400"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2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9" name="Google Shape;29;p6"/>
          <p:cNvSpPr/>
          <p:nvPr/>
        </p:nvSpPr>
        <p:spPr>
          <a:xfrm>
            <a:off x="0" y="685800"/>
            <a:ext cx="9144000" cy="915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" name="Google Shape;30;p6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1"/>
                </a:solidFill>
              </a:defRPr>
            </a:lvl1pPr>
            <a:lvl2pPr lvl="1" rtl="0" algn="r">
              <a:buNone/>
              <a:defRPr b="1" sz="2400">
                <a:solidFill>
                  <a:schemeClr val="dk1"/>
                </a:solidFill>
              </a:defRPr>
            </a:lvl2pPr>
            <a:lvl3pPr lvl="2" rtl="0" algn="r">
              <a:buNone/>
              <a:defRPr b="1" sz="2400">
                <a:solidFill>
                  <a:schemeClr val="dk1"/>
                </a:solidFill>
              </a:defRPr>
            </a:lvl3pPr>
            <a:lvl4pPr lvl="3" rtl="0" algn="r">
              <a:buNone/>
              <a:defRPr b="1" sz="2400">
                <a:solidFill>
                  <a:schemeClr val="dk1"/>
                </a:solidFill>
              </a:defRPr>
            </a:lvl4pPr>
            <a:lvl5pPr lvl="4" rtl="0" algn="r">
              <a:buNone/>
              <a:defRPr b="1" sz="2400">
                <a:solidFill>
                  <a:schemeClr val="dk1"/>
                </a:solidFill>
              </a:defRPr>
            </a:lvl5pPr>
            <a:lvl6pPr lvl="5" rtl="0" algn="r">
              <a:buNone/>
              <a:defRPr b="1" sz="2400">
                <a:solidFill>
                  <a:schemeClr val="dk1"/>
                </a:solidFill>
              </a:defRPr>
            </a:lvl6pPr>
            <a:lvl7pPr lvl="6" rtl="0" algn="r">
              <a:buNone/>
              <a:defRPr b="1" sz="2400">
                <a:solidFill>
                  <a:schemeClr val="dk1"/>
                </a:solidFill>
              </a:defRPr>
            </a:lvl7pPr>
            <a:lvl8pPr lvl="7" rtl="0" algn="r">
              <a:buNone/>
              <a:defRPr b="1" sz="2400">
                <a:solidFill>
                  <a:schemeClr val="dk1"/>
                </a:solidFill>
              </a:defRPr>
            </a:lvl8pPr>
            <a:lvl9pPr lvl="8" rtl="0" algn="r">
              <a:buNone/>
              <a:defRPr b="1" sz="2400"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2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hyperlink" Target="http://uni1.de/nyt" TargetMode="Externa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1"/>
                </a:solidFill>
              </a:defRPr>
            </a:lvl1pPr>
            <a:lvl2pPr lvl="1" rtl="0" algn="r">
              <a:buNone/>
              <a:defRPr b="1" sz="2400">
                <a:solidFill>
                  <a:schemeClr val="dk1"/>
                </a:solidFill>
              </a:defRPr>
            </a:lvl2pPr>
            <a:lvl3pPr lvl="2" rtl="0" algn="r">
              <a:buNone/>
              <a:defRPr b="1" sz="2400">
                <a:solidFill>
                  <a:schemeClr val="dk1"/>
                </a:solidFill>
              </a:defRPr>
            </a:lvl3pPr>
            <a:lvl4pPr lvl="3" rtl="0" algn="r">
              <a:buNone/>
              <a:defRPr b="1" sz="2400">
                <a:solidFill>
                  <a:schemeClr val="dk1"/>
                </a:solidFill>
              </a:defRPr>
            </a:lvl4pPr>
            <a:lvl5pPr lvl="4" rtl="0" algn="r">
              <a:buNone/>
              <a:defRPr b="1" sz="2400">
                <a:solidFill>
                  <a:schemeClr val="dk1"/>
                </a:solidFill>
              </a:defRPr>
            </a:lvl5pPr>
            <a:lvl6pPr lvl="5" rtl="0" algn="r">
              <a:buNone/>
              <a:defRPr b="1" sz="2400">
                <a:solidFill>
                  <a:schemeClr val="dk1"/>
                </a:solidFill>
              </a:defRPr>
            </a:lvl6pPr>
            <a:lvl7pPr lvl="6" rtl="0" algn="r">
              <a:buNone/>
              <a:defRPr b="1" sz="2400">
                <a:solidFill>
                  <a:schemeClr val="dk1"/>
                </a:solidFill>
              </a:defRPr>
            </a:lvl7pPr>
            <a:lvl8pPr lvl="7" rtl="0" algn="r">
              <a:buNone/>
              <a:defRPr b="1" sz="2400">
                <a:solidFill>
                  <a:schemeClr val="dk1"/>
                </a:solidFill>
              </a:defRPr>
            </a:lvl8pPr>
            <a:lvl9pPr lvl="8" rtl="0" algn="r">
              <a:buNone/>
              <a:defRPr b="1" sz="2400"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1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://creativecommons.org/licenses/by/4.0/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hyperlink" Target="http://uni1.de/nyt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://uni1.de/nyt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://uni1.de/nyt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://uni1.de/nyt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hyperlink" Target="http://uni1.de/nyt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hyperlink" Target="http://uni1.de/nyt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://uni1.de/nyt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://uni1.de/nyt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://uni1.de/nyt" TargetMode="Externa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://uni1.de/nyt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://uni1.de/nyt" TargetMode="Externa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://uni1.de/nyt" TargetMode="Externa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://uni1.de/nyt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://uni1.de/nyt" TargetMode="External"/><Relationship Id="rId4" Type="http://schemas.openxmlformats.org/officeDocument/2006/relationships/hyperlink" Target="https://prisma-statement.org/protocols/" TargetMode="External"/><Relationship Id="rId5" Type="http://schemas.openxmlformats.org/officeDocument/2006/relationships/image" Target="../media/image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://uni1.de/nyt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://uni1.de/nyt" TargetMode="Externa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1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://uni1.de/nyt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deal-konsortium.de/" TargetMode="External"/><Relationship Id="rId4" Type="http://schemas.openxmlformats.org/officeDocument/2006/relationships/hyperlink" Target="https://sci-hub.ru/" TargetMode="External"/><Relationship Id="rId5" Type="http://schemas.openxmlformats.org/officeDocument/2006/relationships/hyperlink" Target="http://uni1.de/nyt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://uni1.de/nyt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://uni1.de/nyt" TargetMode="Externa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://uni1.de/nyt" TargetMode="Externa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://uni1.de/nyt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://uni1.de/nyt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1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://uni1.de/nyt" TargetMode="Externa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Relationship Id="rId3" Type="http://schemas.openxmlformats.org/officeDocument/2006/relationships/hyperlink" Target="http://uni1.de/nyt" TargetMode="Externa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Relationship Id="rId3" Type="http://schemas.openxmlformats.org/officeDocument/2006/relationships/hyperlink" Target="http://uni1.de/nyt" TargetMode="Externa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Relationship Id="rId3" Type="http://schemas.openxmlformats.org/officeDocument/2006/relationships/hyperlink" Target="http://uni1.de/nyt" TargetMode="Externa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Relationship Id="rId3" Type="http://schemas.openxmlformats.org/officeDocument/2006/relationships/hyperlink" Target="http://uni1.de/nyt" TargetMode="External"/><Relationship Id="rId4" Type="http://schemas.openxmlformats.org/officeDocument/2006/relationships/hyperlink" Target="https://www.cebm.ox.ac.uk/resources/levels-of-evidence/ocebm-levels-of-evidence" TargetMode="Externa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6.png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Relationship Id="rId3" Type="http://schemas.openxmlformats.org/officeDocument/2006/relationships/hyperlink" Target="http://uni1.de/nyt" TargetMode="Externa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Relationship Id="rId3" Type="http://schemas.openxmlformats.org/officeDocument/2006/relationships/hyperlink" Target="http://uni1.de/nyt" TargetMode="Externa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13.png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9.png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8.png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7.png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10.png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12.png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1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1.png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2.xml"/><Relationship Id="rId3" Type="http://schemas.openxmlformats.org/officeDocument/2006/relationships/hyperlink" Target="http://uni1.de/nyt" TargetMode="External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3.xml"/><Relationship Id="rId3" Type="http://schemas.openxmlformats.org/officeDocument/2006/relationships/hyperlink" Target="http://uni1.de/nyt" TargetMode="External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4.xml"/><Relationship Id="rId3" Type="http://schemas.openxmlformats.org/officeDocument/2006/relationships/hyperlink" Target="http://uni1.de/nyt" TargetMode="External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5.xml"/><Relationship Id="rId3" Type="http://schemas.openxmlformats.org/officeDocument/2006/relationships/hyperlink" Target="http://uni1.de/nyt" TargetMode="External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6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5.png"/></Relationships>
</file>

<file path=ppt/slides/_rels/slide5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8.xml"/><Relationship Id="rId3" Type="http://schemas.openxmlformats.org/officeDocument/2006/relationships/hyperlink" Target="http://uni1.de/nyt" TargetMode="External"/></Relationships>
</file>

<file path=ppt/slides/_rels/slide5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9.xml"/><Relationship Id="rId3" Type="http://schemas.openxmlformats.org/officeDocument/2006/relationships/hyperlink" Target="http://uni1.de/nyt" TargetMode="External"/></Relationships>
</file>

<file path=ppt/slides/_rels/slide6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hyperlink" Target="mailto:dirk.riehle@fau.de" TargetMode="External"/><Relationship Id="rId4" Type="http://schemas.openxmlformats.org/officeDocument/2006/relationships/hyperlink" Target="https://oss.cs.fau.de" TargetMode="External"/><Relationship Id="rId5" Type="http://schemas.openxmlformats.org/officeDocument/2006/relationships/hyperlink" Target="mailto:dirk@riehle.org" TargetMode="External"/><Relationship Id="rId6" Type="http://schemas.openxmlformats.org/officeDocument/2006/relationships/hyperlink" Target="https://dirkriehle.com" TargetMode="External"/><Relationship Id="rId7" Type="http://schemas.openxmlformats.org/officeDocument/2006/relationships/hyperlink" Target="https://twitter.com/dirkriehle" TargetMode="External"/></Relationships>
</file>

<file path=ppt/slides/_rels/slide6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1.xml"/><Relationship Id="rId3" Type="http://schemas.openxmlformats.org/officeDocument/2006/relationships/hyperlink" Target="http://uni1.de/nyt" TargetMode="External"/><Relationship Id="rId4" Type="http://schemas.openxmlformats.org/officeDocument/2006/relationships/hyperlink" Target="http://creativecommons.org/licenses/by/4.0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Systematic Reviews</a:t>
            </a:r>
            <a:endParaRPr/>
          </a:p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Dirk Riehle, FAU Erlangen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NYT C02</a:t>
            </a:r>
            <a:endParaRPr b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Licensed under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CC BY 4.0 International</a:t>
            </a:r>
            <a:endParaRPr sz="1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Systematic</a:t>
            </a:r>
            <a:r>
              <a:rPr lang="en"/>
              <a:t> reviews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Research design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Study search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Study filter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Data analysis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Quality assurance</a:t>
            </a:r>
            <a:endParaRPr/>
          </a:p>
        </p:txBody>
      </p:sp>
      <p:sp>
        <p:nvSpPr>
          <p:cNvPr id="43" name="Google Shape;43;p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44" name="Google Shape;44;p9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0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1. Systematic Reviews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</a:t>
            </a:r>
            <a:r>
              <a:rPr b="1" lang="en"/>
              <a:t>literature review</a:t>
            </a:r>
            <a:r>
              <a:rPr lang="en"/>
              <a:t> is a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Review of existing literature for purposes of theory building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In a literature review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b="1" lang="en"/>
              <a:t>Relevant literature is sought out,</a:t>
            </a:r>
            <a:endParaRPr b="1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/>
              <a:t>Data is extracted</a:t>
            </a:r>
            <a:r>
              <a:rPr lang="en"/>
              <a:t> towards a research question, and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/>
              <a:t>Data is s</a:t>
            </a:r>
            <a:r>
              <a:rPr b="1" lang="en"/>
              <a:t>ynthesized</a:t>
            </a:r>
            <a:r>
              <a:rPr lang="en"/>
              <a:t> towards an answer, the new or revised theory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A literature review should follow a systematic literature review methodology</a:t>
            </a:r>
            <a:endParaRPr/>
          </a:p>
        </p:txBody>
      </p:sp>
      <p:sp>
        <p:nvSpPr>
          <p:cNvPr id="55" name="Google Shape;55;p1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Literature Review</a:t>
            </a:r>
            <a:endParaRPr/>
          </a:p>
        </p:txBody>
      </p:sp>
      <p:sp>
        <p:nvSpPr>
          <p:cNvPr id="56" name="Google Shape;56;p11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Types of Literature Reviews</a:t>
            </a:r>
            <a:endParaRPr/>
          </a:p>
        </p:txBody>
      </p:sp>
      <p:sp>
        <p:nvSpPr>
          <p:cNvPr id="62" name="Google Shape;62;p1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Types of literature reviews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Traditional or narrative literature reviews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Systematic literature reviews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Meta-syntheses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Related, but not a type of literature review as defined here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Meta-analyses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Not a (scientific) type of literature review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Related work (review)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2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Related Work Review</a:t>
            </a:r>
            <a:endParaRPr/>
          </a:p>
        </p:txBody>
      </p:sp>
      <p:sp>
        <p:nvSpPr>
          <p:cNvPr id="69" name="Google Shape;69;p1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related work review is a research practice which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b="1" lang="en"/>
              <a:t>Compares and contrasts</a:t>
            </a:r>
            <a:r>
              <a:rPr lang="en"/>
              <a:t> existing research with current or planned research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 </a:t>
            </a:r>
            <a:r>
              <a:rPr lang="en"/>
              <a:t>related</a:t>
            </a:r>
            <a:r>
              <a:rPr lang="en"/>
              <a:t> work review is most commonly performed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 a research paper to bring out what is novel about the presented work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 a final thesis to clarify the thesis work’ </a:t>
            </a:r>
            <a:r>
              <a:rPr lang="en"/>
              <a:t>relationship</a:t>
            </a:r>
            <a:r>
              <a:rPr lang="en"/>
              <a:t> to existing work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In other words, it is a justification for what’s to be presented</a:t>
            </a:r>
            <a:endParaRPr/>
          </a:p>
        </p:txBody>
      </p:sp>
      <p:sp>
        <p:nvSpPr>
          <p:cNvPr id="70" name="Google Shape;70;p13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Traditional or Narrative Literature Reviews</a:t>
            </a:r>
            <a:endParaRPr/>
          </a:p>
        </p:txBody>
      </p:sp>
      <p:sp>
        <p:nvSpPr>
          <p:cNvPr id="76" name="Google Shape;76;p1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Traditional (or narrative) literature reviews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b="1" lang="en"/>
              <a:t>Choose research question</a:t>
            </a:r>
            <a:r>
              <a:rPr lang="en"/>
              <a:t> to answer using traditional literature review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b="1" lang="en"/>
              <a:t>Perform comprehensive</a:t>
            </a:r>
            <a:r>
              <a:rPr lang="en"/>
              <a:t> (researcher-expertise-driven)</a:t>
            </a:r>
            <a:r>
              <a:rPr b="1" lang="en"/>
              <a:t> search</a:t>
            </a:r>
            <a:r>
              <a:rPr lang="en"/>
              <a:t> for literature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b="1" lang="en"/>
              <a:t>Evaluate relevance</a:t>
            </a:r>
            <a:r>
              <a:rPr lang="en"/>
              <a:t> (strengths and weaknesses) of found literature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b="1" lang="en"/>
              <a:t>Summarize findings</a:t>
            </a:r>
            <a:r>
              <a:rPr lang="en"/>
              <a:t> with respect to research question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Traditional literature reviews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Lack rigor (but rely on the researcher’s expertise)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Are best viewed as well-reasoned opinions [DR]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77" name="Google Shape;77;p14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Systematic Literature Reviews (SLRs)</a:t>
            </a:r>
            <a:endParaRPr/>
          </a:p>
        </p:txBody>
      </p:sp>
      <p:sp>
        <p:nvSpPr>
          <p:cNvPr id="83" name="Google Shape;83;p1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SLRs </a:t>
            </a:r>
            <a:r>
              <a:rPr lang="en"/>
              <a:t>are a systematic approach to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Finding and analyzing primary studies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SLRs are a form of systematic review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Not all systematic reviews are SLRs (but most are)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Common methodology descriptions include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Kitchenham et al. (2023), Booth et al. (2016)</a:t>
            </a:r>
            <a:endParaRPr/>
          </a:p>
        </p:txBody>
      </p:sp>
      <p:sp>
        <p:nvSpPr>
          <p:cNvPr id="84" name="Google Shape;84;p15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pic>
        <p:nvPicPr>
          <p:cNvPr id="85" name="Google Shape;85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126425" y="914400"/>
            <a:ext cx="2743200" cy="37736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Meta-Syntheses</a:t>
            </a:r>
            <a:endParaRPr/>
          </a:p>
        </p:txBody>
      </p:sp>
      <p:sp>
        <p:nvSpPr>
          <p:cNvPr id="91" name="Google Shape;91;p16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92" name="Google Shape;92;p1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Meta-syntheses are structured literature reviews that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Perform theory building using a research method, for example,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Braun &amp; Clarke (2012): Thematic analysis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Corbin &amp; Strauss (2008): Grounded theory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Meta-Analyses</a:t>
            </a:r>
            <a:endParaRPr/>
          </a:p>
        </p:txBody>
      </p:sp>
      <p:sp>
        <p:nvSpPr>
          <p:cNvPr id="98" name="Google Shape;98;p1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Meta-analyses are literature analyses that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Quantitatively aggregate findings from different studies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Derive a more comprehensive statistical conclusion to a hypothesis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Meta-analyses are not </a:t>
            </a:r>
            <a:r>
              <a:rPr lang="en"/>
              <a:t>theory</a:t>
            </a:r>
            <a:r>
              <a:rPr lang="en"/>
              <a:t> building, but hypothesis testing research</a:t>
            </a:r>
            <a:endParaRPr/>
          </a:p>
        </p:txBody>
      </p:sp>
      <p:sp>
        <p:nvSpPr>
          <p:cNvPr id="99" name="Google Shape;99;p17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8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2. Research Design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SLR process consists of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Defining the research question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Designing the systematic review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Create research design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Create research protocol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Review research protocol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Register research protocol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Performing the review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Search for studies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Filter for relevance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Filter for quality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Analyzing the data</a:t>
            </a:r>
            <a:endParaRPr/>
          </a:p>
        </p:txBody>
      </p:sp>
      <p:sp>
        <p:nvSpPr>
          <p:cNvPr id="110" name="Google Shape;110;p1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Systematic Literature Reviews (SLRs)</a:t>
            </a:r>
            <a:endParaRPr/>
          </a:p>
        </p:txBody>
      </p:sp>
      <p:sp>
        <p:nvSpPr>
          <p:cNvPr id="111" name="Google Shape;111;p19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pic>
        <p:nvPicPr>
          <p:cNvPr id="112" name="Google Shape;112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126425" y="914400"/>
            <a:ext cx="2743200" cy="37736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SLRs are open to any (qualitative) research question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They rely on primary materials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Are a type of secondary study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SLRs are useful for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Summarizing existing evidence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Identifying gaps in current research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Building a new research framework (theory)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2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Define Research Questions</a:t>
            </a:r>
            <a:endParaRPr/>
          </a:p>
        </p:txBody>
      </p:sp>
      <p:sp>
        <p:nvSpPr>
          <p:cNvPr id="119" name="Google Shape;119;p20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1"/>
          <p:cNvSpPr txBox="1"/>
          <p:nvPr>
            <p:ph idx="1" type="body"/>
          </p:nvPr>
        </p:nvSpPr>
        <p:spPr>
          <a:xfrm>
            <a:off x="274325" y="914400"/>
            <a:ext cx="8595300" cy="457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Benefits of pre-Requirements-Specification traceability</a:t>
            </a:r>
            <a:endParaRPr/>
          </a:p>
        </p:txBody>
      </p:sp>
      <p:sp>
        <p:nvSpPr>
          <p:cNvPr id="125" name="Google Shape;125;p2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Research Question</a:t>
            </a:r>
            <a:endParaRPr/>
          </a:p>
        </p:txBody>
      </p:sp>
      <p:sp>
        <p:nvSpPr>
          <p:cNvPr id="126" name="Google Shape;126;p21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pic>
        <p:nvPicPr>
          <p:cNvPr id="127" name="Google Shape;127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1828800"/>
            <a:ext cx="8595361" cy="271231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21"/>
          <p:cNvSpPr/>
          <p:nvPr/>
        </p:nvSpPr>
        <p:spPr>
          <a:xfrm>
            <a:off x="2578608" y="2212848"/>
            <a:ext cx="1143000" cy="1143000"/>
          </a:xfrm>
          <a:prstGeom prst="ellipse">
            <a:avLst/>
          </a:prstGeom>
          <a:noFill/>
          <a:ln cap="flat" cmpd="sng" w="381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Primary </a:t>
            </a:r>
            <a:r>
              <a:rPr lang="en"/>
              <a:t>Materials</a:t>
            </a:r>
            <a:r>
              <a:rPr lang="en"/>
              <a:t> / Literature</a:t>
            </a:r>
            <a:endParaRPr/>
          </a:p>
        </p:txBody>
      </p:sp>
      <p:sp>
        <p:nvSpPr>
          <p:cNvPr id="134" name="Google Shape;134;p2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Primary materials (for an SLR) is original research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Usually as presented in publications (i.e. literature)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But also (but rarely) as the original research artifact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Be cautious to include gray literature and explain if so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Gray literature is non-peer-reviewed work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Examples are practitioner articles like blog posts</a:t>
            </a:r>
            <a:endParaRPr/>
          </a:p>
        </p:txBody>
      </p:sp>
      <p:sp>
        <p:nvSpPr>
          <p:cNvPr id="135" name="Google Shape;135;p22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 to take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Define</a:t>
            </a:r>
            <a:r>
              <a:rPr lang="en"/>
              <a:t> tasks and activities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Choose research methods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Choose supporting tools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Write research protocol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For activities and methods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the following sections</a:t>
            </a:r>
            <a:endParaRPr/>
          </a:p>
        </p:txBody>
      </p:sp>
      <p:sp>
        <p:nvSpPr>
          <p:cNvPr id="141" name="Google Shape;141;p2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Create Research Design</a:t>
            </a:r>
            <a:endParaRPr/>
          </a:p>
        </p:txBody>
      </p:sp>
      <p:sp>
        <p:nvSpPr>
          <p:cNvPr id="142" name="Google Shape;142;p23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Tasks and Activities + Methods and Practices</a:t>
            </a:r>
            <a:endParaRPr/>
          </a:p>
        </p:txBody>
      </p:sp>
      <p:sp>
        <p:nvSpPr>
          <p:cNvPr id="148" name="Google Shape;148;p2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Define and document tasks/activities and associated methods/practices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Study search (databases, search queries, …)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Relevance filter (inclusion/exclusion criteria, …)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Quality filter (research quality model, …)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Analysis method (e.g. thematic analysis)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24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Supporting Tools</a:t>
            </a:r>
            <a:endParaRPr/>
          </a:p>
        </p:txBody>
      </p:sp>
      <p:sp>
        <p:nvSpPr>
          <p:cNvPr id="155" name="Google Shape;155;p2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Progress tracker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Lab book [1]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Literature manager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Zotero, Mendeley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ResearchGate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File system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25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157" name="Google Shape;157;p25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A.k.a. log book, work log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Document your plan in a research protocol; this includes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Meta information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Research question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Research design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Overall process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Tasks and activities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Methods and practices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Document the what and explain the why of your choices</a:t>
            </a:r>
            <a:endParaRPr/>
          </a:p>
        </p:txBody>
      </p:sp>
      <p:sp>
        <p:nvSpPr>
          <p:cNvPr id="163" name="Google Shape;163;p2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Create Research Protocol</a:t>
            </a:r>
            <a:endParaRPr/>
          </a:p>
        </p:txBody>
      </p:sp>
      <p:sp>
        <p:nvSpPr>
          <p:cNvPr id="164" name="Google Shape;164;p26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Protocol Using Prisma Statement [1] 1 / 2</a:t>
            </a:r>
            <a:endParaRPr/>
          </a:p>
        </p:txBody>
      </p:sp>
      <p:sp>
        <p:nvSpPr>
          <p:cNvPr id="170" name="Google Shape;170;p27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171" name="Google Shape;171;p27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https://prisma-statement.org/protocols/</a:t>
            </a:r>
            <a:r>
              <a:rPr lang="en"/>
              <a:t> </a:t>
            </a:r>
            <a:endParaRPr/>
          </a:p>
        </p:txBody>
      </p:sp>
      <p:pic>
        <p:nvPicPr>
          <p:cNvPr id="172" name="Google Shape;172;p2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74320" y="914400"/>
            <a:ext cx="8595359" cy="35240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</a:t>
            </a:r>
            <a:r>
              <a:rPr lang="en"/>
              <a:t>rotocol Using Prisma Statement 2 / 2</a:t>
            </a:r>
            <a:endParaRPr/>
          </a:p>
        </p:txBody>
      </p:sp>
      <p:sp>
        <p:nvSpPr>
          <p:cNvPr id="178" name="Google Shape;178;p28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pic>
        <p:nvPicPr>
          <p:cNvPr id="179" name="Google Shape;179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59" cy="41619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Visualization of Research Design Process</a:t>
            </a:r>
            <a:endParaRPr/>
          </a:p>
        </p:txBody>
      </p:sp>
      <p:sp>
        <p:nvSpPr>
          <p:cNvPr id="185" name="Google Shape;185;p29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pic>
        <p:nvPicPr>
          <p:cNvPr id="186" name="Google Shape;186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2983229" cy="4114801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p29"/>
          <p:cNvSpPr txBox="1"/>
          <p:nvPr>
            <p:ph idx="1" type="body"/>
          </p:nvPr>
        </p:nvSpPr>
        <p:spPr>
          <a:xfrm>
            <a:off x="3659898" y="914400"/>
            <a:ext cx="5209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 addition to prose descriptions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Visualize the workflow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Strong in papers and theses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Ask your peers or pay outside experts for feedback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Consider using Spall (1998) for peer debriefing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Iterate until satisfied</a:t>
            </a:r>
            <a:endParaRPr/>
          </a:p>
        </p:txBody>
      </p:sp>
      <p:sp>
        <p:nvSpPr>
          <p:cNvPr id="193" name="Google Shape;193;p3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Review Research Protocol</a:t>
            </a:r>
            <a:endParaRPr/>
          </a:p>
        </p:txBody>
      </p:sp>
      <p:sp>
        <p:nvSpPr>
          <p:cNvPr id="194" name="Google Shape;194;p30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Upload to arXiv (or similar registry / archive)</a:t>
            </a:r>
            <a:endParaRPr/>
          </a:p>
        </p:txBody>
      </p:sp>
      <p:sp>
        <p:nvSpPr>
          <p:cNvPr id="200" name="Google Shape;200;p3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Register Research Protocol</a:t>
            </a:r>
            <a:endParaRPr/>
          </a:p>
        </p:txBody>
      </p:sp>
      <p:sp>
        <p:nvSpPr>
          <p:cNvPr id="201" name="Google Shape;201;p31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2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3. Study Search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Searching for studies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b="1" lang="en"/>
              <a:t>Define scope of search</a:t>
            </a:r>
            <a:endParaRPr b="1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b="1" lang="en"/>
              <a:t>Express scope as search query</a:t>
            </a:r>
            <a:endParaRPr b="1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b="1" lang="en"/>
              <a:t>Search and evaluate basic fit</a:t>
            </a:r>
            <a:endParaRPr b="1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b="1" lang="en"/>
              <a:t>Document the process [1]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Filtering the studies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 startAt="5"/>
            </a:pPr>
            <a:r>
              <a:rPr lang="en"/>
              <a:t>Filter for relevance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 startAt="5"/>
            </a:pPr>
            <a:r>
              <a:rPr lang="en"/>
              <a:t>Filter for quality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3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Search Process</a:t>
            </a:r>
            <a:endParaRPr/>
          </a:p>
        </p:txBody>
      </p:sp>
      <p:sp>
        <p:nvSpPr>
          <p:cNvPr id="213" name="Google Shape;213;p33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214" name="Google Shape;214;p33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</a:t>
            </a:r>
            <a:r>
              <a:rPr lang="en"/>
              <a:t> Rethlefsen et al. (2021): Reporting literature searches in systematic reviews.</a:t>
            </a:r>
            <a:endParaRPr/>
          </a:p>
        </p:txBody>
      </p:sp>
      <p:pic>
        <p:nvPicPr>
          <p:cNvPr id="215" name="Google Shape;215;p3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126425" y="914400"/>
            <a:ext cx="2743200" cy="37736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Define Scope of Search</a:t>
            </a:r>
            <a:endParaRPr/>
          </a:p>
        </p:txBody>
      </p:sp>
      <p:sp>
        <p:nvSpPr>
          <p:cNvPr id="221" name="Google Shape;221;p3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search scope follows from the research question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Components of the scope definition can be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Research-question-specific terms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Meta-criteria like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Year / age of literature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Publication outlet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Type of article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Written language of article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Number of citations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Specify both inclusion and exclusion criteria!</a:t>
            </a:r>
            <a:endParaRPr/>
          </a:p>
        </p:txBody>
      </p:sp>
      <p:sp>
        <p:nvSpPr>
          <p:cNvPr id="222" name="Google Shape;222;p34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3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Express Scope as Search Query</a:t>
            </a:r>
            <a:endParaRPr/>
          </a:p>
        </p:txBody>
      </p:sp>
      <p:sp>
        <p:nvSpPr>
          <p:cNvPr id="228" name="Google Shape;228;p3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Codify scope as search query, usually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By conjunction of search terms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Choice of search engines, for example,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Google Scholar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ACM Digital Library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IEEE Press Digital Library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Commercial libraries e.g. Elsevier, Springer, Wiley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To learn more about commercial libraries, see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https://deal-konsortium.de/</a:t>
            </a:r>
            <a:r>
              <a:rPr lang="en"/>
              <a:t>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4"/>
              </a:rPr>
              <a:t>https://sci-hub.ru/</a:t>
            </a:r>
            <a:r>
              <a:rPr lang="en"/>
              <a:t> </a:t>
            </a:r>
            <a:endParaRPr/>
          </a:p>
        </p:txBody>
      </p:sp>
      <p:sp>
        <p:nvSpPr>
          <p:cNvPr id="229" name="Google Shape;229;p35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5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Search Query</a:t>
            </a:r>
            <a:endParaRPr/>
          </a:p>
        </p:txBody>
      </p:sp>
      <p:sp>
        <p:nvSpPr>
          <p:cNvPr id="235" name="Google Shape;235;p3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Benefits of pre-Requirements-Specification traceability</a:t>
            </a:r>
            <a:endParaRPr/>
          </a:p>
          <a:p>
            <a:pPr indent="-342900" lvl="0" marL="45720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“pre-requirements specification traceability” OR</a:t>
            </a:r>
            <a:br>
              <a:rPr lang="en">
                <a:solidFill>
                  <a:srgbClr val="000000"/>
                </a:solidFill>
              </a:rPr>
            </a:br>
            <a:r>
              <a:rPr lang="en">
                <a:solidFill>
                  <a:srgbClr val="000000"/>
                </a:solidFill>
              </a:rPr>
              <a:t>“pre-requirements specification” OR</a:t>
            </a:r>
            <a:br>
              <a:rPr lang="en">
                <a:solidFill>
                  <a:srgbClr val="000000"/>
                </a:solidFill>
              </a:rPr>
            </a:br>
            <a:r>
              <a:rPr lang="en">
                <a:solidFill>
                  <a:srgbClr val="000000"/>
                </a:solidFill>
              </a:rPr>
              <a:t>“requirements provenance”</a:t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36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3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Keywords and Statistics</a:t>
            </a:r>
            <a:endParaRPr/>
          </a:p>
        </p:txBody>
      </p:sp>
      <p:sp>
        <p:nvSpPr>
          <p:cNvPr id="242" name="Google Shape;242;p37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graphicFrame>
        <p:nvGraphicFramePr>
          <p:cNvPr id="243" name="Google Shape;243;p37"/>
          <p:cNvGraphicFramePr/>
          <p:nvPr/>
        </p:nvGraphicFramePr>
        <p:xfrm>
          <a:off x="274320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{0029CF45-E60A-4E5A-9FDD-1CB366E1C941}</a:tableStyleId>
              </a:tblPr>
              <a:tblGrid>
                <a:gridCol w="2926800"/>
                <a:gridCol w="1417125"/>
                <a:gridCol w="1417125"/>
                <a:gridCol w="1417125"/>
                <a:gridCol w="1417125"/>
              </a:tblGrid>
              <a:tr h="731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Search term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Google Scholar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IEEE DL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ACM DL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Web of Science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  <a:tr h="731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“pre-requirements specification traceability”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62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7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31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“pre-requirements </a:t>
                      </a:r>
                      <a:r>
                        <a:rPr lang="en"/>
                        <a:t>specification</a:t>
                      </a:r>
                      <a:r>
                        <a:rPr lang="en"/>
                        <a:t>”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133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20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6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731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“requirements provenance”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42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11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Evaluate Basic Fit</a:t>
            </a:r>
            <a:endParaRPr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Perform search using search query and search engine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For each found article, review its basic fit towards search scope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For each relevant article, perform forward and backward snowballing [1]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Backward snowballing: Review reference list of article at hand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Forward snowballing: Search for articles citing the one at hand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Snowballing may well lead you to change the search query!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251" name="Google Shape;251;p38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 </a:t>
            </a:r>
            <a:r>
              <a:rPr lang="en"/>
              <a:t>Wohlin (2014): Guidelines for snowballing in systematic literature reviews.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Basic Fit Criteria</a:t>
            </a:r>
            <a:endParaRPr/>
          </a:p>
        </p:txBody>
      </p:sp>
      <p:sp>
        <p:nvSpPr>
          <p:cNvPr id="257" name="Google Shape;257;p3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Basic fit criteria are formal criteria to include or exclude literature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English language?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Peer-reviewed publication?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 primary study?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The decision should be made at a glance</a:t>
            </a:r>
            <a:endParaRPr/>
          </a:p>
        </p:txBody>
      </p:sp>
      <p:sp>
        <p:nvSpPr>
          <p:cNvPr id="258" name="Google Shape;258;p39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4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Document the Search Process</a:t>
            </a:r>
            <a:endParaRPr/>
          </a:p>
        </p:txBody>
      </p:sp>
      <p:sp>
        <p:nvSpPr>
          <p:cNvPr id="264" name="Google Shape;264;p4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Document search queries, for example,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Date of search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Name of library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Document results of search queries, for example,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Article reference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Location (URL)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Use log book for documentation</a:t>
            </a:r>
            <a:endParaRPr/>
          </a:p>
        </p:txBody>
      </p:sp>
      <p:sp>
        <p:nvSpPr>
          <p:cNvPr id="265" name="Google Shape;265;p40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1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4. Study Filter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4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Searching for studies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Define scope of search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Express scope as search query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Search and evaluate basic fit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Document the process [1]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Filtering the studies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 startAt="5"/>
            </a:pPr>
            <a:r>
              <a:rPr b="1" lang="en"/>
              <a:t>Filter for relevance</a:t>
            </a:r>
            <a:endParaRPr b="1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 startAt="5"/>
            </a:pPr>
            <a:r>
              <a:rPr b="1" lang="en"/>
              <a:t>Filter for quality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4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Filtering Process</a:t>
            </a:r>
            <a:endParaRPr/>
          </a:p>
        </p:txBody>
      </p:sp>
      <p:sp>
        <p:nvSpPr>
          <p:cNvPr id="277" name="Google Shape;277;p42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pic>
        <p:nvPicPr>
          <p:cNvPr id="278" name="Google Shape;278;p4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126425" y="914400"/>
            <a:ext cx="2743200" cy="37736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Filter for Relevance</a:t>
            </a:r>
            <a:endParaRPr/>
          </a:p>
        </p:txBody>
      </p:sp>
      <p:sp>
        <p:nvSpPr>
          <p:cNvPr id="284" name="Google Shape;284;p4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 each retrieved article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First read title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Next read abstract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Finally read article, if necessary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Use inclusion and exclusion criteria to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Keep or drop the article at hand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If possible, use second researcher to perform same task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Ensure that disagreements are discussed and resolved</a:t>
            </a:r>
            <a:endParaRPr/>
          </a:p>
        </p:txBody>
      </p:sp>
      <p:sp>
        <p:nvSpPr>
          <p:cNvPr id="285" name="Google Shape;285;p43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4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Inclusion and Exclusion Criteria</a:t>
            </a:r>
            <a:endParaRPr/>
          </a:p>
        </p:txBody>
      </p:sp>
      <p:sp>
        <p:nvSpPr>
          <p:cNvPr id="291" name="Google Shape;291;p4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 the research question to define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Inclusion criteria (keep study)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Exclusion criteria (drop study)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Ensure reliability of interpretation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Try to operationalize criteria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Have second researcher</a:t>
            </a:r>
            <a:endParaRPr/>
          </a:p>
        </p:txBody>
      </p:sp>
      <p:sp>
        <p:nvSpPr>
          <p:cNvPr id="292" name="Google Shape;292;p44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Relevance Criteria</a:t>
            </a:r>
            <a:endParaRPr/>
          </a:p>
        </p:txBody>
      </p:sp>
      <p:sp>
        <p:nvSpPr>
          <p:cNvPr id="298" name="Google Shape;298;p4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Basic fit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Is it a duplicate?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Is it written in English?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Relevance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Is it the right type of study?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Does it fit the research question?</a:t>
            </a:r>
            <a:endParaRPr/>
          </a:p>
        </p:txBody>
      </p:sp>
      <p:sp>
        <p:nvSpPr>
          <p:cNvPr id="299" name="Google Shape;299;p45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Filter for Quality</a:t>
            </a:r>
            <a:endParaRPr/>
          </a:p>
        </p:txBody>
      </p:sp>
      <p:sp>
        <p:nvSpPr>
          <p:cNvPr id="305" name="Google Shape;305;p4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 each relevant article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Read the article carefully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Qualify the article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Filter the article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06" name="Google Shape;306;p46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4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Quality Filters</a:t>
            </a:r>
            <a:endParaRPr/>
          </a:p>
        </p:txBody>
      </p:sp>
      <p:sp>
        <p:nvSpPr>
          <p:cNvPr id="312" name="Google Shape;312;p4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 an existing quality model [1] or create your own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Rank order by type of research, for example,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Controlled experiments over case studies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Case studies over qualitative surveys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Within each type of research, create quality levels, for example based on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Scope / breadth of evidence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Recognized biases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Define a minimum expected quality level as the filter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47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314" name="Google Shape;314;p47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For example, the OCEBM Levels of Evidence model, see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https://www.cebm.ox.ac.uk/resources/levels-of-evidence/ocebm-levels-of-evidence</a:t>
            </a:r>
            <a:r>
              <a:rPr lang="en"/>
              <a:t>  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4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Illustration of Potential Quality Model and Its Problems</a:t>
            </a:r>
            <a:endParaRPr/>
          </a:p>
        </p:txBody>
      </p:sp>
      <p:sp>
        <p:nvSpPr>
          <p:cNvPr id="320" name="Google Shape;320;p48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pic>
        <p:nvPicPr>
          <p:cNvPr id="321" name="Google Shape;32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502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4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Dealing with Gray Literature</a:t>
            </a:r>
            <a:endParaRPr/>
          </a:p>
        </p:txBody>
      </p:sp>
      <p:sp>
        <p:nvSpPr>
          <p:cNvPr id="327" name="Google Shape;327;p4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Gray literature can be included if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It is important for the research question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Gray literature can be excluded if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 are enough on-point primary studies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See Booth et al. (2016), p. 120, for a discussion of gray literature in SLRs</a:t>
            </a:r>
            <a:endParaRPr/>
          </a:p>
        </p:txBody>
      </p:sp>
      <p:sp>
        <p:nvSpPr>
          <p:cNvPr id="328" name="Google Shape;328;p49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5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Document the Filtering Process</a:t>
            </a:r>
            <a:endParaRPr/>
          </a:p>
        </p:txBody>
      </p:sp>
      <p:sp>
        <p:nvSpPr>
          <p:cNvPr id="334" name="Google Shape;334;p5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Document decisions for inclusion or exclusion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actual decision taken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reason for the decision (which criterion matched or was violated)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Track numbers along the search and filter funnel; at least the three stages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Is returned by query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Describes a relevant study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Passes expected quality threshold</a:t>
            </a:r>
            <a:endParaRPr/>
          </a:p>
        </p:txBody>
      </p:sp>
      <p:sp>
        <p:nvSpPr>
          <p:cNvPr id="335" name="Google Shape;335;p50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0" name="Google Shape;340;p51" title="Screenshot from 2025-05-25 15-19-08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5" name="Google Shape;345;p52" title="Screenshot from 2025-05-25 15-17-3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57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4. Data Analysis</a:t>
            </a:r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5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Analysis</a:t>
            </a:r>
            <a:endParaRPr/>
          </a:p>
        </p:txBody>
      </p:sp>
      <p:sp>
        <p:nvSpPr>
          <p:cNvPr id="372" name="Google Shape;372;p5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Analyze data can be split into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Extract data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Synthesize data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There are two types of data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Descriptive metadata i.e. statistics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Content used for theory building</a:t>
            </a:r>
            <a:endParaRPr/>
          </a:p>
        </p:txBody>
      </p:sp>
      <p:sp>
        <p:nvSpPr>
          <p:cNvPr id="373" name="Google Shape;373;p58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pic>
        <p:nvPicPr>
          <p:cNvPr id="374" name="Google Shape;374;p5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126425" y="914400"/>
            <a:ext cx="2743200" cy="37736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Extract Descriptive Data</a:t>
            </a:r>
            <a:endParaRPr/>
          </a:p>
        </p:txBody>
      </p:sp>
      <p:sp>
        <p:nvSpPr>
          <p:cNvPr id="380" name="Google Shape;380;p59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381" name="Google Shape;381;p5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Extract relevant statistical data from articles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Total number of articles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Keyword-article relationship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Trace to article (keyword, snowballing)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No citations by article (distribution)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Year of publication (distribution)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…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Focus on the article metadata, not the content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6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Interpret Descriptive Data</a:t>
            </a:r>
            <a:endParaRPr/>
          </a:p>
        </p:txBody>
      </p:sp>
      <p:sp>
        <p:nvSpPr>
          <p:cNvPr id="387" name="Google Shape;387;p6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Interpret the data using simple means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To recognize keyword trends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To recognize publication trends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Some descriptive analysis may also be interesting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Who is publishing?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88" name="Google Shape;388;p60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6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Qualitative Data Analysis</a:t>
            </a:r>
            <a:endParaRPr/>
          </a:p>
        </p:txBody>
      </p:sp>
      <p:sp>
        <p:nvSpPr>
          <p:cNvPr id="394" name="Google Shape;394;p6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Perform qualitative data analysis using an appropriate method, e.g.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Corbin &amp; Strauss (2012): Grounded theory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Brown &amp; Clarke (2012): Thematic analysis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95" name="Google Shape;395;p61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6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Coding Statistics</a:t>
            </a:r>
            <a:endParaRPr/>
          </a:p>
        </p:txBody>
      </p:sp>
      <p:sp>
        <p:nvSpPr>
          <p:cNvPr id="401" name="Google Shape;401;p62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graphicFrame>
        <p:nvGraphicFramePr>
          <p:cNvPr id="402" name="Google Shape;402;p62"/>
          <p:cNvGraphicFramePr/>
          <p:nvPr/>
        </p:nvGraphicFramePr>
        <p:xfrm>
          <a:off x="274320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{0029CF45-E60A-4E5A-9FDD-1CB366E1C941}</a:tableStyleId>
              </a:tblPr>
              <a:tblGrid>
                <a:gridCol w="4297675"/>
                <a:gridCol w="4297675"/>
              </a:tblGrid>
              <a:tr h="4023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Codes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Number of codings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  <a:tr h="4023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Requirements Traceability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5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023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Pre-RS traceability general (+ subcodes)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81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4023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Applying pre-RS traceability (+ subcodes)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31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023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Use cases and benefits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249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4023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Problems and challenges (+ subcodes)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275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023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Consequences of poor pre-RS traceability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5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4023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Solutions and suggestions (+ subcodes)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258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023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Trace techniques (+ subcodes)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212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4023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Trace tools (+ subcodes)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48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6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Demonstration of Saturation</a:t>
            </a:r>
            <a:endParaRPr/>
          </a:p>
        </p:txBody>
      </p:sp>
      <p:sp>
        <p:nvSpPr>
          <p:cNvPr id="408" name="Google Shape;408;p63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pic>
        <p:nvPicPr>
          <p:cNvPr id="409" name="Google Shape;409;p6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20760" y="914400"/>
            <a:ext cx="5302480" cy="41147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64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5. Quality Assurance</a:t>
            </a:r>
            <a:endParaRPr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8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p6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Relevant Quality Criteria</a:t>
            </a:r>
            <a:endParaRPr/>
          </a:p>
        </p:txBody>
      </p:sp>
      <p:sp>
        <p:nvSpPr>
          <p:cNvPr id="420" name="Google Shape;420;p6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Clear selection criteria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Complete and exhaustive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Clear documentation of methods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Searching and filtering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Data analysis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1200"/>
              </a:spcAft>
              <a:buSzPts val="1800"/>
              <a:buAutoNum type="arabicPeriod"/>
            </a:pPr>
            <a:r>
              <a:rPr lang="en"/>
              <a:t>Clear chain of evidence to results</a:t>
            </a:r>
            <a:endParaRPr/>
          </a:p>
        </p:txBody>
      </p:sp>
      <p:sp>
        <p:nvSpPr>
          <p:cNvPr id="421" name="Google Shape;421;p65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5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6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427" name="Google Shape;427;p6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Systematic reviews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Research design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Study search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Study filter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Data analysis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Quality assurance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428" name="Google Shape;428;p66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2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67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 Any questions?</a:t>
            </a:r>
            <a:endParaRPr/>
          </a:p>
        </p:txBody>
      </p:sp>
      <p:sp>
        <p:nvSpPr>
          <p:cNvPr id="434" name="Google Shape;434;p67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dirk.riehle@fau.de</a:t>
            </a:r>
            <a:r>
              <a:rPr lang="en"/>
              <a:t> </a:t>
            </a:r>
            <a:r>
              <a:rPr lang="en" sz="2400"/>
              <a:t>–</a:t>
            </a:r>
            <a:r>
              <a:rPr lang="en"/>
              <a:t>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https://oss.cs.fau.de</a:t>
            </a:r>
            <a:endParaRPr/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u="sng">
                <a:solidFill>
                  <a:schemeClr val="hlink"/>
                </a:solidFill>
                <a:hlinkClick r:id="rId5"/>
              </a:rPr>
              <a:t>dirk@riehle.org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6"/>
              </a:rPr>
              <a:t>https://dirkriehle.com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7"/>
              </a:rPr>
              <a:t>@dirkriehle</a:t>
            </a:r>
            <a:endParaRPr sz="240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Legal Notices</a:t>
            </a:r>
            <a:endParaRPr/>
          </a:p>
        </p:txBody>
      </p:sp>
      <p:sp>
        <p:nvSpPr>
          <p:cNvPr id="440" name="Google Shape;440;p68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441" name="Google Shape;441;p6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License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Licensed under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CC BY 4.0 International</a:t>
            </a:r>
            <a:r>
              <a:rPr lang="en"/>
              <a:t> license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Copyright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© 2012-2025 Dirk Riehle, some rights reserved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NYT Slides Template">
  <a:themeElements>
    <a:clrScheme name="Simple Light">
      <a:dk1>
        <a:srgbClr val="000000"/>
      </a:dk1>
      <a:lt1>
        <a:srgbClr val="FFFFFF"/>
      </a:lt1>
      <a:dk2>
        <a:srgbClr val="404040"/>
      </a:dk2>
      <a:lt2>
        <a:srgbClr val="808080"/>
      </a:lt2>
      <a:accent1>
        <a:srgbClr val="D0D0D0"/>
      </a:accent1>
      <a:accent2>
        <a:srgbClr val="4169E1"/>
      </a:accent2>
      <a:accent3>
        <a:srgbClr val="D50D01"/>
      </a:accent3>
      <a:accent4>
        <a:srgbClr val="FEB612"/>
      </a:accent4>
      <a:accent5>
        <a:srgbClr val="4CAF50"/>
      </a:accent5>
      <a:accent6>
        <a:srgbClr val="8E44AD"/>
      </a:accent6>
      <a:hlink>
        <a:srgbClr val="34A3C5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
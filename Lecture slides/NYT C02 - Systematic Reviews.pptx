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Dirk RIEHL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7C993E1-8C5E-4FA1-A07D-908E8BCB2323}">
  <a:tblStyle styleId="{F7C993E1-8C5E-4FA1-A07D-908E8BCB23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20" Type="http://schemas.openxmlformats.org/officeDocument/2006/relationships/slide" Target="slides/slide13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22" Type="http://schemas.openxmlformats.org/officeDocument/2006/relationships/slide" Target="slides/slide15.xml"/><Relationship Id="rId66" Type="http://schemas.openxmlformats.org/officeDocument/2006/relationships/slide" Target="slides/slide59.xml"/><Relationship Id="rId21" Type="http://schemas.openxmlformats.org/officeDocument/2006/relationships/slide" Target="slides/slide14.xml"/><Relationship Id="rId65" Type="http://schemas.openxmlformats.org/officeDocument/2006/relationships/slide" Target="slides/slide58.xml"/><Relationship Id="rId24" Type="http://schemas.openxmlformats.org/officeDocument/2006/relationships/slide" Target="slides/slide17.xml"/><Relationship Id="rId68" Type="http://schemas.openxmlformats.org/officeDocument/2006/relationships/slide" Target="slides/slide61.xml"/><Relationship Id="rId23" Type="http://schemas.openxmlformats.org/officeDocument/2006/relationships/slide" Target="slides/slide16.xml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69" Type="http://schemas.openxmlformats.org/officeDocument/2006/relationships/slide" Target="slides/slide62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slide" Target="slides/slide48.xml"/><Relationship Id="rId10" Type="http://schemas.openxmlformats.org/officeDocument/2006/relationships/slide" Target="slides/slide3.xml"/><Relationship Id="rId54" Type="http://schemas.openxmlformats.org/officeDocument/2006/relationships/slide" Target="slides/slide47.xml"/><Relationship Id="rId13" Type="http://schemas.openxmlformats.org/officeDocument/2006/relationships/slide" Target="slides/slide6.xml"/><Relationship Id="rId57" Type="http://schemas.openxmlformats.org/officeDocument/2006/relationships/slide" Target="slides/slide50.xml"/><Relationship Id="rId12" Type="http://schemas.openxmlformats.org/officeDocument/2006/relationships/slide" Target="slides/slide5.xml"/><Relationship Id="rId56" Type="http://schemas.openxmlformats.org/officeDocument/2006/relationships/slide" Target="slides/slide49.xml"/><Relationship Id="rId15" Type="http://schemas.openxmlformats.org/officeDocument/2006/relationships/slide" Target="slides/slide8.xml"/><Relationship Id="rId59" Type="http://schemas.openxmlformats.org/officeDocument/2006/relationships/slide" Target="slides/slide52.xml"/><Relationship Id="rId14" Type="http://schemas.openxmlformats.org/officeDocument/2006/relationships/slide" Target="slides/slide7.xml"/><Relationship Id="rId58" Type="http://schemas.openxmlformats.org/officeDocument/2006/relationships/slide" Target="slides/slide51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5-18T14:42:17.521">
    <p:pos x="0" y="0"/>
    <p:text>@riehle@group.riehle.org Clarify later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c2d70f18b5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c2d70f18b5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9a75298584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9a75298584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db5ccdfa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db5ccdfa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f9bad1e8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f9bad1e8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14e2fb27b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14e2fb27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25a7049bb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125a7049bb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14e2fb27b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214e2fb27b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14e2fb27b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14e2fb27b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14e2fb27b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14e2fb27b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14e2fb27b2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14e2fb27b2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14e2fb27b2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14e2fb27b2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125a7049bb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125a7049bb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14e2fb27b2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14e2fb27b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25a7049bb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25a7049bb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16a49f514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16a49f514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214e2fb27b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214e2fb27b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233e8de66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2233e8de66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c23ba4905f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c23ba4905f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233e8de662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233e8de66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14e2fb27b2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14e2fb27b2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233e8de66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233e8de66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233e8de662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233e8de662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c2d70f18b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2c2d70f18b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233e8de662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233e8de662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33e8de662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2233e8de662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233e8de662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2233e8de66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233e8de662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2233e8de662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14e2fb27b2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214e2fb27b2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14e2fb27b2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214e2fb27b2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2c23ba4905f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2c23ba4905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16a49f5147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216a49f5147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14e2fb27b2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14e2fb27b2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16a49f5147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16a49f5147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233e8de662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2233e8de662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233e8de662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2233e8de662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c2d70f18b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2c2d70f18b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14e2fb27b2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14e2fb27b2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233e8de662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2233e8de662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233e8de662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2233e8de662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2233e8de662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2233e8de662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233e8de662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2233e8de662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233e8de662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2233e8de662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233e8de662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233e8de662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2233e8de662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2233e8de662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5cf7ad6d9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5cf7ad6d9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5cf7ad6d9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35cf7ad6d9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5cf7ad6d9b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5cf7ad6d9b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5cf7ad6d9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5cf7ad6d9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5cf7ad6d9b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5cf7ad6d9b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5cf7ad6d9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5cf7ad6d9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214e2fb27b2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214e2fb27b2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233e8de662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233e8de662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214e2fb27b2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214e2fb27b2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c2d70f18b5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2c2d70f18b5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216a49f514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216a49f514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16a49f514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216a49f514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16a49f5147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16a49f5147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14e2fb27b2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214e2fb27b2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16a49f514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216a49f514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16a49f514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216a49f514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8715bace2b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38715bace2b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8715bace2b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8715bace2b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https://uni1.de/nyt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uni1.de/ny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uni1.de/nyt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uni1.de/ny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uni1.de/nyt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1.xml"/><Relationship Id="rId4" Type="http://schemas.openxmlformats.org/officeDocument/2006/relationships/hyperlink" Target="https://uni1.de/ny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uni1.de/nyt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uni1.de/nyt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hyperlink" Target="https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uni1.de/nyt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uni1.de/nyt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uni1.de/nyt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uni1.de/nyt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uni1.de/nyt" TargetMode="External"/><Relationship Id="rId4" Type="http://schemas.openxmlformats.org/officeDocument/2006/relationships/hyperlink" Target="https://prisma-statement.org/protocols/" TargetMode="External"/><Relationship Id="rId5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uni1.de/nyt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uni1.de/nyt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uni1.de/nyt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eal-konsortium.de/" TargetMode="External"/><Relationship Id="rId4" Type="http://schemas.openxmlformats.org/officeDocument/2006/relationships/hyperlink" Target="https://sci-hub.ru/" TargetMode="External"/><Relationship Id="rId5" Type="http://schemas.openxmlformats.org/officeDocument/2006/relationships/hyperlink" Target="https://uni1.de/nyt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uni1.de/nyt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uni1.de/nyt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uni1.de/nyt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uni1.de/nyt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uni1.de/nyt" TargetMode="External"/><Relationship Id="rId4" Type="http://schemas.openxmlformats.org/officeDocument/2006/relationships/hyperlink" Target="https://www.cebm.ox.ac.uk/resources/levels-of-evidence/ocebm-levels-of-evidenc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7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uni1.de/nyt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2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3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5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6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4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7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1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s://uni1.de/nyt" TargetMode="Externa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s://uni1.de/nyt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uni1.de/nyt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s://uni1.de/nyt" TargetMode="Externa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11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s://uni1.de/nyt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hyperlink" Target="https://uni1.de/nyt" TargetMode="Externa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Relationship Id="rId3" Type="http://schemas.openxmlformats.org/officeDocument/2006/relationships/hyperlink" Target="https://uni1.de/nyt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Systematic Reviews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C02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Content and Structure</a:t>
            </a:r>
            <a:endParaRPr/>
          </a:p>
        </p:txBody>
      </p:sp>
      <p:sp>
        <p:nvSpPr>
          <p:cNvPr id="58" name="Google Shape;58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Overview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science?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Scientific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data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Theory building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AutoNum type="arabicPeriod" startAt="4"/>
            </a:pPr>
            <a:r>
              <a:rPr b="1" lang="en">
                <a:solidFill>
                  <a:schemeClr val="accent3"/>
                </a:solidFill>
              </a:rPr>
              <a:t>Systematic reviews</a:t>
            </a:r>
            <a:endParaRPr b="1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Case study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validation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Theory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Survey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Controlled experiments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Comprehensive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2"/>
            </a:pPr>
            <a:r>
              <a:rPr lang="en"/>
              <a:t>Design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Academia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writing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publishing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Systematic</a:t>
            </a:r>
            <a:r>
              <a:rPr lang="en"/>
              <a:t>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Study 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Study filter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</p:txBody>
      </p:sp>
      <p:sp>
        <p:nvSpPr>
          <p:cNvPr id="66" name="Google Shape;66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Systematic Reviews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literature review</a:t>
            </a:r>
            <a:r>
              <a:rPr lang="en"/>
              <a:t>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 of existing literature for purposes of theory building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a literature review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Relevant literature is sought out,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Data is extracted</a:t>
            </a:r>
            <a:r>
              <a:rPr lang="en"/>
              <a:t> towards a research question,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Data is s</a:t>
            </a:r>
            <a:r>
              <a:rPr b="1" lang="en"/>
              <a:t>ynthesized</a:t>
            </a:r>
            <a:r>
              <a:rPr lang="en"/>
              <a:t> towards an answer, the new or revised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 literature review should follow a systematic literature review methodology</a:t>
            </a:r>
            <a:endParaRPr/>
          </a:p>
        </p:txBody>
      </p:sp>
      <p:sp>
        <p:nvSpPr>
          <p:cNvPr id="78" name="Google Shape;78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Literature Review</a:t>
            </a:r>
            <a:endParaRPr/>
          </a:p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Literature Reviews</a:t>
            </a:r>
            <a:endParaRPr/>
          </a:p>
        </p:txBody>
      </p:sp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literature reviews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Traditional or narrative literature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literature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Meta-syntheses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Related, but not a type of literature review as defined here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Meta-analyses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Not a (scientific) type of literature review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Related work (review)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Related Work Review</a:t>
            </a:r>
            <a:endParaRPr/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related work review is a research practice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Compares and contrasts</a:t>
            </a:r>
            <a:r>
              <a:rPr lang="en"/>
              <a:t> existing research with current or planned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lang="en"/>
              <a:t>related</a:t>
            </a:r>
            <a:r>
              <a:rPr lang="en"/>
              <a:t> work review is most commonly performed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research paper to bring out what is novel about the presented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final thesis to clarify the thesis work’ </a:t>
            </a:r>
            <a:r>
              <a:rPr lang="en"/>
              <a:t>relationship</a:t>
            </a:r>
            <a:r>
              <a:rPr lang="en"/>
              <a:t> to existing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other words, it is a justification for what’s to be presented</a:t>
            </a:r>
            <a:endParaRPr/>
          </a:p>
        </p:txBody>
      </p:sp>
      <p:sp>
        <p:nvSpPr>
          <p:cNvPr id="93" name="Google Shape;93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 or Narrative Literature Reviews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 (or narrative) literature reviews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Choose research question</a:t>
            </a:r>
            <a:r>
              <a:rPr lang="en"/>
              <a:t> to answer using traditional literature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Perform comprehensive</a:t>
            </a:r>
            <a:r>
              <a:rPr lang="en"/>
              <a:t> (researcher-expertise-driven)</a:t>
            </a:r>
            <a:r>
              <a:rPr b="1" lang="en"/>
              <a:t> search</a:t>
            </a:r>
            <a:r>
              <a:rPr lang="en"/>
              <a:t> for literature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Evaluate relevance</a:t>
            </a:r>
            <a:r>
              <a:rPr lang="en"/>
              <a:t> (strengths and weaknesses) of found literature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Summarize findings</a:t>
            </a:r>
            <a:r>
              <a:rPr lang="en"/>
              <a:t> with respect to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Traditional literature reviews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Lack rigor (but rely on the researcher’s expertise)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best viewed as well-reasoned opinions [DR]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Systematic Literature Reviews (SLRs)</a:t>
            </a:r>
            <a:endParaRPr/>
          </a:p>
        </p:txBody>
      </p:sp>
      <p:sp>
        <p:nvSpPr>
          <p:cNvPr id="106" name="Google Shape;106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SLRs </a:t>
            </a:r>
            <a:r>
              <a:rPr lang="en"/>
              <a:t>are a systematic approach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Finding and analyzing primary studies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SLRs are a form of systematic review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all systematic reviews are SLRs (but most are)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methodology descriptions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Kitchenham et al. (2023), Booth et al. (2016)</a:t>
            </a:r>
            <a:endParaRPr/>
          </a:p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08" name="Google Shape;10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Meta-Syntheses</a:t>
            </a:r>
            <a:endParaRPr/>
          </a:p>
        </p:txBody>
      </p:sp>
      <p:sp>
        <p:nvSpPr>
          <p:cNvPr id="114" name="Google Shape;114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15" name="Google Shape;115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Meta-syntheses are structured literature reviews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theory building using a research method,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Braun &amp; Clarke (2012): Thematic analysis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Corbin &amp; Strauss (2008): Grounded theory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Meta-Analyses</a:t>
            </a:r>
            <a:endParaRPr/>
          </a:p>
        </p:txBody>
      </p:sp>
      <p:sp>
        <p:nvSpPr>
          <p:cNvPr id="121" name="Google Shape;121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Meta-analyses are literature analyses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Quantitatively aggregate findings from different studies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Derive a more comprehensive statistical conclusion to a hypothesis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Meta-analyses are not </a:t>
            </a:r>
            <a:r>
              <a:rPr lang="en"/>
              <a:t>theory</a:t>
            </a:r>
            <a:r>
              <a:rPr lang="en"/>
              <a:t> building, but hypothesis testing research</a:t>
            </a:r>
            <a:endParaRPr/>
          </a:p>
        </p:txBody>
      </p:sp>
      <p:sp>
        <p:nvSpPr>
          <p:cNvPr id="122" name="Google Shape;122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Research Design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SLR process consists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Defining the research question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Designing the systematic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Create research design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Create research protocol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Review research protocol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Register research protocol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Performing the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Search for studies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Filter for relevance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Filter for quality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Analyzing the data</a:t>
            </a:r>
            <a:endParaRPr/>
          </a:p>
        </p:txBody>
      </p:sp>
      <p:sp>
        <p:nvSpPr>
          <p:cNvPr id="133" name="Google Shape;133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Systematic Literature Reviews (SLRs)</a:t>
            </a:r>
            <a:endParaRPr/>
          </a:p>
        </p:txBody>
      </p: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35" name="Google Shape;135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SLRs are open to any (qualitative) research question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rely on primary materials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a type of secondary study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SLRs are useful for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Summarizing existing evidence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Identifying gaps in current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Building a new research framework (theory)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Research Questions</a:t>
            </a:r>
            <a:endParaRPr/>
          </a:p>
        </p:txBody>
      </p:sp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" y="1371600"/>
            <a:ext cx="8595360" cy="227299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2"/>
          <p:cNvSpPr txBox="1"/>
          <p:nvPr>
            <p:ph idx="1" type="body"/>
          </p:nvPr>
        </p:nvSpPr>
        <p:spPr>
          <a:xfrm>
            <a:off x="274325" y="914400"/>
            <a:ext cx="8595300" cy="45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Benefits of pre-Requirements-Specification traceability</a:t>
            </a:r>
            <a:endParaRPr/>
          </a:p>
        </p:txBody>
      </p:sp>
      <p:sp>
        <p:nvSpPr>
          <p:cNvPr id="149" name="Google Shape;149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Research Question</a:t>
            </a:r>
            <a:endParaRPr/>
          </a:p>
        </p:txBody>
      </p:sp>
      <p:sp>
        <p:nvSpPr>
          <p:cNvPr id="150" name="Google Shape;150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51" name="Google Shape;151;p22"/>
          <p:cNvSpPr/>
          <p:nvPr/>
        </p:nvSpPr>
        <p:spPr>
          <a:xfrm>
            <a:off x="2423160" y="1373751"/>
            <a:ext cx="1371600" cy="1371600"/>
          </a:xfrm>
          <a:prstGeom prst="ellipse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Primary </a:t>
            </a:r>
            <a:r>
              <a:rPr lang="en"/>
              <a:t>Materials</a:t>
            </a:r>
            <a:r>
              <a:rPr lang="en"/>
              <a:t> / Literature</a:t>
            </a:r>
            <a:endParaRPr/>
          </a:p>
        </p:txBody>
      </p:sp>
      <p:sp>
        <p:nvSpPr>
          <p:cNvPr id="157" name="Google Shape;157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Primary materials (for an SLR) is original research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 as presented in publications (i.e. literature)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also (but rarely) as the original research artifact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 cautious to include gray literature and explain if so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Gray literature is non-peer-reviewed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Examples are practitioner articles like blog posts</a:t>
            </a:r>
            <a:endParaRPr/>
          </a:p>
        </p:txBody>
      </p:sp>
      <p:sp>
        <p:nvSpPr>
          <p:cNvPr id="158" name="Google Shape;158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to take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Define</a:t>
            </a:r>
            <a:r>
              <a:rPr lang="en"/>
              <a:t> tasks and activities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Choose research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Choose supporting tools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Write research protocol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activities and methods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the following sections</a:t>
            </a:r>
            <a:endParaRPr/>
          </a:p>
        </p:txBody>
      </p:sp>
      <p:sp>
        <p:nvSpPr>
          <p:cNvPr id="164" name="Google Shape;164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Research Design</a:t>
            </a:r>
            <a:endParaRPr/>
          </a:p>
        </p:txBody>
      </p:sp>
      <p:sp>
        <p:nvSpPr>
          <p:cNvPr id="165" name="Google Shape;165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Tasks and Activities + Methods and Practices</a:t>
            </a:r>
            <a:endParaRPr/>
          </a:p>
        </p:txBody>
      </p:sp>
      <p:sp>
        <p:nvSpPr>
          <p:cNvPr id="171" name="Google Shape;171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and document tasks/activities and associated methods/practices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Study search (databases, search queries, …)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Relevance filter (inclusion/exclusion criteria, …)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Quality filter (research quality model, …)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Analysis method (e.g. thematic analysis)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Supporting Tools</a:t>
            </a:r>
            <a:endParaRPr/>
          </a:p>
        </p:txBody>
      </p:sp>
      <p:sp>
        <p:nvSpPr>
          <p:cNvPr id="178" name="Google Shape;178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Progress tracker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 book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Literature manager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Zotero, Mendeley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ResearchGate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File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A.k.a. log book, work log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your plan in a research protocol; this includes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Meta information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question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design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Overall process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Tasks and activities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Methods and practices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Document the what and explain the why of your choices</a:t>
            </a:r>
            <a:endParaRPr/>
          </a:p>
        </p:txBody>
      </p:sp>
      <p:sp>
        <p:nvSpPr>
          <p:cNvPr id="186" name="Google Shape;186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Research Protocol</a:t>
            </a:r>
            <a:endParaRPr/>
          </a:p>
        </p:txBody>
      </p:sp>
      <p:sp>
        <p:nvSpPr>
          <p:cNvPr id="187" name="Google Shape;187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 Using Prisma Statement [1] 1 / 2</a:t>
            </a:r>
            <a:endParaRPr/>
          </a:p>
        </p:txBody>
      </p:sp>
      <p:sp>
        <p:nvSpPr>
          <p:cNvPr id="193" name="Google Shape;193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4" name="Google Shape;194;p2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https://prisma-statement.org/protocols/</a:t>
            </a:r>
            <a:r>
              <a:rPr lang="en"/>
              <a:t> </a:t>
            </a:r>
            <a:endParaRPr/>
          </a:p>
        </p:txBody>
      </p:sp>
      <p:pic>
        <p:nvPicPr>
          <p:cNvPr id="195" name="Google Shape;195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8595359" cy="35240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rotocol Using Prisma Statement 2 / 2</a:t>
            </a:r>
            <a:endParaRPr/>
          </a:p>
        </p:txBody>
      </p:sp>
      <p:sp>
        <p:nvSpPr>
          <p:cNvPr id="201" name="Google Shape;201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02" name="Google Shape;20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59" cy="4161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Visualization of Research Design Process</a:t>
            </a:r>
            <a:endParaRPr/>
          </a:p>
        </p:txBody>
      </p:sp>
      <p:sp>
        <p:nvSpPr>
          <p:cNvPr id="208" name="Google Shape;208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09" name="Google Shape;209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2983229" cy="4114801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0"/>
          <p:cNvSpPr txBox="1"/>
          <p:nvPr>
            <p:ph idx="1" type="body"/>
          </p:nvPr>
        </p:nvSpPr>
        <p:spPr>
          <a:xfrm>
            <a:off x="3659898" y="914400"/>
            <a:ext cx="5209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addition to prose descriptions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Visualize the workflow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Strong in papers and theses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Ask your peers or pay outside experts for feedback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Consider using Spall (1998) for peer debriefing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Iterate until satisfied</a:t>
            </a:r>
            <a:endParaRPr/>
          </a:p>
        </p:txBody>
      </p:sp>
      <p:sp>
        <p:nvSpPr>
          <p:cNvPr id="216" name="Google Shape;216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 Research Protocol</a:t>
            </a:r>
            <a:endParaRPr/>
          </a:p>
        </p:txBody>
      </p:sp>
      <p:sp>
        <p:nvSpPr>
          <p:cNvPr id="217" name="Google Shape;217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Upload to arXiv (or similar registry / archive)</a:t>
            </a:r>
            <a:endParaRPr/>
          </a:p>
        </p:txBody>
      </p:sp>
      <p:sp>
        <p:nvSpPr>
          <p:cNvPr id="223" name="Google Shape;223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Register Research Protocol</a:t>
            </a:r>
            <a:endParaRPr/>
          </a:p>
        </p:txBody>
      </p:sp>
      <p:sp>
        <p:nvSpPr>
          <p:cNvPr id="224" name="Google Shape;224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Study Search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 for studies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Define scope of search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Express scope as search query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Search and evaluate basic fit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Document the process [1]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Filtering the studies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5"/>
            </a:pPr>
            <a:r>
              <a:rPr lang="en"/>
              <a:t>Filter for relevance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5"/>
            </a:pPr>
            <a:r>
              <a:rPr lang="en"/>
              <a:t>Filter for quality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Search Process</a:t>
            </a:r>
            <a:endParaRPr/>
          </a:p>
        </p:txBody>
      </p:sp>
      <p:sp>
        <p:nvSpPr>
          <p:cNvPr id="236" name="Google Shape;236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37" name="Google Shape;237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</a:t>
            </a:r>
            <a:r>
              <a:rPr lang="en"/>
              <a:t> Rethlefsen et al. (2021): Reporting literature searches in systematic reviews.</a:t>
            </a:r>
            <a:endParaRPr/>
          </a:p>
        </p:txBody>
      </p:sp>
      <p:pic>
        <p:nvPicPr>
          <p:cNvPr id="238" name="Google Shape;23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Scope of Search</a:t>
            </a:r>
            <a:endParaRPr/>
          </a:p>
        </p:txBody>
      </p:sp>
      <p:sp>
        <p:nvSpPr>
          <p:cNvPr id="244" name="Google Shape;244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search scope follows from the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Components of the scope definition can be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Research-question-specific terms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Meta-criteria like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Year / age of literature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Publication outlet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Type of article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Written language of article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Number of citations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Specify both inclusion and exclusion criteria!</a:t>
            </a:r>
            <a:endParaRPr/>
          </a:p>
        </p:txBody>
      </p:sp>
      <p:sp>
        <p:nvSpPr>
          <p:cNvPr id="245" name="Google Shape;245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Express Scope as Search Query</a:t>
            </a:r>
            <a:endParaRPr/>
          </a:p>
        </p:txBody>
      </p:sp>
      <p:sp>
        <p:nvSpPr>
          <p:cNvPr id="251" name="Google Shape;251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Codify scope as search query, usually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By conjunction of search terms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Choice of search engines,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Google Scholar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ACM Digital Library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IEEE Press Digital Library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Commercial libraries e.g. Elsevier, Springer, Wiley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To learn more about commercial libraries, see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https://deal-konsortium.de/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https://sci-hub.ru/</a:t>
            </a:r>
            <a:r>
              <a:rPr lang="en"/>
              <a:t> </a:t>
            </a:r>
            <a:endParaRPr/>
          </a:p>
        </p:txBody>
      </p:sp>
      <p:sp>
        <p:nvSpPr>
          <p:cNvPr id="252" name="Google Shape;252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Search Query</a:t>
            </a:r>
            <a:endParaRPr/>
          </a:p>
        </p:txBody>
      </p:sp>
      <p:sp>
        <p:nvSpPr>
          <p:cNvPr id="258" name="Google Shape;25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Benefits of pre-Requirements-Specification traceability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“pre-requirements specification traceability” OR</a:t>
            </a:r>
            <a:br>
              <a:rPr lang="en"/>
            </a:br>
            <a:r>
              <a:rPr lang="en"/>
              <a:t>“pre-requirements specification” OR</a:t>
            </a:r>
            <a:br>
              <a:rPr lang="en"/>
            </a:br>
            <a:r>
              <a:rPr lang="en"/>
              <a:t>“requirements provenance”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Or use alternative framing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(“benefits” OR “advantages” OR “gains) AND</a:t>
            </a:r>
            <a:br>
              <a:rPr lang="en"/>
            </a:br>
            <a:r>
              <a:rPr lang="en"/>
              <a:t>(“pre-RS” OR “pre-Requirements-Specification) AND</a:t>
            </a:r>
            <a:br>
              <a:rPr lang="en"/>
            </a:br>
            <a:r>
              <a:rPr lang="en"/>
              <a:t>(“traceability” OR “trace links”)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Keywords and Statistics</a:t>
            </a:r>
            <a:endParaRPr/>
          </a:p>
        </p:txBody>
      </p:sp>
      <p:sp>
        <p:nvSpPr>
          <p:cNvPr id="265" name="Google Shape;265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66" name="Google Shape;266;p38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{F7C993E1-8C5E-4FA1-A07D-908E8BCB2323}</a:tableStyleId>
              </a:tblPr>
              <a:tblGrid>
                <a:gridCol w="2926800"/>
                <a:gridCol w="1417125"/>
                <a:gridCol w="1417125"/>
                <a:gridCol w="1417125"/>
                <a:gridCol w="1417125"/>
              </a:tblGrid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Search term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Google Scholar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IEEE DL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ACM DL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Web of Science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“pre-requirements specification traceability”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“pre-requirements </a:t>
                      </a:r>
                      <a:r>
                        <a:rPr lang="en"/>
                        <a:t>specification</a:t>
                      </a:r>
                      <a:r>
                        <a:rPr lang="en"/>
                        <a:t>”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133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“requirements provenance”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Evaluate Basic Fit</a:t>
            </a:r>
            <a:endParaRPr/>
          </a:p>
        </p:txBody>
      </p:sp>
      <p:sp>
        <p:nvSpPr>
          <p:cNvPr id="272" name="Google Shape;272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 search using search query and search engine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each found article, review its basic fit towards search scope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each relevant article, perform forward and backward snowballing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Backward snowballing: Review reference list of article at hand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Forward snowballing: Search for articles citing the one at hand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Snowballing may well lead you to change the search query!</a:t>
            </a:r>
            <a:endParaRPr/>
          </a:p>
        </p:txBody>
      </p:sp>
      <p:sp>
        <p:nvSpPr>
          <p:cNvPr id="273" name="Google Shape;273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74" name="Google Shape;274;p3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/>
              <a:t>Wohlin (2014): Guidelines for snowballing in systematic literature reviews.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Fit Criteria</a:t>
            </a:r>
            <a:endParaRPr/>
          </a:p>
        </p:txBody>
      </p:sp>
      <p:sp>
        <p:nvSpPr>
          <p:cNvPr id="280" name="Google Shape;280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fit criteria are formal criteria to include or exclude literature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English language?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Peer-reviewed publication?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primary study?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decision should be made at a glance</a:t>
            </a:r>
            <a:endParaRPr/>
          </a:p>
        </p:txBody>
      </p:sp>
      <p:sp>
        <p:nvSpPr>
          <p:cNvPr id="281" name="Google Shape;281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the Search Process</a:t>
            </a:r>
            <a:endParaRPr/>
          </a:p>
        </p:txBody>
      </p:sp>
      <p:sp>
        <p:nvSpPr>
          <p:cNvPr id="287" name="Google Shape;287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search queries,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Date of 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of library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Document results of search queries,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Article reference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Location (URL)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Use log book for documentation</a:t>
            </a:r>
            <a:endParaRPr/>
          </a:p>
        </p:txBody>
      </p:sp>
      <p:sp>
        <p:nvSpPr>
          <p:cNvPr id="288" name="Google Shape;288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Study Filter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Searching for studies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Define scope of 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Express scope as search query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Search and evaluate basic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Document the process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Filtering the studies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5"/>
            </a:pPr>
            <a:r>
              <a:rPr b="1" lang="en"/>
              <a:t>Filter for relevance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5"/>
            </a:pPr>
            <a:r>
              <a:rPr b="1" lang="en"/>
              <a:t>Filter for quality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Filtering Process</a:t>
            </a:r>
            <a:endParaRPr/>
          </a:p>
        </p:txBody>
      </p:sp>
      <p:sp>
        <p:nvSpPr>
          <p:cNvPr id="300" name="Google Shape;300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01" name="Google Shape;301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Filter for Relevance</a:t>
            </a:r>
            <a:endParaRPr/>
          </a:p>
        </p:txBody>
      </p:sp>
      <p:sp>
        <p:nvSpPr>
          <p:cNvPr id="307" name="Google Shape;307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each retrieved article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 read title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Next read abstract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Finally read article, if necessary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 inclusion and exclusion criteria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Keep or drop the article at hand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possible, use second researcher to perform same task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that disagreements are discussed and resolved</a:t>
            </a:r>
            <a:endParaRPr/>
          </a:p>
        </p:txBody>
      </p:sp>
      <p:sp>
        <p:nvSpPr>
          <p:cNvPr id="308" name="Google Shape;308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Inclusion and Exclusion Criteria</a:t>
            </a:r>
            <a:endParaRPr/>
          </a:p>
        </p:txBody>
      </p:sp>
      <p:sp>
        <p:nvSpPr>
          <p:cNvPr id="314" name="Google Shape;314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the research question to define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Inclusion criteria (keep study)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Exclusion criteria (drop study)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Ensure reliability of interpretation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Try to operationalize criteria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second researcher</a:t>
            </a:r>
            <a:endParaRPr/>
          </a:p>
        </p:txBody>
      </p:sp>
      <p:sp>
        <p:nvSpPr>
          <p:cNvPr id="315" name="Google Shape;315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Relevance Criteria</a:t>
            </a:r>
            <a:endParaRPr/>
          </a:p>
        </p:txBody>
      </p:sp>
      <p:sp>
        <p:nvSpPr>
          <p:cNvPr id="321" name="Google Shape;321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Basic fit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it a duplicate?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it written in English?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Relevance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it the right type of study?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Does it fit the research question?</a:t>
            </a:r>
            <a:endParaRPr/>
          </a:p>
        </p:txBody>
      </p:sp>
      <p:sp>
        <p:nvSpPr>
          <p:cNvPr id="322" name="Google Shape;322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Filter for Quality</a:t>
            </a:r>
            <a:endParaRPr/>
          </a:p>
        </p:txBody>
      </p:sp>
      <p:sp>
        <p:nvSpPr>
          <p:cNvPr id="328" name="Google Shape;328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each relevant article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Read the article carefully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Qualify the article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Filter the article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Filters</a:t>
            </a:r>
            <a:endParaRPr/>
          </a:p>
        </p:txBody>
      </p:sp>
      <p:sp>
        <p:nvSpPr>
          <p:cNvPr id="335" name="Google Shape;335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an existing quality model [1] or create your own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Rank order by type of research,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Controlled experiments over case studies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studies over qualitative surveys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Within each type of research, create quality levels, for example based 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Scope / breadth of evidence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Recognized biases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Define a minimum expected quality level as the filter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37" name="Google Shape;337;p4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For example, the OCEBM Levels of Evidence model,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https://www.cebm.ox.ac.uk/resources/levels-of-evidence/ocebm-levels-of-evidence</a:t>
            </a:r>
            <a:r>
              <a:rPr lang="en"/>
              <a:t>  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Potential Quality Model and Its Problems</a:t>
            </a:r>
            <a:endParaRPr/>
          </a:p>
        </p:txBody>
      </p:sp>
      <p:sp>
        <p:nvSpPr>
          <p:cNvPr id="343" name="Google Shape;343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44" name="Google Shape;344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23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Dealing with Gray Literature</a:t>
            </a:r>
            <a:endParaRPr/>
          </a:p>
        </p:txBody>
      </p:sp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Gray literature can be included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important for the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Gray literature can be excluded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are enough on-point primary studies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See Booth et al. (2016), p. 120, for a discussion of gray literature in SLRs</a:t>
            </a:r>
            <a:endParaRPr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the Filtering Process</a:t>
            </a:r>
            <a:endParaRPr/>
          </a:p>
        </p:txBody>
      </p:sp>
      <p:sp>
        <p:nvSpPr>
          <p:cNvPr id="357" name="Google Shape;357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decisions for inclusion or exclusion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actual decision taken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reason for the decision (which criterion matched or was violated)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Track numbers along the search and filter funnel; at least the three stages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returned by query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Describes a relevant study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Passes expected quality threshold</a:t>
            </a:r>
            <a:endParaRPr/>
          </a:p>
        </p:txBody>
      </p:sp>
      <p:sp>
        <p:nvSpPr>
          <p:cNvPr id="358" name="Google Shape;358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52" title="Screenshot from 2025-05-25 15-19-0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p53" title="Screenshot from 2025-05-25 15-17-3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5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Data Analysis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Analysis</a:t>
            </a:r>
            <a:endParaRPr/>
          </a:p>
        </p:txBody>
      </p:sp>
      <p:sp>
        <p:nvSpPr>
          <p:cNvPr id="395" name="Google Shape;395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 can be split into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Extract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Synthesize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are two types of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Descriptive metadata i.e. statistics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Content used for theory building</a:t>
            </a:r>
            <a:endParaRPr/>
          </a:p>
        </p:txBody>
      </p:sp>
      <p:sp>
        <p:nvSpPr>
          <p:cNvPr id="396" name="Google Shape;396;p5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97" name="Google Shape;397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Extract Descriptive Data</a:t>
            </a:r>
            <a:endParaRPr/>
          </a:p>
        </p:txBody>
      </p:sp>
      <p:sp>
        <p:nvSpPr>
          <p:cNvPr id="403" name="Google Shape;403;p6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404" name="Google Shape;404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Extract relevant statistical data from articles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Total number of articles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Keyword-article relationship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Trace to article (keyword, snowballing)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No citations by article (distribution)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Year of publication (distribution)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Focus on the article metadata, not the content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Interpret Descriptive Data</a:t>
            </a:r>
            <a:endParaRPr/>
          </a:p>
        </p:txBody>
      </p:sp>
      <p:sp>
        <p:nvSpPr>
          <p:cNvPr id="410" name="Google Shape;410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Interpret the data using simple means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recognize keyword trends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recognize publication trends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Some descriptive analysis may also be interesting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publishing?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6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</a:t>
            </a:r>
            <a:endParaRPr/>
          </a:p>
        </p:txBody>
      </p:sp>
      <p:sp>
        <p:nvSpPr>
          <p:cNvPr id="417" name="Google Shape;417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 qualitative data analysis using an appropriate method, e.g.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Corbin &amp; Strauss (2012): Straussian coding (as described as part of GT)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Brown &amp; Clarke (2012): Thematic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6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6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Coding Statistics</a:t>
            </a:r>
            <a:endParaRPr/>
          </a:p>
        </p:txBody>
      </p:sp>
      <p:sp>
        <p:nvSpPr>
          <p:cNvPr id="424" name="Google Shape;424;p6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425" name="Google Shape;425;p63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{F7C993E1-8C5E-4FA1-A07D-908E8BCB2323}</a:tableStyleId>
              </a:tblPr>
              <a:tblGrid>
                <a:gridCol w="4297675"/>
                <a:gridCol w="4297675"/>
              </a:tblGrid>
              <a:tr h="4023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Number of codings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Requirements Traceability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Pre-RS traceability general (+ subcodes)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Applying pre-RS traceability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Use cases and benefits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249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Problems and challenges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275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Consequences of poor pre-RS traceability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Solutions and suggestions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258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Trace techniques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212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Trace tools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48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Demonstration of Saturation</a:t>
            </a:r>
            <a:endParaRPr/>
          </a:p>
        </p:txBody>
      </p:sp>
      <p:sp>
        <p:nvSpPr>
          <p:cNvPr id="431" name="Google Shape;431;p6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432" name="Google Shape;432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20760" y="914400"/>
            <a:ext cx="5302480" cy="4114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6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Quality Assurance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Relevant Quality Criteria</a:t>
            </a:r>
            <a:endParaRPr/>
          </a:p>
        </p:txBody>
      </p:sp>
      <p:sp>
        <p:nvSpPr>
          <p:cNvPr id="443" name="Google Shape;443;p6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Clear selection criteria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Complete and exhaustive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Clear documentation of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Searching and filtering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1200"/>
              </a:spcAft>
              <a:buSzPts val="1800"/>
              <a:buAutoNum type="arabicPeriod"/>
            </a:pPr>
            <a:r>
              <a:rPr lang="en"/>
              <a:t>Clear chain of evidence to results</a:t>
            </a:r>
            <a:endParaRPr/>
          </a:p>
        </p:txBody>
      </p:sp>
      <p:sp>
        <p:nvSpPr>
          <p:cNvPr id="444" name="Google Shape;444;p6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6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50" name="Google Shape;450;p6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Study 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Study filter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6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57" name="Google Shape;457;p6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6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63" name="Google Shape;463;p6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464" name="Google Shape;464;p6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
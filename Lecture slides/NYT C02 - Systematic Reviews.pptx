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41E8805-810A-4B07-9C4E-3CE2FA19FABC}">
  <a:tblStyle styleId="{A41E8805-810A-4B07-9C4E-3CE2FA19FA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c2d70f18b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2c2d70f18b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db5ccdfa6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db5ccdfa6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f9bad1e8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f9bad1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214e2fb27b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214e2fb27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25a7049bb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25a7049bb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14e2fb27b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14e2fb27b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14e2fb27b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14e2fb27b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14e2fb27b2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14e2fb27b2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14e2fb27b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214e2fb27b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14e2fb27b2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14e2fb27b2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125a7049bb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125a7049bb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14e2fb27b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14e2fb27b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125a7049bbe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125a7049bbe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16a49f5147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16a49f5147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14e2fb27b2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14e2fb27b2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233e8de66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233e8de66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c23ba4905f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c23ba4905f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33e8de66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33e8de66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214e2fb27b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214e2fb27b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2233e8de66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2233e8de66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233e8de66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233e8de66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c2d70f18b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c2d70f18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233e8de662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233e8de662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233e8de66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233e8de66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233e8de66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2233e8de66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233e8de662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233e8de662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14e2fb27b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214e2fb27b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14e2fb27b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14e2fb27b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2c23ba4905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2c23ba4905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16a49f514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216a49f514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4e2fb27b2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14e2fb27b2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16a49f5147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16a49f5147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233e8de662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233e8de662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233e8de662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233e8de662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2c2d70f18b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2c2d70f18b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14e2fb27b2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214e2fb27b2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233e8de662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2233e8de662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233e8de662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2233e8de662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233e8de66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233e8de66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233e8de662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233e8de662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233e8de662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2233e8de662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233e8de662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2233e8de662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233e8de662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2233e8de662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14e2fb27b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14e2fb27b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2233e8de662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2233e8de662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14e2fb27b2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214e2fb27b2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c2d70f18b5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c2d70f18b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16a49f514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16a49f514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216a49f5147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216a49f5147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216a49f5147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216a49f5147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14e2fb27b2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14e2fb27b2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g216a49f514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2" name="Google Shape;392;g216a49f514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216a49f514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216a49f514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39265140e9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239265140e9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39265140e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239265140e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uni1.de/nyt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12" name="Google Shape;12;p2"/>
          <p:cNvSpPr/>
          <p:nvPr/>
        </p:nvSpPr>
        <p:spPr>
          <a:xfrm>
            <a:off x="0" y="2388810"/>
            <a:ext cx="9144000" cy="183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0" y="2386584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0" y="685800"/>
            <a:ext cx="9144000" cy="91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2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://uni1.de/nyt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1"/>
                </a:solidFill>
              </a:defRPr>
            </a:lvl1pPr>
            <a:lvl2pPr lvl="1" rtl="0" algn="r">
              <a:buNone/>
              <a:defRPr b="1" sz="2400">
                <a:solidFill>
                  <a:schemeClr val="dk1"/>
                </a:solidFill>
              </a:defRPr>
            </a:lvl2pPr>
            <a:lvl3pPr lvl="2" rtl="0" algn="r">
              <a:buNone/>
              <a:defRPr b="1" sz="2400">
                <a:solidFill>
                  <a:schemeClr val="dk1"/>
                </a:solidFill>
              </a:defRPr>
            </a:lvl3pPr>
            <a:lvl4pPr lvl="3" rtl="0" algn="r">
              <a:buNone/>
              <a:defRPr b="1" sz="2400">
                <a:solidFill>
                  <a:schemeClr val="dk1"/>
                </a:solidFill>
              </a:defRPr>
            </a:lvl4pPr>
            <a:lvl5pPr lvl="4" rtl="0" algn="r">
              <a:buNone/>
              <a:defRPr b="1" sz="2400">
                <a:solidFill>
                  <a:schemeClr val="dk1"/>
                </a:solidFill>
              </a:defRPr>
            </a:lvl5pPr>
            <a:lvl6pPr lvl="5" rtl="0" algn="r">
              <a:buNone/>
              <a:defRPr b="1" sz="2400">
                <a:solidFill>
                  <a:schemeClr val="dk1"/>
                </a:solidFill>
              </a:defRPr>
            </a:lvl6pPr>
            <a:lvl7pPr lvl="6" rtl="0" algn="r">
              <a:buNone/>
              <a:defRPr b="1" sz="2400">
                <a:solidFill>
                  <a:schemeClr val="dk1"/>
                </a:solidFill>
              </a:defRPr>
            </a:lvl7pPr>
            <a:lvl8pPr lvl="7" rtl="0" algn="r">
              <a:buNone/>
              <a:defRPr b="1" sz="2400">
                <a:solidFill>
                  <a:schemeClr val="dk1"/>
                </a:solidFill>
              </a:defRPr>
            </a:lvl8pPr>
            <a:lvl9pPr lvl="8" rtl="0" algn="r">
              <a:buNone/>
              <a:defRPr b="1" sz="2400"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1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uni1.de/nyt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uni1.de/nyt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uni1.de/nyt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://uni1.de/ny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uni1.de/nyt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://uni1.de/nyt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uni1.de/ny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://uni1.de/ny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hyperlink" Target="http://uni1.de/nyt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uni1.de/nyt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uni1.de/nyt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uni1.de/nyt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uni1.de/nyt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://uni1.de/nyt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prisma-statement.org/protocols/" TargetMode="External"/><Relationship Id="rId5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uni1.de/ny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://uni1.de/nyt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://uni1.de/nyt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deal-konsortium.de/" TargetMode="External"/><Relationship Id="rId4" Type="http://schemas.openxmlformats.org/officeDocument/2006/relationships/hyperlink" Target="https://sci-hub.ru/" TargetMode="External"/><Relationship Id="rId5" Type="http://schemas.openxmlformats.org/officeDocument/2006/relationships/hyperlink" Target="http://uni1.de/nyt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://uni1.de/nyt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hyperlink" Target="http://uni1.de/nyt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://uni1.de/nyt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://uni1.de/nyt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://uni1.de/nyt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uni1.de/nyt" TargetMode="Externa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://uni1.de/nyt" TargetMode="Externa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uni1.de/nyt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://uni1.de/nyt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://uni1.de/nyt" TargetMode="External"/><Relationship Id="rId4" Type="http://schemas.openxmlformats.org/officeDocument/2006/relationships/hyperlink" Target="https://www.cebm.ox.ac.uk/resources/levels-of-evidence/ocebm-levels-of-evidence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://uni1.de/nyt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://uni1.de/nyt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6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://uni1.de/nyt" TargetMode="Externa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://uni1.de/nyt" TargetMode="Externa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://uni1.de/nyt" TargetMode="Externa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://uni1.de/nyt" TargetMode="Externa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://uni1.de/nyt" TargetMode="External"/><Relationship Id="rId4" Type="http://schemas.openxmlformats.org/officeDocument/2006/relationships/image" Target="../media/image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hyperlink" Target="http://uni1.de/nyt" TargetMode="Externa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hyperlink" Target="http://uni1.de/nyt" TargetMode="Externa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profriehle.com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Systematic Reviews</a:t>
            </a:r>
            <a:endParaRPr/>
          </a:p>
        </p:txBody>
      </p:sp>
      <p:sp>
        <p:nvSpPr>
          <p:cNvPr id="38" name="Google Shape;38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NYT C02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Systematic</a:t>
            </a:r>
            <a:r>
              <a:rPr lang="en"/>
              <a:t>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Study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Study filter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</p:txBody>
      </p:sp>
      <p:sp>
        <p:nvSpPr>
          <p:cNvPr id="44" name="Google Shape;44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 Systematic Reviews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literature review</a:t>
            </a:r>
            <a:r>
              <a:rPr lang="en"/>
              <a:t> is 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Review of existing literature for purposes of theory building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a literature review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Relevant literature is sought out,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Analysed</a:t>
            </a:r>
            <a:r>
              <a:rPr lang="en"/>
              <a:t> towards a research question, 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Synthesized</a:t>
            </a:r>
            <a:r>
              <a:rPr lang="en"/>
              <a:t> towards an answer, the new or revised theory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 literature review should follow a systematic literature review methodology</a:t>
            </a:r>
            <a:endParaRPr/>
          </a:p>
        </p:txBody>
      </p:sp>
      <p:sp>
        <p:nvSpPr>
          <p:cNvPr id="56" name="Google Shape;56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Literature Review</a:t>
            </a:r>
            <a:endParaRPr/>
          </a:p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Literature Reviews</a:t>
            </a:r>
            <a:endParaRPr/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literature reviews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Traditional or narrative literature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Systematic literature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Meta-syntheses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Related, but not a type of literature review as defined here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Meta-analyses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 a (scientific) type of literature review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Related work (review)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Related Work Review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related work review is a research practice which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Compares and contrasts</a:t>
            </a:r>
            <a:r>
              <a:rPr lang="en"/>
              <a:t> existing research with current or planned research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lang="en"/>
              <a:t>related</a:t>
            </a:r>
            <a:r>
              <a:rPr lang="en"/>
              <a:t> work review is most commonly performed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research paper to bring out what is novel about the presented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final thesis to clarify the thesis work’ </a:t>
            </a:r>
            <a:r>
              <a:rPr lang="en"/>
              <a:t>relationship</a:t>
            </a:r>
            <a:r>
              <a:rPr lang="en"/>
              <a:t> to existing 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In other words, it is a justification for what’s to be presented</a:t>
            </a:r>
            <a:endParaRPr/>
          </a:p>
        </p:txBody>
      </p:sp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or Narrative Literature Reviews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(or narrative) literature reviews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Choose research question</a:t>
            </a:r>
            <a:r>
              <a:rPr lang="en"/>
              <a:t> to answer using traditional literature review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Perform comprehensive</a:t>
            </a:r>
            <a:r>
              <a:rPr lang="en"/>
              <a:t> (researcher-expertise-driven)</a:t>
            </a:r>
            <a:r>
              <a:rPr b="1" lang="en"/>
              <a:t> search</a:t>
            </a:r>
            <a:r>
              <a:rPr lang="en"/>
              <a:t> for literature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Evaluate relevance</a:t>
            </a:r>
            <a:r>
              <a:rPr lang="en"/>
              <a:t> (strengths and weaknesses) of found literature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Summarize findings</a:t>
            </a:r>
            <a:r>
              <a:rPr lang="en"/>
              <a:t> with respect to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Traditional literature reviews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Lack rigor (but rely on the researcher’s expertise)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best viewed as well-reasoned opinions [DR]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Systematic Literature Reviews (SLRs)</a:t>
            </a:r>
            <a:endParaRPr/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SLRs </a:t>
            </a:r>
            <a:r>
              <a:rPr lang="en"/>
              <a:t>are a systematic approach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Finding, analyzing, and synthesizing primary studies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SLRs are a form of systematic review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 all systematic reviews are SLRs (but most are)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Common methodology descriptions include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Kitchenham et al. (2023), Booth et al. (2016)</a:t>
            </a:r>
            <a:endParaRPr/>
          </a:p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86" name="Google Shape;8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Meta-Syntheses</a:t>
            </a:r>
            <a:endParaRPr/>
          </a:p>
        </p:txBody>
      </p:sp>
      <p:sp>
        <p:nvSpPr>
          <p:cNvPr id="92" name="Google Shape;92;p1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93" name="Google Shape;93;p1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Meta-syntheses are structured literature reviews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theory building using a research method,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Braun &amp; Clarke (2012): Thematic 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Corbin &amp; Strauss (2008): Grounded theory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Meta-Analyses</a:t>
            </a:r>
            <a:endParaRPr/>
          </a:p>
        </p:txBody>
      </p:sp>
      <p:sp>
        <p:nvSpPr>
          <p:cNvPr id="99" name="Google Shape;99;p1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Meta-analyses are literature analyses that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Quantitatively aggregate findings from different studies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Derive a more comprehensive statistical conclusion to a hypothesis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Meta-analyses are not </a:t>
            </a:r>
            <a:r>
              <a:rPr lang="en"/>
              <a:t>theory</a:t>
            </a:r>
            <a:r>
              <a:rPr lang="en"/>
              <a:t> building, but hypothesis testing research</a:t>
            </a:r>
            <a:endParaRPr/>
          </a:p>
        </p:txBody>
      </p:sp>
      <p:sp>
        <p:nvSpPr>
          <p:cNvPr id="100" name="Google Shape;100;p1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Research Design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SLR process consists of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Defining the research question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Designing the systematic review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Create research design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Create research protocol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Review research protocol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b="1" lang="en"/>
              <a:t>Register research protocol</a:t>
            </a:r>
            <a:endParaRPr b="1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Performing the review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Search for studies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Filter for relevance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Filter for quality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Analyzing the data</a:t>
            </a:r>
            <a:endParaRPr/>
          </a:p>
        </p:txBody>
      </p:sp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Systematic Literature Reviews (SLRs)</a:t>
            </a:r>
            <a:endParaRPr/>
          </a:p>
        </p:txBody>
      </p:sp>
      <p:sp>
        <p:nvSpPr>
          <p:cNvPr id="112" name="Google Shape;112;p1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SLRs are open to any research question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They rely on primary materials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Are a type of secondary study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SLRs are useful for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Summarizing existing evidence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Identifying gaps in current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a new research framework (theory)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Research Questions</a:t>
            </a:r>
            <a:endParaRPr/>
          </a:p>
        </p:txBody>
      </p:sp>
      <p:sp>
        <p:nvSpPr>
          <p:cNvPr id="120" name="Google Shape;120;p2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320" y="1371600"/>
            <a:ext cx="8595361" cy="271432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Benefits of pre-Requirements-Specification traceability</a:t>
            </a:r>
            <a:endParaRPr/>
          </a:p>
        </p:txBody>
      </p:sp>
      <p:sp>
        <p:nvSpPr>
          <p:cNvPr id="127" name="Google Shape;127;p2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Research Question</a:t>
            </a:r>
            <a:endParaRPr/>
          </a:p>
        </p:txBody>
      </p:sp>
      <p:sp>
        <p:nvSpPr>
          <p:cNvPr id="128" name="Google Shape;128;p2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4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29" name="Google Shape;129;p21"/>
          <p:cNvSpPr/>
          <p:nvPr/>
        </p:nvSpPr>
        <p:spPr>
          <a:xfrm>
            <a:off x="2578608" y="1755648"/>
            <a:ext cx="1143000" cy="1143000"/>
          </a:xfrm>
          <a:prstGeom prst="ellipse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</a:t>
            </a:r>
            <a:r>
              <a:rPr lang="en"/>
              <a:t>Materials</a:t>
            </a:r>
            <a:r>
              <a:rPr lang="en"/>
              <a:t> / Literature</a:t>
            </a:r>
            <a:endParaRPr/>
          </a:p>
        </p:txBody>
      </p:sp>
      <p:sp>
        <p:nvSpPr>
          <p:cNvPr id="135" name="Google Shape;135;p2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Primary materials (for an SLR) is original research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Usually as presented in publications (i.e. literature)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also (but rarely) as the original research artifact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 cautious to include gray literature and explain if so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Gray literature is non-peer-reviewed work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 are practitioner articles like blog posts</a:t>
            </a:r>
            <a:endParaRPr/>
          </a:p>
        </p:txBody>
      </p:sp>
      <p:sp>
        <p:nvSpPr>
          <p:cNvPr id="136" name="Google Shape;136;p2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to take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</a:t>
            </a:r>
            <a:r>
              <a:rPr lang="en"/>
              <a:t> tasks and activities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research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Choose supporting tools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Write research protocol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activities and methods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the following sections</a:t>
            </a:r>
            <a:endParaRPr/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Research Design</a:t>
            </a:r>
            <a:endParaRPr/>
          </a:p>
        </p:txBody>
      </p:sp>
      <p:sp>
        <p:nvSpPr>
          <p:cNvPr id="143" name="Google Shape;143;p2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Tasks and Activities + Methods and Practices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and document tasks/activities and associated methods/practices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Study search (databases, search queries,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Relevance filter (inclusion/exclusion criteria,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Quality filter (research quality model, 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Analysis method (e.g. thematic analysis)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Tools</a:t>
            </a:r>
            <a:endParaRPr/>
          </a:p>
        </p:txBody>
      </p:sp>
      <p:sp>
        <p:nvSpPr>
          <p:cNvPr id="156" name="Google Shape;156;p2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 tracker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Lab book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Literature manager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Zotero, Mendeley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ResearchGate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File system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58" name="Google Shape;158;p25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A.k.a. log book, work log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your plan in a research protocol; this includes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Meta information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question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Research design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Overall process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Tasks and activities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Methods and practices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Document the what and explain the why of your choices</a:t>
            </a:r>
            <a:endParaRPr/>
          </a:p>
        </p:txBody>
      </p:sp>
      <p:sp>
        <p:nvSpPr>
          <p:cNvPr id="164" name="Google Shape;164;p2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Research Protocol</a:t>
            </a:r>
            <a:endParaRPr/>
          </a:p>
        </p:txBody>
      </p:sp>
      <p:sp>
        <p:nvSpPr>
          <p:cNvPr id="165" name="Google Shape;165;p2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Protocol Using Prisma Statement [1] 1 / 2</a:t>
            </a:r>
            <a:endParaRPr/>
          </a:p>
        </p:txBody>
      </p:sp>
      <p:sp>
        <p:nvSpPr>
          <p:cNvPr id="171" name="Google Shape;171;p2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172" name="Google Shape;172;p2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https://prisma-statement.org/protocols/</a:t>
            </a:r>
            <a:r>
              <a:rPr lang="en"/>
              <a:t> </a:t>
            </a:r>
            <a:endParaRPr/>
          </a:p>
        </p:txBody>
      </p:sp>
      <p:pic>
        <p:nvPicPr>
          <p:cNvPr id="173" name="Google Shape;17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4320" y="914400"/>
            <a:ext cx="8595359" cy="3524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r>
              <a:rPr lang="en"/>
              <a:t>rotocol Using Prisma Statement 2 / 2</a:t>
            </a:r>
            <a:endParaRPr/>
          </a:p>
        </p:txBody>
      </p:sp>
      <p:sp>
        <p:nvSpPr>
          <p:cNvPr id="179" name="Google Shape;179;p2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80" name="Google Shape;18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59" cy="416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 of Research Design Process</a:t>
            </a:r>
            <a:endParaRPr/>
          </a:p>
        </p:txBody>
      </p:sp>
      <p:sp>
        <p:nvSpPr>
          <p:cNvPr id="186" name="Google Shape;186;p2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187" name="Google Shape;18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2983229" cy="411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9"/>
          <p:cNvSpPr txBox="1"/>
          <p:nvPr>
            <p:ph idx="1" type="body"/>
          </p:nvPr>
        </p:nvSpPr>
        <p:spPr>
          <a:xfrm>
            <a:off x="3659898" y="914400"/>
            <a:ext cx="5209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addition to prose descriptions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Visualize the workflow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Strong in papers and theses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Ask your peers or pay outside experts for feedback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Consider using Spall (1998) for peer debriefing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Iterate until satisfied</a:t>
            </a:r>
            <a:endParaRPr/>
          </a:p>
        </p:txBody>
      </p:sp>
      <p:sp>
        <p:nvSpPr>
          <p:cNvPr id="194" name="Google Shape;194;p3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Review Research Protocol</a:t>
            </a:r>
            <a:endParaRPr/>
          </a:p>
        </p:txBody>
      </p:sp>
      <p:sp>
        <p:nvSpPr>
          <p:cNvPr id="195" name="Google Shape;195;p3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Upload to arXiv (or similar registry / archive)</a:t>
            </a:r>
            <a:endParaRPr/>
          </a:p>
        </p:txBody>
      </p:sp>
      <p:sp>
        <p:nvSpPr>
          <p:cNvPr id="201" name="Google Shape;201;p3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Register Research Protocol</a:t>
            </a:r>
            <a:endParaRPr/>
          </a:p>
        </p:txBody>
      </p:sp>
      <p:sp>
        <p:nvSpPr>
          <p:cNvPr id="202" name="Google Shape;202;p31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Study Search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Searching for studies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Define scope of search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Express scope as search query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Search and evaluate basic fit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Document the process [1]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Filtering the studies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"/>
              <a:t>Filter for relevance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lang="en"/>
              <a:t>Filter for quality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Search Process</a:t>
            </a:r>
            <a:endParaRPr/>
          </a:p>
        </p:txBody>
      </p:sp>
      <p:sp>
        <p:nvSpPr>
          <p:cNvPr id="214" name="Google Shape;214;p3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15" name="Google Shape;215;p33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</a:t>
            </a:r>
            <a:r>
              <a:rPr lang="en"/>
              <a:t> Rethlefsen et al. (2021): Reporting literature searches in systematic reviews.</a:t>
            </a:r>
            <a:endParaRPr/>
          </a:p>
        </p:txBody>
      </p:sp>
      <p:pic>
        <p:nvPicPr>
          <p:cNvPr id="216" name="Google Shape;21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Scope of Search</a:t>
            </a:r>
            <a:endParaRPr/>
          </a:p>
        </p:txBody>
      </p:sp>
      <p:sp>
        <p:nvSpPr>
          <p:cNvPr id="222" name="Google Shape;222;p3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search scope follows from the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Components of the scope definition can be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Research-question-specific terms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Meta-criteria like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Year / age of literature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Publication outlet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Type of article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Written language of article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Number of citations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Specify both inclusion and exclusion criteria!</a:t>
            </a:r>
            <a:endParaRPr/>
          </a:p>
        </p:txBody>
      </p:sp>
      <p:sp>
        <p:nvSpPr>
          <p:cNvPr id="223" name="Google Shape;223;p3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Express Scope as Search Query</a:t>
            </a:r>
            <a:endParaRPr/>
          </a:p>
        </p:txBody>
      </p:sp>
      <p:sp>
        <p:nvSpPr>
          <p:cNvPr id="229" name="Google Shape;229;p3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Codify scope as search query, usually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By conjunction of search terms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Choice of search engines, for example,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Google Scholar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ACM Digital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IEEE Press Digital Library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Commercial libraries e.g. Elsevier, Springer, Wiley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learn more about commercial libraries, see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https://deal-konsortium.de/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https://sci-hub.ru/</a:t>
            </a:r>
            <a:r>
              <a:rPr lang="en"/>
              <a:t> </a:t>
            </a:r>
            <a:endParaRPr/>
          </a:p>
        </p:txBody>
      </p:sp>
      <p:sp>
        <p:nvSpPr>
          <p:cNvPr id="230" name="Google Shape;230;p3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5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Search Query</a:t>
            </a:r>
            <a:endParaRPr/>
          </a:p>
        </p:txBody>
      </p:sp>
      <p:sp>
        <p:nvSpPr>
          <p:cNvPr id="236" name="Google Shape;236;p3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Benefits of pre-Requirements-Specification traceability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“pre-requirements specification traceability” OR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“pre-requirements specification” OR</a:t>
            </a:r>
            <a:br>
              <a:rPr lang="en">
                <a:solidFill>
                  <a:srgbClr val="000000"/>
                </a:solidFill>
              </a:rPr>
            </a:br>
            <a:r>
              <a:rPr lang="en">
                <a:solidFill>
                  <a:srgbClr val="000000"/>
                </a:solidFill>
              </a:rPr>
              <a:t>“requirements provenance”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Keywords and Statistics</a:t>
            </a:r>
            <a:endParaRPr/>
          </a:p>
        </p:txBody>
      </p:sp>
      <p:sp>
        <p:nvSpPr>
          <p:cNvPr id="243" name="Google Shape;243;p3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244" name="Google Shape;244;p37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{A41E8805-810A-4B07-9C4E-3CE2FA19FABC}</a:tableStyleId>
              </a:tblPr>
              <a:tblGrid>
                <a:gridCol w="2926800"/>
                <a:gridCol w="1417125"/>
                <a:gridCol w="1417125"/>
                <a:gridCol w="1417125"/>
                <a:gridCol w="1417125"/>
              </a:tblGrid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Search term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Google Scholar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IEEE DL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ACM DL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800">
                          <a:solidFill>
                            <a:schemeClr val="lt1"/>
                          </a:solidFill>
                        </a:rPr>
                        <a:t>Web of Science</a:t>
                      </a:r>
                      <a:endParaRPr b="1" sz="18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“pre-requirements specification traceability”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7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“pre-requirements </a:t>
                      </a:r>
                      <a:r>
                        <a:rPr lang="en" sz="1800"/>
                        <a:t>specification</a:t>
                      </a:r>
                      <a:r>
                        <a:rPr lang="en" sz="1800"/>
                        <a:t>”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133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20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6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“requirements provenance”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42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2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/>
                        <a:t>11</a:t>
                      </a:r>
                      <a:endParaRPr sz="1800"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Evaluate Basic Fit</a:t>
            </a:r>
            <a:endParaRPr/>
          </a:p>
        </p:txBody>
      </p:sp>
      <p:sp>
        <p:nvSpPr>
          <p:cNvPr id="250" name="Google Shape;250;p38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search using search query and search engine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found article, review its basic fit towards search scope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relevant article, perform forward and backward snowballing [1]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Backward snowballing: Review reference list of article at 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Forward snowballing: Search for articles citing the one at hand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Snowballing may well lead you to change the search query!</a:t>
            </a:r>
            <a:endParaRPr/>
          </a:p>
        </p:txBody>
      </p:sp>
      <p:sp>
        <p:nvSpPr>
          <p:cNvPr id="251" name="Google Shape;251;p3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252" name="Google Shape;252;p38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See </a:t>
            </a:r>
            <a:r>
              <a:rPr lang="en"/>
              <a:t>Wohlin (2014): Guidelines for snowballing in systematic literature reviews.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Fit Criteria</a:t>
            </a:r>
            <a:endParaRPr/>
          </a:p>
        </p:txBody>
      </p:sp>
      <p:sp>
        <p:nvSpPr>
          <p:cNvPr id="258" name="Google Shape;258;p3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 fit criteria are formal criteria to include or exclude literature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English language?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Peer-reviewed publication?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 primary study?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The decision should be made at a glance</a:t>
            </a:r>
            <a:endParaRPr/>
          </a:p>
        </p:txBody>
      </p:sp>
      <p:sp>
        <p:nvSpPr>
          <p:cNvPr id="259" name="Google Shape;259;p3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the Search Process</a:t>
            </a:r>
            <a:endParaRPr/>
          </a:p>
        </p:txBody>
      </p:sp>
      <p:sp>
        <p:nvSpPr>
          <p:cNvPr id="265" name="Google Shape;265;p4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search queries, for example,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Date of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Name of library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Document results of search queries, for example,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Article reference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Location (URL)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Use log book for documentation</a:t>
            </a:r>
            <a:endParaRPr/>
          </a:p>
        </p:txBody>
      </p:sp>
      <p:sp>
        <p:nvSpPr>
          <p:cNvPr id="266" name="Google Shape;266;p4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Study Filter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Searching for studies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Define scope of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Express scope as search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Search and evaluate basic fit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Document the process [1]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Filtering the studies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 startAt="5"/>
            </a:pPr>
            <a:r>
              <a:rPr b="1" lang="en"/>
              <a:t>Filter for relevance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 startAt="5"/>
            </a:pPr>
            <a:r>
              <a:rPr b="1" lang="en"/>
              <a:t>Filter for quality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4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Filtering Process</a:t>
            </a:r>
            <a:endParaRPr/>
          </a:p>
        </p:txBody>
      </p:sp>
      <p:sp>
        <p:nvSpPr>
          <p:cNvPr id="278" name="Google Shape;278;p4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279" name="Google Shape;27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for Relevance</a:t>
            </a:r>
            <a:endParaRPr/>
          </a:p>
        </p:txBody>
      </p:sp>
      <p:sp>
        <p:nvSpPr>
          <p:cNvPr id="285" name="Google Shape;285;p4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retrieved article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First read title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Next read abstract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Finally read article, if necessary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inclusion and exclusion criteria 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Keep or drop the article at hand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possible, use second researcher to perform same task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Ensure that disagreements are discussed and resolved</a:t>
            </a:r>
            <a:endParaRPr/>
          </a:p>
        </p:txBody>
      </p:sp>
      <p:sp>
        <p:nvSpPr>
          <p:cNvPr id="286" name="Google Shape;286;p4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Inclusion and Exclusion Criteria</a:t>
            </a:r>
            <a:endParaRPr/>
          </a:p>
        </p:txBody>
      </p:sp>
      <p:sp>
        <p:nvSpPr>
          <p:cNvPr id="292" name="Google Shape;292;p4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research question to define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Inclusion criteria (keep study)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Exclusion criteria (drop study)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Ensure reliability of interpretation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Try to operationalize criteria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Have second researcher</a:t>
            </a:r>
            <a:endParaRPr/>
          </a:p>
        </p:txBody>
      </p:sp>
      <p:sp>
        <p:nvSpPr>
          <p:cNvPr id="293" name="Google Shape;293;p4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Relevance Criteria</a:t>
            </a:r>
            <a:endParaRPr/>
          </a:p>
        </p:txBody>
      </p:sp>
      <p:sp>
        <p:nvSpPr>
          <p:cNvPr id="299" name="Google Shape;299;p4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Is it a duplicate?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Is it written in English?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Is it the right type of study?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Does it fit the research question?</a:t>
            </a:r>
            <a:endParaRPr/>
          </a:p>
        </p:txBody>
      </p:sp>
      <p:sp>
        <p:nvSpPr>
          <p:cNvPr id="300" name="Google Shape;300;p4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for Quality</a:t>
            </a:r>
            <a:endParaRPr/>
          </a:p>
        </p:txBody>
      </p:sp>
      <p:sp>
        <p:nvSpPr>
          <p:cNvPr id="306" name="Google Shape;306;p46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each relevant article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the article carefully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Qualify the article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Filter the article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4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Filters</a:t>
            </a:r>
            <a:endParaRPr/>
          </a:p>
        </p:txBody>
      </p:sp>
      <p:sp>
        <p:nvSpPr>
          <p:cNvPr id="313" name="Google Shape;313;p47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an existing quality model [1] or create your own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Rank order by type of research, for example,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Controlled experiments over case studies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studies over qualitative surveys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Within each type of research, create quality levels, for example based 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Scope / breadth of evidence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Recognized biases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 a minimum expected quality level as the filter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15" name="Google Shape;315;p47"/>
          <p:cNvSpPr txBox="1"/>
          <p:nvPr/>
        </p:nvSpPr>
        <p:spPr>
          <a:xfrm>
            <a:off x="0" y="4233672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[1] For example, the OCEBM Levels of Evidence model, see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https://www.cebm.ox.ac.uk/resources/levels-of-evidence/ocebm-levels-of-evidence</a:t>
            </a:r>
            <a:r>
              <a:rPr lang="en"/>
              <a:t> 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Illustration of Potential Quality Model and Its Problems</a:t>
            </a:r>
            <a:endParaRPr/>
          </a:p>
        </p:txBody>
      </p:sp>
      <p:sp>
        <p:nvSpPr>
          <p:cNvPr id="321" name="Google Shape;321;p48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22" name="Google Shape;322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320" y="914400"/>
            <a:ext cx="8595360" cy="3502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Dealing with Gray Literature</a:t>
            </a:r>
            <a:endParaRPr/>
          </a:p>
        </p:txBody>
      </p:sp>
      <p:sp>
        <p:nvSpPr>
          <p:cNvPr id="328" name="Google Shape;328;p4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Gray literature can be included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important for the research question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Gray literature can be excluded if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enough on-point primary studies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See Booth et al. (2016), p. 120, for a discussion of gray literature in SLRs</a:t>
            </a:r>
            <a:endParaRPr/>
          </a:p>
        </p:txBody>
      </p:sp>
      <p:sp>
        <p:nvSpPr>
          <p:cNvPr id="329" name="Google Shape;329;p4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5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the Filtering Process</a:t>
            </a:r>
            <a:endParaRPr/>
          </a:p>
        </p:txBody>
      </p:sp>
      <p:sp>
        <p:nvSpPr>
          <p:cNvPr id="335" name="Google Shape;335;p5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Document decisions for inclusion or exclusion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actual decision taken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reason for the decision (which criterion matched or was violated)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Track numbers along the search and filter funnel; at least the three stages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Is returned by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Describes a relevant study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Passes expected quality threshold</a:t>
            </a:r>
            <a:endParaRPr/>
          </a:p>
        </p:txBody>
      </p:sp>
      <p:sp>
        <p:nvSpPr>
          <p:cNvPr id="336" name="Google Shape;336;p5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1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 Data Analysis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5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</p:txBody>
      </p:sp>
      <p:sp>
        <p:nvSpPr>
          <p:cNvPr id="347" name="Google Shape;347;p5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Analyze data can be split into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Extract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Synthesize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There are two types of data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Descriptive metadata i.e. statistics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Content used for theory building</a:t>
            </a:r>
            <a:endParaRPr/>
          </a:p>
        </p:txBody>
      </p:sp>
      <p:sp>
        <p:nvSpPr>
          <p:cNvPr id="348" name="Google Shape;348;p5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49" name="Google Shape;349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425" y="914400"/>
            <a:ext cx="2743200" cy="3773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 Descriptive Data</a:t>
            </a:r>
            <a:endParaRPr/>
          </a:p>
        </p:txBody>
      </p:sp>
      <p:sp>
        <p:nvSpPr>
          <p:cNvPr id="355" name="Google Shape;355;p53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sp>
        <p:nvSpPr>
          <p:cNvPr id="356" name="Google Shape;356;p5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Extract relevant statistical data from articles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Total number of articles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Keyword-article relationship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Trace to article (keyword, snowballing)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citations by article (distribution)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Year of publication (distribution)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Focus on the article metadata, not the content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Descriptive Data</a:t>
            </a:r>
            <a:endParaRPr/>
          </a:p>
        </p:txBody>
      </p:sp>
      <p:sp>
        <p:nvSpPr>
          <p:cNvPr id="362" name="Google Shape;362;p5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 the data using simple means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recognize keyword trends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recognize publication trends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Some descriptive analysis may also be interesting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Who is publishing?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4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Qualitative Data Analysis</a:t>
            </a:r>
            <a:endParaRPr/>
          </a:p>
        </p:txBody>
      </p:sp>
      <p:sp>
        <p:nvSpPr>
          <p:cNvPr id="369" name="Google Shape;369;p55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Perform qualitative data analysis using an appropriate method, e.g.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Corbin &amp; Strauss (2012): Grounded theory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Brown &amp; Clarke (2012): Thematic analysis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55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Coding Statistics</a:t>
            </a:r>
            <a:endParaRPr/>
          </a:p>
        </p:txBody>
      </p:sp>
      <p:sp>
        <p:nvSpPr>
          <p:cNvPr id="376" name="Google Shape;376;p56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graphicFrame>
        <p:nvGraphicFramePr>
          <p:cNvPr id="377" name="Google Shape;377;p56"/>
          <p:cNvGraphicFramePr/>
          <p:nvPr/>
        </p:nvGraphicFramePr>
        <p:xfrm>
          <a:off x="274320" y="914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{A41E8805-810A-4B07-9C4E-3CE2FA19FABC}</a:tableStyleId>
              </a:tblPr>
              <a:tblGrid>
                <a:gridCol w="4297675"/>
                <a:gridCol w="4297675"/>
              </a:tblGrid>
              <a:tr h="402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Codes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lt1"/>
                          </a:solidFill>
                        </a:rPr>
                        <a:t>Number of codings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Requirements Traceability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Pre-RS traceability general (+ subcodes)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81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Applying pre-RS traceability (+ subcodes)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31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Use cases and benefits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249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Problems and challenges (+ subcodes)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275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Consequences of poor pre-RS traceability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Solutions and suggestions (+ subcodes)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258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Trace techniques (+ subcodes)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212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</a:tr>
              <a:tr h="402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Trace tools (+ subcodes)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48</a:t>
                      </a:r>
                      <a:endParaRPr/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7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Demonstration of Saturation</a:t>
            </a:r>
            <a:endParaRPr/>
          </a:p>
        </p:txBody>
      </p:sp>
      <p:sp>
        <p:nvSpPr>
          <p:cNvPr id="383" name="Google Shape;383;p57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  <p:pic>
        <p:nvPicPr>
          <p:cNvPr id="384" name="Google Shape;384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0760" y="914400"/>
            <a:ext cx="5302480" cy="4114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8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Quality Assurance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5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Relevant Quality Criteria</a:t>
            </a:r>
            <a:endParaRPr/>
          </a:p>
        </p:txBody>
      </p:sp>
      <p:sp>
        <p:nvSpPr>
          <p:cNvPr id="395" name="Google Shape;395;p5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Clear selection criteria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Complete and exhaustive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Clear documentation of methods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Searching and filtering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1200"/>
              </a:spcAft>
              <a:buSzPts val="1800"/>
              <a:buAutoNum type="arabicPeriod"/>
            </a:pPr>
            <a:r>
              <a:rPr lang="en"/>
              <a:t>Clear chain of evidence to results</a:t>
            </a:r>
            <a:endParaRPr/>
          </a:p>
        </p:txBody>
      </p:sp>
      <p:sp>
        <p:nvSpPr>
          <p:cNvPr id="396" name="Google Shape;396;p59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6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402" name="Google Shape;402;p6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Systematic reviews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Research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Study 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Study filter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Data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Quality assurance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0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000" u="sng">
                <a:solidFill>
                  <a:schemeClr val="hlink"/>
                </a:solidFill>
                <a:hlinkClick r:id="rId3"/>
              </a:rPr>
              <a:t>uni1.de/nyt</a:t>
            </a:r>
            <a:r>
              <a:rPr b="0" lang="en" sz="1000"/>
              <a:t> </a:t>
            </a:r>
            <a:endParaRPr b="0" sz="10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1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409" name="Google Shape;409;p61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415" name="Google Shape;415;p62"/>
          <p:cNvSpPr txBox="1"/>
          <p:nvPr>
            <p:ph idx="12" type="sldNum"/>
          </p:nvPr>
        </p:nvSpPr>
        <p:spPr>
          <a:xfrm>
            <a:off x="7315209" y="4229101"/>
            <a:ext cx="1828800" cy="91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https://profriehle.com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416" name="Google Shape;416;p62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License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2012, 2023, 2024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YT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D50D01"/>
      </a:accent3>
      <a:accent4>
        <a:srgbClr val="FEB612"/>
      </a:accent4>
      <a:accent5>
        <a:srgbClr val="4CAF50"/>
      </a:accent5>
      <a:accent6>
        <a:srgbClr val="8E44AD"/>
      </a:accent6>
      <a:hlink>
        <a:srgbClr val="34A3C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
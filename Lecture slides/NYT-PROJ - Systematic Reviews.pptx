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7F24F4-B1F8-4BD5-8934-EC7919F09653}">
  <a:tblStyle styleId="{8F7F24F4-B1F8-4BD5-8934-EC7919F096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2c21efa682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2c21efa682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50d8fdd1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350d8fdd1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8fe332759_2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08fe332759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50d8fdd18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50d8fdd18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08fe332759_2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08fe332759_2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0d8fdd18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0d8fdd18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0d8fdd18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0d8fdd18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0d8fdd18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0d8fdd18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0d8fdd18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0d8fdd18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0d8fdd18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0d8fdd18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0d8fdd18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0d8fdd18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0d8fdd18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0d8fdd18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395919313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395919313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5919313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5919313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0" y="2388810"/>
            <a:ext cx="9144000" cy="183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0" y="2386584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5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://uni1.de/nyt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1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uni1.de/ny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uni1.de/nyt/index" TargetMode="External"/><Relationship Id="rId4" Type="http://schemas.openxmlformats.org/officeDocument/2006/relationships/hyperlink" Target="https://docs.google.com/document/d/1aKpr43NWLIRrMWhyKPIZwq4ws3hAX7lDr_ns5ZQ7cm0/edit?usp=drive_link" TargetMode="External"/><Relationship Id="rId5" Type="http://schemas.openxmlformats.org/officeDocument/2006/relationships/hyperlink" Target="http://uni1.de/ny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uni1.de/ny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uni1.de/nyt" TargetMode="External"/><Relationship Id="rId4" Type="http://schemas.openxmlformats.org/officeDocument/2006/relationships/hyperlink" Target="https://oss.cs.fau.de/teaching/course-resources/grading-schemes-and-scales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rive.google.com/drive/folders/16_Toz67ufO9sbWJrsq6f-RocdsJwg5KS?usp=drive_link" TargetMode="External"/><Relationship Id="rId4" Type="http://schemas.openxmlformats.org/officeDocument/2006/relationships/hyperlink" Target="http://uni1.de/nyt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uni1.de/nyt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uni1.de/nyt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uni1.de/nyt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uni1.de/ny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uni1.de/ny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uni1.de/nyt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uni1.de/nyt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Systematic Review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(NYT Research Project)</a:t>
            </a:r>
            <a:endParaRPr/>
          </a:p>
        </p:txBody>
      </p:sp>
      <p:sp>
        <p:nvSpPr>
          <p:cNvPr id="38" name="Google Shape;38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NYT-PROJ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NYT Research Projects</a:t>
            </a:r>
            <a:endParaRPr/>
          </a:p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NYT research project teaches you research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By applying a research method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a real research question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Ways to fit a research project into your degree program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NYT-PROJ = 5 ECTS </a:t>
            </a:r>
            <a:r>
              <a:rPr lang="en"/>
              <a:t>research</a:t>
            </a:r>
            <a:r>
              <a:rPr lang="en"/>
              <a:t> project only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NYT-VUE-PROJ = 10 ECTS basic course + research project </a:t>
            </a:r>
            <a:endParaRPr/>
          </a:p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Semester’s Projects</a:t>
            </a:r>
            <a:endParaRPr/>
          </a:p>
        </p:txBody>
      </p:sp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the project descriptions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Through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https://uni1.de/nyt/index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</a:t>
            </a:r>
            <a:r>
              <a:rPr lang="en" u="sng">
                <a:solidFill>
                  <a:schemeClr val="hlink"/>
                </a:solidFill>
                <a:hlinkClick r:id="rId4"/>
              </a:rPr>
              <a:t>NYT-17 Project Descriptions [Public]</a:t>
            </a:r>
            <a:r>
              <a:rPr lang="en"/>
              <a:t> </a:t>
            </a:r>
            <a:endParaRPr/>
          </a:p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5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Systematic Review</a:t>
            </a:r>
            <a:endParaRPr/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 a systematic review on a given topic using your instructions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 the systematic review playbook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Choose a review topic and develop your own research question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 the project descriptions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Deliver your systematic review in two-week increments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 the course schedule</a:t>
            </a:r>
            <a:endParaRPr/>
          </a:p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Grading</a:t>
            </a:r>
            <a:endParaRPr/>
          </a:p>
        </p:txBody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66" name="Google Shape;66;p12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{8F7F24F4-B1F8-4BD5-8934-EC7919F09653}</a:tableStyleId>
              </a:tblPr>
              <a:tblGrid>
                <a:gridCol w="526650"/>
                <a:gridCol w="3770625"/>
                <a:gridCol w="2149050"/>
                <a:gridCol w="21490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#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Deliverable (Homework)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Value [1]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Weight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Research design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[0|1|2|3]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15%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Design review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[0|1|2|3]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5%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Study search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[0|1|2|3]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15%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Study filter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[0|1|2|3]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15%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Initial analysis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[0|1|2|3]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25%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6.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Final analysis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[0|1|2|3]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25%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67" name="Google Shape;67;p12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https://oss.cs.fau.de/teaching/course-resources/grading-schemes-and-scales/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 Get Started</a:t>
            </a:r>
            <a:endParaRPr/>
          </a:p>
        </p:txBody>
      </p:sp>
      <p:sp>
        <p:nvSpPr>
          <p:cNvPr id="73" name="Google Shape;73;p1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the Systematic Review playbook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 all materials in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NYT-17 Systematic review project folder [Public]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Prepare questions for class discussion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4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Research Design</a:t>
            </a:r>
            <a:endParaRPr/>
          </a:p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private copy of the Report and Database template files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Change title word “Template” to “LASTNAME, First name” e.g. “RIEHLE, Dirk”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Remove any “Copy of” leftovers from title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Adjust files as you see fit for your research design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Set version of private files (Report, Database) to “Research Design”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Create a copy of your private files and move them to </a:t>
            </a:r>
            <a:r>
              <a:rPr b="1" lang="en"/>
              <a:t>1. Research Design</a:t>
            </a:r>
            <a:r>
              <a:rPr lang="en"/>
              <a:t> folder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must be a static copy, not a link (we want the copy not to change any more)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Also create a PDF from your private files and upload by the deliverable deadline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Get started on your study 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Design Review</a:t>
            </a:r>
            <a:endParaRPr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the research design of everyone else in your cohort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Write a one paragraph feedback of each design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Upload feedback to 2. Design Review folder</a:t>
            </a:r>
            <a:endParaRPr/>
          </a:p>
        </p:txBody>
      </p:sp>
      <p:sp>
        <p:nvSpPr>
          <p:cNvPr id="88" name="Google Shape;88;p1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Study Search</a:t>
            </a:r>
            <a:endParaRPr/>
          </a:p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f necessary, adjust your research design based on the feedback as you see fit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Perform study 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Save PDFs to private folder, name them using the publication reference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Set version of private files (Report, Database) to “Study Search”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Create a copy of your private files and move the copies to </a:t>
            </a:r>
            <a:r>
              <a:rPr b="1" lang="en"/>
              <a:t>3. Study Search</a:t>
            </a:r>
            <a:r>
              <a:rPr lang="en"/>
              <a:t> folder </a:t>
            </a:r>
            <a:endParaRPr/>
          </a:p>
        </p:txBody>
      </p:sp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Study Filter</a:t>
            </a:r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necessary, adjust your research design as you see fit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Perform search and quality filter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Set version of private files (Report, Database) to “Study Search”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Create a copy of your private files and move the copies to </a:t>
            </a:r>
            <a:r>
              <a:rPr b="1" lang="en"/>
              <a:t>4. Study Filter</a:t>
            </a:r>
            <a:r>
              <a:rPr lang="en"/>
              <a:t> folder </a:t>
            </a:r>
            <a:endParaRPr/>
          </a:p>
        </p:txBody>
      </p:sp>
      <p:sp>
        <p:nvSpPr>
          <p:cNvPr id="102" name="Google Shape;102;p1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Initial Analysis</a:t>
            </a:r>
            <a:endParaRPr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necessary, adjust your research design as you see fit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necessary, reperform search and quality filter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Perform statistical analysis of meta-data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Create a QDAcity project with your documents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your initial qualitative data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Share your QDAcity project with riehle@group.riehle.org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Set version of private files (Report, Database) to “Initial Analysis”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Create a copy of your private files and move the copies to </a:t>
            </a:r>
            <a:r>
              <a:rPr b="1" lang="en"/>
              <a:t>5. Initial Analysis</a:t>
            </a:r>
            <a:r>
              <a:rPr lang="en"/>
              <a:t> folder </a:t>
            </a:r>
            <a:endParaRPr/>
          </a:p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Final Analysis</a:t>
            </a:r>
            <a:endParaRPr/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Finish your qualitative data analysis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Write your synthesis section in the review report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Set version of private files (Report, Database) to “Final Analysis”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Create a copy of your private files and move the copies to </a:t>
            </a:r>
            <a:r>
              <a:rPr b="1" lang="en"/>
              <a:t>6. Final Analysis</a:t>
            </a:r>
            <a:r>
              <a:rPr lang="en"/>
              <a:t> folder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Upload a zip-file of your PDF folder to </a:t>
            </a:r>
            <a:r>
              <a:rPr b="1" lang="en"/>
              <a:t>7. Studies (PDFs)</a:t>
            </a:r>
            <a:endParaRPr b="1"/>
          </a:p>
        </p:txBody>
      </p:sp>
      <p:sp>
        <p:nvSpPr>
          <p:cNvPr id="116" name="Google Shape;116;p1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122" name="Google Shape;122;p20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128" name="Google Shape;128;p2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2025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YT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D50D01"/>
      </a:accent3>
      <a:accent4>
        <a:srgbClr val="FEB612"/>
      </a:accent4>
      <a:accent5>
        <a:srgbClr val="4CAF50"/>
      </a:accent5>
      <a:accent6>
        <a:srgbClr val="8E44AD"/>
      </a:accent6>
      <a:hlink>
        <a:srgbClr val="34A3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
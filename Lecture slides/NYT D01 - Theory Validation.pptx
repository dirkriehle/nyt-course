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4179A6-67B4-4F30-8105-52F32C63EBD9}">
  <a:tblStyle styleId="{AC4179A6-67B4-4F30-8105-52F32C63EB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AA8FBAD-1173-4F94-B989-8697C069B10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c37001a82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c37001a82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a7555d16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9a7555d16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246fb0b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246fb0b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224af2f7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224af2f7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3f93e392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3f93e392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246fb0b6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2246fb0b6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2246fb0b6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2246fb0b6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246fb0b6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246fb0b6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f526c459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f526c459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f526c459e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f526c459e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526c459e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526c459e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4af2f72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24af2f72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f526c459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f526c459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642d48b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642d48b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6bbd71a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6bbd71a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246fb0b6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246fb0b6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22a294c02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22a294c02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f526c459e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f526c459e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526c459e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526c459e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26bbd71a1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26bbd71a1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26bbd71a1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26bbd71a1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f526c459e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f526c459e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526c459e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f526c459e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f526c459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f526c459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2a294c02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22a294c02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26bbd71a1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26bbd71a1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22a294c021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22a294c021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24a05b51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24a05b51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22a294c0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22a294c0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22a294c02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22a294c0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22a294c02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22a294c02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c8c09730d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c8c09730d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22a294c02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22a294c02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c8c09730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c8c09730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c8c09730d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c8c09730d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2a294c021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22a294c02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22a294c02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22a294c02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22a294c02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22a294c02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22a294c02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22a294c02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26bbd71a1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26bbd71a1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058f7102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058f7102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71456668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87145666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71456668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871456668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www.britannica.com/video/21895/Collapse-Tacoma-Narrows-Bridge-Puget-Sound-Washington-Nov-7-1940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ss.cs.fau.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commons.wikimedia.org/wiki/File:PiratesVsTemp(en).svg" TargetMode="External"/><Relationship Id="rId5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oss.cs.fau.d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oss.cs.fau.d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ss.cs.fau.d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s.cs.fau.d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ss.cs.fau.d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oss.cs.fau.d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uni1.de/nyt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Validation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D01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Content and Structure</a:t>
            </a:r>
            <a:endParaRPr/>
          </a:p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https://uni1.de/nyt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is science?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Scientific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Qualitative data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Theory building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Theory 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Systematic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Qualitative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Case study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Theory validation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 startAt="9"/>
            </a:pPr>
            <a:r>
              <a:rPr b="1" lang="en">
                <a:solidFill>
                  <a:schemeClr val="accent3"/>
                </a:solidFill>
              </a:rPr>
              <a:t>Theory validation</a:t>
            </a:r>
            <a:endParaRPr b="1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Survey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Controlled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Comprehensive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12"/>
            </a:pPr>
            <a:r>
              <a:rPr lang="en"/>
              <a:t>Design science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Academia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13"/>
            </a:pPr>
            <a:r>
              <a:rPr lang="en"/>
              <a:t>Academic writing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13"/>
            </a:pPr>
            <a:r>
              <a:rPr lang="en"/>
              <a:t>Academic publishing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Validation strategy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Construct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hypotheses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Example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Theory Validation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 of Science (Recap)</a:t>
            </a:r>
            <a:endParaRPr/>
          </a:p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79" name="Google Shape;7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Validation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Theory validation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testing of a theory to confirm or punch holes into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Theory validation should follow a strategy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primitives of theory validation are hypothesis tests</a:t>
            </a:r>
            <a:endParaRPr/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of Theory Validation</a:t>
            </a:r>
            <a:endParaRPr/>
          </a:p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theory validation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Discriminately and adversarially test a theory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identify weaknesses and holes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cost-efficient way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Theory Validation Process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theory validation research process</a:t>
            </a:r>
            <a:r>
              <a:rPr lang="en"/>
              <a:t> is</a:t>
            </a:r>
            <a:r>
              <a:rPr b="1" lang="en"/>
              <a:t> 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Incremental (one hypothesis at a time)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Never finished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hypothesis testing process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</a:t>
            </a:r>
            <a:r>
              <a:rPr lang="en"/>
              <a:t>ften a one-shot process</a:t>
            </a:r>
            <a:endParaRPr/>
          </a:p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Be Learned?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Validation(ism)</a:t>
            </a:r>
            <a:r>
              <a:rPr lang="en"/>
              <a:t> (verificationism)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belief that you can proof (“validate”) a theory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Closely aligned with classic positivist stance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Falsification(ism)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belief that you can't proof a theory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that you should keep it around until it got falsified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Falsification dominates, yet a falsification may be incorrect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Validation Strategy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Minimal Theory (Recap)</a:t>
            </a:r>
            <a:endParaRPr/>
          </a:p>
        </p:txBody>
      </p: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2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Minimal Validation Strategy</a:t>
            </a:r>
            <a:endParaRPr/>
          </a:p>
        </p:txBody>
      </p:sp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Generation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Hypothesis generation = theory instantiation = deductive reasoning</a:t>
            </a:r>
            <a:endParaRPr/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5" y="1371600"/>
            <a:ext cx="3600450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Triangulation in Theory Validation</a:t>
            </a:r>
            <a:endParaRPr/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Validation vs. Application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(application) of a theory is a form of hypothesis generation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b="1" lang="en"/>
              <a:t>theory validation,</a:t>
            </a:r>
            <a:r>
              <a:rPr lang="en"/>
              <a:t> we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Adversarially seek out boundary cases to test the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b="1" lang="en"/>
              <a:t>theory</a:t>
            </a:r>
            <a:r>
              <a:rPr b="1" lang="en"/>
              <a:t> application, </a:t>
            </a:r>
            <a:r>
              <a:rPr lang="en"/>
              <a:t>we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sure we stay within the sweet spot to build something of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Pushing application to the edge of theory is usually not a good idea [1]</a:t>
            </a:r>
            <a:endParaRPr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Cf. </a:t>
            </a:r>
            <a:r>
              <a:rPr lang="en"/>
              <a:t>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Gallopping Gertie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Research Methods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quantitative research method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Gathers quantitative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sampling methods that allow for statistical generalization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run a hypothesis test</a:t>
            </a:r>
            <a:endParaRPr/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Construct Design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variable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Directly observable one-dimensional phenomenon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physical variable</a:t>
            </a:r>
            <a:r>
              <a:rPr lang="en"/>
              <a:t> is a variable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Reflects a physical reality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construct </a:t>
            </a:r>
            <a:r>
              <a:rPr lang="en"/>
              <a:t>is a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Not-directly-observable “latent” phenomenon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Constructs can be multi-dimensional</a:t>
            </a:r>
            <a:endParaRPr/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and Constructs</a:t>
            </a:r>
            <a:endParaRPr/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reflective construct </a:t>
            </a:r>
            <a:r>
              <a:rPr lang="en"/>
              <a:t>is a construct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assessed (measured)</a:t>
            </a:r>
            <a:br>
              <a:rPr lang="en"/>
            </a:br>
            <a:r>
              <a:rPr lang="en"/>
              <a:t>through appropriate indicators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Reflects some underlying reality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formative construct </a:t>
            </a:r>
            <a:r>
              <a:rPr lang="en"/>
              <a:t>is a construct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defined by its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entirely created by humans</a:t>
            </a:r>
            <a:endParaRPr/>
          </a:p>
        </p:txBody>
      </p:sp>
      <p:sp>
        <p:nvSpPr>
          <p:cNvPr id="174" name="Google Shape;174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Reflective vs. Formative Constructs [1]</a:t>
            </a:r>
            <a:endParaRPr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Petter et al. (2007): Specifying formative constructs.</a:t>
            </a:r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025" y="914400"/>
            <a:ext cx="3657600" cy="141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Constructs and Indicators</a:t>
            </a:r>
            <a:endParaRPr/>
          </a:p>
        </p:txBody>
      </p:sp>
      <p:sp>
        <p:nvSpPr>
          <p:cNvPr id="183" name="Google Shape;183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184" name="Google Shape;184;p27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{AC4179A6-67B4-4F30-8105-52F32C63EBD9}</a:tableStyleId>
              </a:tblPr>
              <a:tblGrid>
                <a:gridCol w="2148850"/>
                <a:gridCol w="2148850"/>
                <a:gridCol w="2148850"/>
                <a:gridCol w="2148850"/>
              </a:tblGrid>
              <a:tr h="47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Construct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Indicator 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Indicator 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Indicator 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Temperature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Brownian motion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Exam stress level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rate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Amount of sweat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Usability of a website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Clarity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Relevance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Accessibility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Ability to write bug-free code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bugs by difficulty per unit of time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  <a:tc hMerge="1"/>
              </a:tr>
              <a:tr h="47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Intention to share access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Open mindedness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Collaborativeness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Goal orientation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 Operationalization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Intrinsic definition</a:t>
            </a:r>
            <a:r>
              <a:rPr lang="en"/>
              <a:t> (reflective constructs)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definition is based the construct’s assumed intrinsic properties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there can be different ways of measuring the construct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Extrinsic definition</a:t>
            </a:r>
            <a:r>
              <a:rPr lang="en"/>
              <a:t> (formative constructs)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construct’s operationalization is its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there is is exactly one way of measuring the construct</a:t>
            </a:r>
            <a:endParaRPr/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Construct validity </a:t>
            </a:r>
            <a:r>
              <a:rPr lang="en"/>
              <a:t>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extent to which an operationalization matches the construct’s definition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Questions to ask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any individual </a:t>
            </a:r>
            <a:r>
              <a:rPr lang="en"/>
              <a:t>indicators</a:t>
            </a:r>
            <a:r>
              <a:rPr lang="en"/>
              <a:t> </a:t>
            </a:r>
            <a:r>
              <a:rPr lang="en"/>
              <a:t>measured</a:t>
            </a:r>
            <a:r>
              <a:rPr lang="en"/>
              <a:t> correctly?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 indicators correctly aggregated?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 construct domain fully covered?</a:t>
            </a:r>
            <a:endParaRPr/>
          </a:p>
        </p:txBody>
      </p:sp>
      <p:sp>
        <p:nvSpPr>
          <p:cNvPr id="197" name="Google Shape;197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 Validity</a:t>
            </a:r>
            <a:endParaRPr/>
          </a:p>
        </p:txBody>
      </p:sp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Instruments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variables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Corresponding </a:t>
            </a:r>
            <a:r>
              <a:rPr b="1" lang="en"/>
              <a:t>physical devices</a:t>
            </a:r>
            <a:r>
              <a:rPr lang="en"/>
              <a:t> e.g. a thermometer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Atomic constructs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Human-made instruments e.g. </a:t>
            </a:r>
            <a:r>
              <a:rPr b="1" lang="en"/>
              <a:t>item (question) blocks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Composite constructs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Composites of measurement instruments</a:t>
            </a:r>
            <a:endParaRPr/>
          </a:p>
        </p:txBody>
      </p:sp>
      <p:sp>
        <p:nvSpPr>
          <p:cNvPr id="205" name="Google Shape;205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of Measurement Instruments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instruments need to be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Standardized, 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Consistently calibrated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correspondence of indicators and constructs is its own hypothesis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 is that a measurement instrument correctly reflects this correspondence</a:t>
            </a:r>
            <a:endParaRPr/>
          </a:p>
        </p:txBody>
      </p:sp>
      <p:sp>
        <p:nvSpPr>
          <p:cNvPr id="212" name="Google Shape;212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Research Hypotheses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research question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question of interest to be answered by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research hypothesis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research question that can only be answered with yes or no, true or false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Research questions should answerable and non-trivial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answer can be big (a whole theory) or small (yes/no)</a:t>
            </a:r>
            <a:endParaRPr/>
          </a:p>
        </p:txBody>
      </p:sp>
      <p:sp>
        <p:nvSpPr>
          <p:cNvPr id="223" name="Google Shape;223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Hypothesis (Recap)</a:t>
            </a:r>
            <a:endParaRPr/>
          </a:p>
        </p:txBody>
      </p:sp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 (Recap)</a:t>
            </a:r>
            <a:endParaRPr/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and Causation</a:t>
            </a:r>
            <a:endParaRPr/>
          </a:p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Variable A </a:t>
            </a:r>
            <a:r>
              <a:rPr b="1" lang="en"/>
              <a:t>correlates</a:t>
            </a:r>
            <a:r>
              <a:rPr lang="en"/>
              <a:t> with variable B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Changes to variable A correspond to defined changes in variable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Variable A </a:t>
            </a:r>
            <a:r>
              <a:rPr b="1" lang="en"/>
              <a:t>causes</a:t>
            </a:r>
            <a:r>
              <a:rPr lang="en"/>
              <a:t> variable B to change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Changes to variable A cause defined changes in variable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Correlation can be measured, causation needs to be established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Causation vs. Correlation [1]</a:t>
            </a:r>
            <a:endParaRPr/>
          </a:p>
        </p:txBody>
      </p:sp>
      <p:sp>
        <p:nvSpPr>
          <p:cNvPr id="244" name="Google Shape;244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0" y="469087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[1] See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https://commons.wikimedia.org/wiki/File:PiratesVsTemp(en).svg</a:t>
            </a:r>
            <a:r>
              <a:rPr lang="en" sz="1200"/>
              <a:t> </a:t>
            </a:r>
            <a:endParaRPr sz="1200"/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7185" y="914400"/>
            <a:ext cx="5809629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Example Methods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Research Methods</a:t>
            </a:r>
            <a:endParaRPr/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quantitative research methods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Hypothesis-testing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Controlled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many </a:t>
            </a:r>
            <a:r>
              <a:rPr lang="en"/>
              <a:t>other</a:t>
            </a:r>
            <a:r>
              <a:rPr lang="en"/>
              <a:t> forms of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Hypothesis-Testing Surveys</a:t>
            </a:r>
            <a:endParaRPr/>
          </a:p>
        </p:txBody>
      </p:sp>
      <p:sp>
        <p:nvSpPr>
          <p:cNvPr id="264" name="Google Shape;264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hypothesis-testing survey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collection of hypothesis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with a large sample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item blocks as instruments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presented as a questionnaire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are other types of surveys, most notably, </a:t>
            </a:r>
            <a:r>
              <a:rPr b="1" lang="en"/>
              <a:t>descriptive surveys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not useful for theory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may be useful in theory building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Item Blocks in Hypothesis-Testing Surveys</a:t>
            </a:r>
            <a:endParaRPr/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item block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measurement instrument of a construct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typically takes the form of set of questions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Triangulate a measure for the underlying construct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item block for personal innovativeness [1]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I heard about a new technology, I would look for ways to experiment with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Among my peers, I’m usually the first to try out new technologies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 general, I am hesitant to try out new technologies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 like to experiment with new technologies</a:t>
            </a:r>
            <a:endParaRPr/>
          </a:p>
        </p:txBody>
      </p:sp>
      <p:sp>
        <p:nvSpPr>
          <p:cNvPr id="272" name="Google Shape;272;p4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Agarwal &amp; Prasad (1998): Personal innovativeness.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Controlled Experiments</a:t>
            </a:r>
            <a:endParaRPr/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controlled experiment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collection of hypothesis tests where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treatment is applied to the independent variable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Measure the effect on the assumed dependent variable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tightly controlled environment to isolate the variables of interest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Recipients are typically split into a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Treatment group (which receives the treatment) and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 group (which does not)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Controlled Random Trials</a:t>
            </a:r>
            <a:endParaRPr/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Controlled experiments = controlled random trials (in medicine)</a:t>
            </a:r>
            <a:endParaRPr/>
          </a:p>
        </p:txBody>
      </p:sp>
      <p:sp>
        <p:nvSpPr>
          <p:cNvPr id="287" name="Google Shape;287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Types of Experiments</a:t>
            </a:r>
            <a:endParaRPr/>
          </a:p>
        </p:txBody>
      </p:sp>
      <p:sp>
        <p:nvSpPr>
          <p:cNvPr id="293" name="Google Shape;293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Field </a:t>
            </a:r>
            <a:r>
              <a:rPr lang="en"/>
              <a:t>experiments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Natural experiments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Quasi-experiments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</p:txBody>
      </p:sp>
      <p:sp>
        <p:nvSpPr>
          <p:cNvPr id="294" name="Google Shape;294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Hypothesis-Testing Survey vs. Controlled Experiment</a:t>
            </a:r>
            <a:endParaRPr/>
          </a:p>
        </p:txBody>
      </p:sp>
      <p:sp>
        <p:nvSpPr>
          <p:cNvPr id="300" name="Google Shape;300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301" name="Google Shape;301;p44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{AC4179A6-67B4-4F30-8105-52F32C63EBD9}</a:tableStyleId>
              </a:tblPr>
              <a:tblGrid>
                <a:gridCol w="2865125"/>
                <a:gridCol w="2865125"/>
                <a:gridCol w="2865125"/>
              </a:tblGrid>
              <a:tr h="82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Hypothesis-Testing Survey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Controlled Experiment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Sample size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(Usually) l</a:t>
                      </a:r>
                      <a:r>
                        <a:rPr lang="en"/>
                        <a:t>arge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(Comparatively) s</a:t>
                      </a:r>
                      <a:r>
                        <a:rPr lang="en"/>
                        <a:t>mall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Dealing with variation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Through large sample size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Through sample size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By </a:t>
                      </a:r>
                      <a:r>
                        <a:rPr lang="en"/>
                        <a:t>controlling</a:t>
                      </a:r>
                      <a:r>
                        <a:rPr lang="en"/>
                        <a:t> the environment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Data collection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Questionnaire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Observation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r>
              <a:rPr lang="en"/>
              <a:t>. Quality Assurance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Criteria for Research Methods (Recap)</a:t>
            </a:r>
            <a:endParaRPr/>
          </a:p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313" name="Google Shape;313;p4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{5AA8FBAD-1173-4F94-B989-8697C069B108}</a:tableStyleId>
              </a:tblPr>
              <a:tblGrid>
                <a:gridCol w="2865125"/>
                <a:gridCol w="2865125"/>
                <a:gridCol w="2865125"/>
              </a:tblGrid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Intuition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Qualitative research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Quantitative research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Truth value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Credibility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Internal validity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Applicability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Transferability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External validity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Consistency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Dependability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Reliability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Confirmability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Objectivity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Internal validity</a:t>
            </a:r>
            <a:r>
              <a:rPr lang="en"/>
              <a:t> is the extent to which the study result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Shows a cause and effect relationship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External validity</a:t>
            </a:r>
            <a:r>
              <a:rPr b="1" lang="en"/>
              <a:t> </a:t>
            </a:r>
            <a:r>
              <a:rPr lang="en"/>
              <a:t>is </a:t>
            </a:r>
            <a:r>
              <a:rPr lang="en"/>
              <a:t>the extent to which the study result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generalized beyond the study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Reliability</a:t>
            </a:r>
            <a:r>
              <a:rPr lang="en"/>
              <a:t> is the extent to which the study result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repeated under the same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Objectivity</a:t>
            </a:r>
            <a:r>
              <a:rPr lang="en"/>
              <a:t> is the extent to which the study result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repeated by other researchers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Empirical Criteria</a:t>
            </a:r>
            <a:endParaRPr/>
          </a:p>
        </p:txBody>
      </p:sp>
      <p:sp>
        <p:nvSpPr>
          <p:cNvPr id="320" name="Google Shape;320;p4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26" name="Google Shape;326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Validation strategy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Construct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hypotheses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Example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</p:txBody>
      </p:sp>
      <p:sp>
        <p:nvSpPr>
          <p:cNvPr id="327" name="Google Shape;327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In-, De-, and Reduction</a:t>
            </a:r>
            <a:endParaRPr/>
          </a:p>
        </p:txBody>
      </p:sp>
      <p:sp>
        <p:nvSpPr>
          <p:cNvPr id="333" name="Google Shape;333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Induction is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 of inserting ducks into science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Deduction is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 of removing ducks from science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Reduction is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 of replacing worn out ducks in science</a:t>
            </a:r>
            <a:endParaRPr/>
          </a:p>
        </p:txBody>
      </p:sp>
      <p:sp>
        <p:nvSpPr>
          <p:cNvPr id="334" name="Google Shape;334;p4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0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40" name="Google Shape;340;p50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46" name="Google Shape;346;p5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https://uni1.de/nyt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47" name="Google Shape;347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
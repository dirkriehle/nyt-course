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7AA64DE-460A-4653-9316-6F999F0431AB}">
  <a:tblStyle styleId="{87AA64DE-460A-4653-9316-6F999F0431A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108F6330-D793-40DD-A756-A1642F3AE0E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2c37001a82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g2c37001a82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12246fb0b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g12246fb0b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f9bad1e87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f9bad1e8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1224af2f72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1224af2f7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3f93e3922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3f93e3922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246fb0b64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246fb0b64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12246fb0b64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12246fb0b64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12246fb0b64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12246fb0b64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1f526c459ec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1f526c459ec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f526c459ec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f526c459ec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1f526c459e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1f526c459e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224af2f72e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224af2f72e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f526c459ec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1f526c459ec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2642d48b2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2642d48b2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126bbd71a1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126bbd71a1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12246fb0b64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12246fb0b64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122a294c021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122a294c021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f526c459ec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f526c459ec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f526c459ec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f526c459ec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126bbd71a1b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126bbd71a1b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126bbd71a1b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126bbd71a1b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1f526c459ec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1f526c459ec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1f526c459ec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1f526c459ec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1f526c459e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1f526c459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22a294c0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22a294c0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126bbd71a1b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126bbd71a1b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122a294c021_0_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122a294c021_0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124a05b51f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124a05b51f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122a294c0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122a294c0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122a294c021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122a294c021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122a294c021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122a294c021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c8c09730d4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c8c09730d4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122a294c021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122a294c021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c8c09730d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c8c09730d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c8c09730d4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2c8c09730d4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122a294c021_0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122a294c021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122a294c021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122a294c021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22a294c021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22a294c021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122a294c021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122a294c021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126bbd71a1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126bbd71a1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57baf333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57baf333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23957baf333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23957baf333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058f71020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058f71020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0" y="2388810"/>
            <a:ext cx="9144000" cy="183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/>
          <p:nvPr/>
        </p:nvSpPr>
        <p:spPr>
          <a:xfrm>
            <a:off x="0" y="2386584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5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1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uni1.de/nyt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uni1.de/nyt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uni1.de/nyt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://uni1.de/nyt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www.britannica.com/video/21895/Collapse-Tacoma-Narrows-Bridge-Puget-Sound-Washington-Nov-7-1940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uni1.de/ny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uni1.de/nyt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uni1.de/nyt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uni1.de/nyt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://uni1.de/ny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uni1.de/nyt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uni1.de/nyt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://uni1.de/nyt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commons.wikimedia.org/wiki/File:PiratesVsTemp(en).svg" TargetMode="External"/><Relationship Id="rId5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uni1.de/nyt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://uni1.de/nyt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uni1.de/nyt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://uni1.de/nyt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://uni1.de/nyt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://uni1.de/nyt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://uni1.de/nyt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://uni1.de/nyt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://uni1.de/nyt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profriehle.com" TargetMode="External"/><Relationship Id="rId4" Type="http://schemas.openxmlformats.org/officeDocument/2006/relationships/hyperlink" Target="http://creativecommons.org/licenses/by/4.0/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://uni1.de/nyt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Validation</a:t>
            </a:r>
            <a:endParaRPr/>
          </a:p>
        </p:txBody>
      </p:sp>
      <p:sp>
        <p:nvSpPr>
          <p:cNvPr id="38" name="Google Shape;38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D01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5" name="Google Shape;45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Validation strategy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Construct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hypotheses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Example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Theory Validation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Process of Science (Recap)</a:t>
            </a:r>
            <a:endParaRPr/>
          </a:p>
        </p:txBody>
      </p:sp>
      <p:sp>
        <p:nvSpPr>
          <p:cNvPr id="56" name="Google Shape;56;p1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57" name="Google Shape;57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Validation</a:t>
            </a:r>
            <a:endParaRPr/>
          </a:p>
        </p:txBody>
      </p:sp>
      <p:sp>
        <p:nvSpPr>
          <p:cNvPr id="63" name="Google Shape;63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Theory validation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testing of a theory to confirm or punch holes into 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Theory validation should follow a strategy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primitives of theory validation are hypothesis tests</a:t>
            </a:r>
            <a:endParaRPr/>
          </a:p>
        </p:txBody>
      </p:sp>
      <p:sp>
        <p:nvSpPr>
          <p:cNvPr id="64" name="Google Shape;64;p1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Purpose of Theory Validation</a:t>
            </a:r>
            <a:endParaRPr/>
          </a:p>
        </p:txBody>
      </p:sp>
      <p:sp>
        <p:nvSpPr>
          <p:cNvPr id="70" name="Google Shape;70;p1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purpose of theory validation is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Discriminately and adversarially test a theory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identify weaknesses and holes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cost-efficient way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Theory Validation Process</a:t>
            </a:r>
            <a:endParaRPr/>
          </a:p>
        </p:txBody>
      </p:sp>
      <p:sp>
        <p:nvSpPr>
          <p:cNvPr id="77" name="Google Shape;77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b="1" lang="en"/>
              <a:t>theory validation research process 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Incremental (one hypothesis at a time)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never finished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b="1" lang="en"/>
              <a:t>hypothesis testing process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often a one-shot process</a:t>
            </a:r>
            <a:endParaRPr/>
          </a:p>
        </p:txBody>
      </p:sp>
      <p:sp>
        <p:nvSpPr>
          <p:cNvPr id="78" name="Google Shape;78;p1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Can Be Learned?</a:t>
            </a:r>
            <a:endParaRPr/>
          </a:p>
        </p:txBody>
      </p:sp>
      <p:sp>
        <p:nvSpPr>
          <p:cNvPr id="84" name="Google Shape;84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Validation(ism)</a:t>
            </a:r>
            <a:r>
              <a:rPr lang="en"/>
              <a:t> (verificationism)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belief that you can proof (“validate”) a theory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Closely aligned with classic positivist stance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Falsification(ism)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belief that you can't proof a theory correct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that you should keep it around until it got falsified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Falsification dominates, yet a falsification may be incorrect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</a:t>
            </a:r>
            <a:r>
              <a:rPr lang="en"/>
              <a:t>Validation Strategy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Minimal Theory (Recap)</a:t>
            </a:r>
            <a:endParaRPr/>
          </a:p>
        </p:txBody>
      </p:sp>
      <p:sp>
        <p:nvSpPr>
          <p:cNvPr id="96" name="Google Shape;96;p1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97" name="Google Shape;97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Minimal Validation Strategy</a:t>
            </a:r>
            <a:endParaRPr/>
          </a:p>
        </p:txBody>
      </p:sp>
      <p:sp>
        <p:nvSpPr>
          <p:cNvPr id="103" name="Google Shape;103;p1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Hypothesis Generation</a:t>
            </a:r>
            <a:endParaRPr/>
          </a:p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Hypothesis generation = theory instantiation = deductive reasoning</a:t>
            </a:r>
            <a:endParaRPr/>
          </a:p>
        </p:txBody>
      </p:sp>
      <p:sp>
        <p:nvSpPr>
          <p:cNvPr id="111" name="Google Shape;111;p1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12" name="Google Shape;112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5" y="1371600"/>
            <a:ext cx="3600450" cy="225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Triangulation in Theory Validation</a:t>
            </a:r>
            <a:endParaRPr/>
          </a:p>
        </p:txBody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19" name="Google Shape;11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Validation vs. Application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(application) of a theory is a form of hypothesis generation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</a:t>
            </a:r>
            <a:r>
              <a:rPr b="1" lang="en"/>
              <a:t>theory validation,</a:t>
            </a:r>
            <a:r>
              <a:rPr lang="en"/>
              <a:t> we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Adversarially seek out boundary cases to test the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</a:t>
            </a:r>
            <a:r>
              <a:rPr b="1" lang="en"/>
              <a:t>theory</a:t>
            </a:r>
            <a:r>
              <a:rPr b="1" lang="en"/>
              <a:t> application, </a:t>
            </a:r>
            <a:r>
              <a:rPr lang="en"/>
              <a:t>we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sure we stay within the sweet spot to build something of use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Pushing application to the edge of theory is usually not a good idea [1]</a:t>
            </a:r>
            <a:endParaRPr/>
          </a:p>
        </p:txBody>
      </p:sp>
      <p:sp>
        <p:nvSpPr>
          <p:cNvPr id="126" name="Google Shape;126;p2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27" name="Google Shape;127;p2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Cf. </a:t>
            </a:r>
            <a:r>
              <a:rPr lang="en"/>
              <a:t>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Gallopping Gertie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Quantitative Research Methods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quantitative research method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Gathers quantitative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sampling methods that allow for statistical generalization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run a hypothesis test</a:t>
            </a:r>
            <a:endParaRPr/>
          </a:p>
        </p:txBody>
      </p:sp>
      <p:sp>
        <p:nvSpPr>
          <p:cNvPr id="134" name="Google Shape;134;p2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Construct Design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variable</a:t>
            </a:r>
            <a:r>
              <a:rPr lang="en"/>
              <a:t>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Directly observable one-dimensional phenomenon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physical variable</a:t>
            </a:r>
            <a:r>
              <a:rPr lang="en"/>
              <a:t> is a variable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Reflects a physical reality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construct </a:t>
            </a:r>
            <a:r>
              <a:rPr lang="en"/>
              <a:t>is a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Not-directly-observable “latent” phenomenon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Constructs can be multi-dimensional</a:t>
            </a:r>
            <a:endParaRPr/>
          </a:p>
        </p:txBody>
      </p:sp>
      <p:sp>
        <p:nvSpPr>
          <p:cNvPr id="145" name="Google Shape;145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 and Constructs</a:t>
            </a:r>
            <a:endParaRPr/>
          </a:p>
        </p:txBody>
      </p:sp>
      <p:sp>
        <p:nvSpPr>
          <p:cNvPr id="146" name="Google Shape;146;p2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reflective construct </a:t>
            </a:r>
            <a:r>
              <a:rPr lang="en"/>
              <a:t>is a construct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assessed (measured) through appropriate indicators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Reflects some underlying reality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formative construct </a:t>
            </a:r>
            <a:r>
              <a:rPr lang="en"/>
              <a:t>is a construct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defined by its measurements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entirely created by humans</a:t>
            </a:r>
            <a:endParaRPr/>
          </a:p>
        </p:txBody>
      </p:sp>
      <p:sp>
        <p:nvSpPr>
          <p:cNvPr id="152" name="Google Shape;152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Reflective vs. Formative Constructs [1]</a:t>
            </a:r>
            <a:endParaRPr/>
          </a:p>
        </p:txBody>
      </p:sp>
      <p:sp>
        <p:nvSpPr>
          <p:cNvPr id="153" name="Google Shape;153;p2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54" name="Google Shape;154;p2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Petter et al. (2007): Specifying formative constructs.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7613" y="2298200"/>
            <a:ext cx="4572001" cy="1935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Constructs and Indicators</a:t>
            </a:r>
            <a:endParaRPr/>
          </a:p>
        </p:txBody>
      </p:sp>
      <p:sp>
        <p:nvSpPr>
          <p:cNvPr id="161" name="Google Shape;161;p2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162" name="Google Shape;162;p26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{87AA64DE-460A-4653-9316-6F999F0431AB}</a:tableStyleId>
              </a:tblPr>
              <a:tblGrid>
                <a:gridCol w="2148850"/>
                <a:gridCol w="2148850"/>
                <a:gridCol w="2148850"/>
                <a:gridCol w="2148850"/>
              </a:tblGrid>
              <a:tr h="4702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Construct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Indicator 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Indicator 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Indicator 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Temperature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Brownian motion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Exam stress level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Heart rate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Amount of sweat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Usability of a website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Clarity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Relevance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Accessibility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Ability to write bug-free code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Number of bugs by difficulty per unit of time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hMerge="1"/>
                <a:tc hMerge="1"/>
              </a:tr>
              <a:tr h="470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Intention to share access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Open mindedness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Collaborativeness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Goal orientation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Construct Operationalization</a:t>
            </a:r>
            <a:endParaRPr/>
          </a:p>
        </p:txBody>
      </p:sp>
      <p:sp>
        <p:nvSpPr>
          <p:cNvPr id="168" name="Google Shape;168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Intrinsic definition</a:t>
            </a:r>
            <a:r>
              <a:rPr lang="en"/>
              <a:t> (reflective constructs)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definition is based the construct’s assumed intrinsic properties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there can be different ways of measuring the construct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Extrinsic definition</a:t>
            </a:r>
            <a:r>
              <a:rPr lang="en"/>
              <a:t> (formative constructs)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construct’s operationalization is its definition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there is is exactly one way of measuring the construct</a:t>
            </a:r>
            <a:endParaRPr/>
          </a:p>
        </p:txBody>
      </p:sp>
      <p:sp>
        <p:nvSpPr>
          <p:cNvPr id="169" name="Google Shape;169;p2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Construct validity </a:t>
            </a:r>
            <a:r>
              <a:rPr lang="en"/>
              <a:t>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extent to which an operationalization matches the construct’s definition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Questions to ask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any individual </a:t>
            </a:r>
            <a:r>
              <a:rPr lang="en"/>
              <a:t>indicators</a:t>
            </a:r>
            <a:r>
              <a:rPr lang="en"/>
              <a:t> </a:t>
            </a:r>
            <a:r>
              <a:rPr lang="en"/>
              <a:t>measured</a:t>
            </a:r>
            <a:r>
              <a:rPr lang="en"/>
              <a:t> correctly?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the indicators correctly aggregated?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the construct domain fully covered?</a:t>
            </a:r>
            <a:endParaRPr/>
          </a:p>
        </p:txBody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Construct Validity</a:t>
            </a:r>
            <a:endParaRPr/>
          </a:p>
        </p:txBody>
      </p:sp>
      <p:sp>
        <p:nvSpPr>
          <p:cNvPr id="176" name="Google Shape;176;p2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Measurement Instruments</a:t>
            </a:r>
            <a:endParaRPr/>
          </a:p>
        </p:txBody>
      </p:sp>
      <p:sp>
        <p:nvSpPr>
          <p:cNvPr id="182" name="Google Shape;182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Physical variables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Corresponding </a:t>
            </a:r>
            <a:r>
              <a:rPr b="1" lang="en"/>
              <a:t>physical devices</a:t>
            </a:r>
            <a:r>
              <a:rPr lang="en"/>
              <a:t> e.g. a thermometer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Atomic constructs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Human-made instruments e.g. </a:t>
            </a:r>
            <a:r>
              <a:rPr b="1" lang="en"/>
              <a:t>item (question) blocks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Composite constructs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Composites of measurement instruments</a:t>
            </a:r>
            <a:endParaRPr/>
          </a:p>
        </p:txBody>
      </p:sp>
      <p:sp>
        <p:nvSpPr>
          <p:cNvPr id="183" name="Google Shape;183;p2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Development of Measurement Instruments</a:t>
            </a:r>
            <a:endParaRPr/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Measurement instruments need to be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Invented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Standardized,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Consistently calibrated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correspondence of indicators and constructs is its own hypothesis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So is that a measurement instrument correctly reflects this correspondence</a:t>
            </a:r>
            <a:endParaRPr/>
          </a:p>
        </p:txBody>
      </p:sp>
      <p:sp>
        <p:nvSpPr>
          <p:cNvPr id="190" name="Google Shape;190;p3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</a:t>
            </a:r>
            <a:r>
              <a:rPr lang="en"/>
              <a:t>. Research Hypotheses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research question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question of interest to be answered by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research hypothesis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research question that can only be answered with yes or no, true or false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Research questions should answerable and non-trivial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answer can be big (a whole theory) or small (yes/no)</a:t>
            </a:r>
            <a:endParaRPr/>
          </a:p>
        </p:txBody>
      </p:sp>
      <p:sp>
        <p:nvSpPr>
          <p:cNvPr id="201" name="Google Shape;201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Hypothesis (Recap)</a:t>
            </a:r>
            <a:endParaRPr/>
          </a:p>
        </p:txBody>
      </p:sp>
      <p:sp>
        <p:nvSpPr>
          <p:cNvPr id="202" name="Google Shape;202;p3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Hypothesis Testing (Recap)</a:t>
            </a:r>
            <a:endParaRPr/>
          </a:p>
        </p:txBody>
      </p:sp>
      <p:sp>
        <p:nvSpPr>
          <p:cNvPr id="208" name="Google Shape;208;p3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09" name="Google Shape;209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Correlation and Causation</a:t>
            </a:r>
            <a:endParaRPr/>
          </a:p>
        </p:txBody>
      </p:sp>
      <p:sp>
        <p:nvSpPr>
          <p:cNvPr id="215" name="Google Shape;215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Variable A </a:t>
            </a:r>
            <a:r>
              <a:rPr b="1" lang="en"/>
              <a:t>correlates</a:t>
            </a:r>
            <a:r>
              <a:rPr lang="en"/>
              <a:t> with variable B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Changes to variable A correspond to defined changes in variable 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Variable A </a:t>
            </a:r>
            <a:r>
              <a:rPr b="1" lang="en"/>
              <a:t>causes</a:t>
            </a:r>
            <a:r>
              <a:rPr lang="en"/>
              <a:t> variable B to change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Changes to variable A cause defined changes in variable 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Correlation can be measured, causation needs to be established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Causation vs. Correlation [1]</a:t>
            </a:r>
            <a:endParaRPr/>
          </a:p>
        </p:txBody>
      </p:sp>
      <p:sp>
        <p:nvSpPr>
          <p:cNvPr id="222" name="Google Shape;222;p3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23" name="Google Shape;223;p35"/>
          <p:cNvSpPr txBox="1"/>
          <p:nvPr/>
        </p:nvSpPr>
        <p:spPr>
          <a:xfrm>
            <a:off x="0" y="469087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[1] See </a:t>
            </a:r>
            <a:r>
              <a:rPr lang="en" sz="1200" u="sng">
                <a:solidFill>
                  <a:schemeClr val="hlink"/>
                </a:solidFill>
                <a:hlinkClick r:id="rId4"/>
              </a:rPr>
              <a:t>https://commons.wikimedia.org/wiki/File:PiratesVsTemp(en).svg</a:t>
            </a:r>
            <a:r>
              <a:rPr lang="en" sz="1200"/>
              <a:t> </a:t>
            </a:r>
            <a:endParaRPr sz="1200"/>
          </a:p>
        </p:txBody>
      </p:sp>
      <p:pic>
        <p:nvPicPr>
          <p:cNvPr id="224" name="Google Shape;224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67185" y="914400"/>
            <a:ext cx="5809629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Example Methods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Quantitative Research Methods</a:t>
            </a:r>
            <a:endParaRPr/>
          </a:p>
        </p:txBody>
      </p:sp>
      <p:sp>
        <p:nvSpPr>
          <p:cNvPr id="235" name="Google Shape;235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quantitative research methods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Hypothesis-testing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Controlled experiments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But many </a:t>
            </a:r>
            <a:r>
              <a:rPr lang="en"/>
              <a:t>other</a:t>
            </a:r>
            <a:r>
              <a:rPr lang="en"/>
              <a:t> forms of experiments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Hypothesis-Testing Surveys</a:t>
            </a:r>
            <a:endParaRPr/>
          </a:p>
        </p:txBody>
      </p:sp>
      <p:sp>
        <p:nvSpPr>
          <p:cNvPr id="242" name="Google Shape;242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hypothesis-testing survey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collection of hypothesis tests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Typically with a large sample size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item blocks as instruments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Usually presented as a questionnaire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are other types of surveys, most notably, </a:t>
            </a:r>
            <a:r>
              <a:rPr b="1" lang="en"/>
              <a:t>descriptive surveys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These are not useful for theory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may be useful in theory building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3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Item Blocks in Hypothesis-Testing Surveys</a:t>
            </a:r>
            <a:endParaRPr/>
          </a:p>
        </p:txBody>
      </p:sp>
      <p:sp>
        <p:nvSpPr>
          <p:cNvPr id="249" name="Google Shape;249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item block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measurement instrument of a construct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It typically takes the form of set of questions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Triangulate a measure for the underlying construct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item block for personal innovativeness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If I heard about a new technology, I would look for ways to experiment with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Among my peers, I’m usually the first to try out new technologies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 general, I am hesitant to try out new technologies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 like to experiment with new technologies</a:t>
            </a:r>
            <a:endParaRPr/>
          </a:p>
        </p:txBody>
      </p:sp>
      <p:sp>
        <p:nvSpPr>
          <p:cNvPr id="250" name="Google Shape;250;p3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51" name="Google Shape;251;p3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Agarwal &amp; Prasad (1998): Personal innovativeness.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Controlled Experiments</a:t>
            </a:r>
            <a:endParaRPr/>
          </a:p>
        </p:txBody>
      </p:sp>
      <p:sp>
        <p:nvSpPr>
          <p:cNvPr id="257" name="Google Shape;257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controlled experiment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collection of hypothesis tests where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treatment is applied to the independent variable to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Measure the effect on the assumed dependent variable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tightly controlled environment to isolate the variables of interest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Recipients are typically split into a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Treatment group (which receives the treatment) and 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Control group (which does not)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4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Controlled Random Trials</a:t>
            </a:r>
            <a:endParaRPr/>
          </a:p>
        </p:txBody>
      </p:sp>
      <p:sp>
        <p:nvSpPr>
          <p:cNvPr id="264" name="Google Shape;264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Controlled experiments = controlled random trials (in medicine)</a:t>
            </a:r>
            <a:endParaRPr/>
          </a:p>
        </p:txBody>
      </p:sp>
      <p:sp>
        <p:nvSpPr>
          <p:cNvPr id="265" name="Google Shape;265;p4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Types of Experiments</a:t>
            </a:r>
            <a:endParaRPr/>
          </a:p>
        </p:txBody>
      </p:sp>
      <p:sp>
        <p:nvSpPr>
          <p:cNvPr id="271" name="Google Shape;271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Field </a:t>
            </a:r>
            <a:r>
              <a:rPr lang="en"/>
              <a:t>experiments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Natural experiments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Quasi-experiments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…</a:t>
            </a:r>
            <a:endParaRPr/>
          </a:p>
        </p:txBody>
      </p:sp>
      <p:sp>
        <p:nvSpPr>
          <p:cNvPr id="272" name="Google Shape;272;p4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Hypothesis-Testing Survey vs. Controlled Experiment</a:t>
            </a:r>
            <a:endParaRPr/>
          </a:p>
        </p:txBody>
      </p:sp>
      <p:sp>
        <p:nvSpPr>
          <p:cNvPr id="278" name="Google Shape;278;p4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279" name="Google Shape;279;p43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{87AA64DE-460A-4653-9316-6F999F0431AB}</a:tableStyleId>
              </a:tblPr>
              <a:tblGrid>
                <a:gridCol w="2865125"/>
                <a:gridCol w="2865125"/>
                <a:gridCol w="2865125"/>
              </a:tblGrid>
              <a:tr h="822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Hypothesis-Testing Survey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Controlled Experiment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Sample size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(Usually) l</a:t>
                      </a:r>
                      <a:r>
                        <a:rPr lang="en"/>
                        <a:t>arge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(Comparatively) s</a:t>
                      </a:r>
                      <a:r>
                        <a:rPr lang="en"/>
                        <a:t>mall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Dealing with variation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Through large sample size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Through sample size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By </a:t>
                      </a:r>
                      <a:r>
                        <a:rPr lang="en"/>
                        <a:t>controlling</a:t>
                      </a:r>
                      <a:r>
                        <a:rPr lang="en"/>
                        <a:t> the environment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Data collection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Questionnaire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Observation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</a:t>
            </a:r>
            <a:r>
              <a:rPr lang="en"/>
              <a:t>. Quality Assurance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Criteria for Research Methods (Recap)</a:t>
            </a:r>
            <a:endParaRPr/>
          </a:p>
        </p:txBody>
      </p:sp>
      <p:sp>
        <p:nvSpPr>
          <p:cNvPr id="290" name="Google Shape;290;p4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291" name="Google Shape;291;p45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{108F6330-D793-40DD-A756-A1642F3AE0E6}</a:tableStyleId>
              </a:tblPr>
              <a:tblGrid>
                <a:gridCol w="2865125"/>
                <a:gridCol w="2865125"/>
                <a:gridCol w="2865125"/>
              </a:tblGrid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</a:rPr>
                        <a:t>Intuition</a:t>
                      </a:r>
                      <a:endParaRPr b="1" sz="1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</a:rPr>
                        <a:t>Qualitative research</a:t>
                      </a:r>
                      <a:endParaRPr b="1" sz="1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</a:rPr>
                        <a:t>Quantitative research</a:t>
                      </a:r>
                      <a:endParaRPr b="1" sz="1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Truth value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Credibility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/>
                        <a:t>Internal validity</a:t>
                      </a:r>
                      <a:endParaRPr b="1"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Applicability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Transferability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/>
                        <a:t>External validity</a:t>
                      </a:r>
                      <a:endParaRPr b="1"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Consistency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Dependability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/>
                        <a:t>Reliability</a:t>
                      </a:r>
                      <a:endParaRPr b="1"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Neutrality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Confirmability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/>
                        <a:t>Objectivity</a:t>
                      </a:r>
                      <a:endParaRPr b="1"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Internal validity</a:t>
            </a:r>
            <a:r>
              <a:rPr lang="en"/>
              <a:t> is the extent to which the study result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Shows a cause and effect relationship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External validity</a:t>
            </a:r>
            <a:r>
              <a:rPr b="1" lang="en"/>
              <a:t> </a:t>
            </a:r>
            <a:r>
              <a:rPr lang="en"/>
              <a:t>is </a:t>
            </a:r>
            <a:r>
              <a:rPr lang="en"/>
              <a:t>the extent to which the study result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generalized beyond the study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Reliability</a:t>
            </a:r>
            <a:r>
              <a:rPr lang="en"/>
              <a:t> is the extent to which the study result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repeated under the same conditions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Objectivity</a:t>
            </a:r>
            <a:r>
              <a:rPr lang="en"/>
              <a:t> is the extent to which the study result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repeated by other researchers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Traditional Empirical Criteria</a:t>
            </a:r>
            <a:endParaRPr/>
          </a:p>
        </p:txBody>
      </p:sp>
      <p:sp>
        <p:nvSpPr>
          <p:cNvPr id="298" name="Google Shape;298;p4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04" name="Google Shape;304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Validation strategy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Construct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hypotheses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Example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</p:txBody>
      </p:sp>
      <p:sp>
        <p:nvSpPr>
          <p:cNvPr id="305" name="Google Shape;305;p4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11" name="Google Shape;311;p4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17" name="Google Shape;317;p4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https://profriehle.com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18" name="Google Shape;318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2023,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In-, De-, and Reduction</a:t>
            </a:r>
            <a:endParaRPr/>
          </a:p>
        </p:txBody>
      </p:sp>
      <p:sp>
        <p:nvSpPr>
          <p:cNvPr id="324" name="Google Shape;324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Induction is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 of inserting ducks into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Deduction is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 of removing ducks from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Reduction is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 of replacing worn out ducks in science</a:t>
            </a:r>
            <a:endParaRPr/>
          </a:p>
        </p:txBody>
      </p:sp>
      <p:sp>
        <p:nvSpPr>
          <p:cNvPr id="325" name="Google Shape;325;p5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YT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D50D01"/>
      </a:accent3>
      <a:accent4>
        <a:srgbClr val="FEB612"/>
      </a:accent4>
      <a:accent5>
        <a:srgbClr val="4CAF50"/>
      </a:accent5>
      <a:accent6>
        <a:srgbClr val="8E44AD"/>
      </a:accent6>
      <a:hlink>
        <a:srgbClr val="34A3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
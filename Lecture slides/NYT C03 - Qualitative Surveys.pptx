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106BC4C-E657-4A45-BBBC-C7B5B0444BA5}">
  <a:tblStyle styleId="{0106BC4C-E657-4A45-BBBC-C7B5B0444BA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2c2d77bb35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2c2d77bb35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9a754d5a0d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9a754d5a0d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10b1741a8d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10b1741a8d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10b1741a8de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10b1741a8de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171faa0b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2171faa0b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12fde7fa67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12fde7fa67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c329c9c1a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c329c9c1a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749ba1ed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21749ba1ed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10b1741a8de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10b1741a8de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12f2b49de6e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12f2b49de6e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12f2b49de6e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12f2b49de6e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12121"/>
              </a:solidFill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2171faa0bd6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2171faa0bd6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171faa0bd6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171faa0bd6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1216d967f3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1216d967f3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171faa0bd6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2171faa0bd6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216d967f34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216d967f34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2141864eafd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2141864eafd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2141864eaf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2141864eaf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2171faa0bd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2171faa0bd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171faa0bd6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171faa0b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141864eafd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141864eafd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141864eafd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141864eafd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12f83bbea6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12f83bbea6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12f83bbea61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12f83bbea61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1216d967f34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1216d967f34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1216d967f34_0_6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1216d967f34_0_6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1216d967f34_0_6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1216d967f34_0_6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171faa0bd6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171faa0bd6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1216d967f34_0_6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1216d967f34_0_6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12f2b49de6e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12f2b49de6e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1749ba1e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1749ba1e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1216d967f34_0_7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1216d967f34_0_7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12f2b49de6e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12f2b49de6e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171faa0bd6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171faa0b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171faa0bd6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171faa0bd6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12f2b49de6e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12f2b49de6e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71faa0bd6_0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2171faa0bd6_0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1216d967f34_0_6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1216d967f34_0_6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171faa0bd6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171faa0bd6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123ae08f9f0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123ae08f9f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32d1ef980c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32d1ef980c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71faa0bd6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2171faa0bd6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2171faa0bd6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2171faa0bd6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2171faa0bd6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2171faa0bd6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2171faa0bd6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2171faa0bd6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2171faa0bd6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2171faa0bd6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71faa0bd6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2171faa0bd6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8715c6b231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8715c6b231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8715c6b231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8715c6b231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https://uni1.de/nyt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uni1.de/ny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uni1.de/nyt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hyperlink" Target="https://uni1.de/nyt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uni1.de/nyt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uni1.de/nyt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uni1.de/nyt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uni1.de/nyt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uni1.de/nyt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2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uni1.de/nyt" TargetMode="External"/><Relationship Id="rId4" Type="http://schemas.openxmlformats.org/officeDocument/2006/relationships/image" Target="../media/image9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s://uni1.de/nyt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s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uni1.de/nyt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s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Surveys</a:t>
            </a:r>
            <a:endParaRPr/>
          </a:p>
        </p:txBody>
      </p:sp>
      <p:sp>
        <p:nvSpPr>
          <p:cNvPr id="52" name="Google Shape;52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C03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Content and Structure</a:t>
            </a:r>
            <a:endParaRPr/>
          </a:p>
        </p:txBody>
      </p:sp>
      <p:sp>
        <p:nvSpPr>
          <p:cNvPr id="58" name="Google Shape;58;p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" name="Google Shape;59;p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What is science?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Scientific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data analysis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Theory building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Theory building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Systematic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AutoNum type="arabicPeriod" startAt="4"/>
            </a:pPr>
            <a:r>
              <a:rPr b="1" lang="en">
                <a:solidFill>
                  <a:schemeClr val="accent3"/>
                </a:solidFill>
              </a:rPr>
              <a:t>Qualitative surveys</a:t>
            </a:r>
            <a:endParaRPr b="1">
              <a:solidFill>
                <a:schemeClr val="accent3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Action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4"/>
            </a:pPr>
            <a:r>
              <a:rPr lang="en"/>
              <a:t>Case study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60" name="Google Shape;60;p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Theory validation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Theory validation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Survey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9"/>
            </a:pPr>
            <a:r>
              <a:rPr lang="en"/>
              <a:t>Controlled experiments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Comprehensive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2"/>
            </a:pPr>
            <a:r>
              <a:rPr lang="en"/>
              <a:t>Design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Academia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writing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 startAt="13"/>
            </a:pPr>
            <a:r>
              <a:rPr lang="en"/>
              <a:t>Academic publishing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6" name="Google Shape;66;p1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surveys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vs. quantitative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Purposive sampling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collection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</a:t>
            </a:r>
            <a:r>
              <a:rPr lang="en"/>
              <a:t>Qualitative Surveys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Surveys</a:t>
            </a:r>
            <a:endParaRPr/>
          </a:p>
        </p:txBody>
      </p:sp>
      <p:sp>
        <p:nvSpPr>
          <p:cNvPr id="78" name="Google Shape;78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survey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study of a population through observation of its members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qualitative survey</a:t>
            </a:r>
            <a:r>
              <a:rPr lang="en"/>
              <a:t> is a survey studying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</a:t>
            </a:r>
            <a:r>
              <a:rPr lang="en"/>
              <a:t>iversity (not distribution) in a population for theory building purposes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Qualitative surveys may be the simplest possible theory building methodology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most common variant is the interview study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 Process</a:t>
            </a:r>
            <a:endParaRPr/>
          </a:p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86" name="Google Shape;86;p1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qualitative survey process consists of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Defining the research question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Designing the qualitative survey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Create research design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Build sampling model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Performing the qualitative survey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Sample purposefully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Collect</a:t>
            </a:r>
            <a:r>
              <a:rPr lang="en"/>
              <a:t> data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Analyzing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 common methodology is Jansen (2010) [1]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Jansen. (2010). The logic of qualitative survey research …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Research Question</a:t>
            </a:r>
            <a:endParaRPr/>
          </a:p>
        </p:txBody>
      </p:sp>
      <p:sp>
        <p:nvSpPr>
          <p:cNvPr id="94" name="Google Shape;94;p1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open source projects retain episodic volunteers?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these practices relate to traditional retention practices?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Open source projects rely on free “volunteer” contributions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of these volunteers are habitual, some are episodic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0" y="4233672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/>
              <a:t>Barcomb et al. (2020): Uncovering the periphery.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 vs. Interview Study</a:t>
            </a:r>
            <a:endParaRPr/>
          </a:p>
        </p:txBody>
      </p:sp>
      <p:sp>
        <p:nvSpPr>
          <p:cNvPr id="102" name="Google Shape;102;p1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03" name="Google Shape;103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Most qualitative surveys are interview studies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Additional materials collectable for analysis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Guidelines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Workshop reports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Training materials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Logbooks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Observations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…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Surveys </a:t>
            </a:r>
            <a:r>
              <a:rPr lang="en"/>
              <a:t>in a Larger Research Design</a:t>
            </a:r>
            <a:endParaRPr/>
          </a:p>
        </p:txBody>
      </p:sp>
      <p:sp>
        <p:nvSpPr>
          <p:cNvPr id="110" name="Google Shape;110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1051560" y="1554480"/>
            <a:ext cx="2469000" cy="2469000"/>
          </a:xfrm>
          <a:prstGeom prst="ellipse">
            <a:avLst/>
          </a:prstGeom>
          <a:noFill/>
          <a:ln cap="flat" cmpd="sng" w="381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r>
              <a:rPr lang="en"/>
              <a:t>. Qualitative vs. Quantitative Surveys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vs. Pre-structured Qualitative Surveys</a:t>
            </a:r>
            <a:endParaRPr/>
          </a:p>
        </p:txBody>
      </p:sp>
      <p:sp>
        <p:nvSpPr>
          <p:cNvPr id="122" name="Google Shape;122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Jansen (2010) distinguishes between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Open (inductive) qualitative </a:t>
            </a:r>
            <a:r>
              <a:rPr lang="en"/>
              <a:t>surveys</a:t>
            </a:r>
            <a:r>
              <a:rPr lang="en"/>
              <a:t> (for theory building)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Pre-structured (deductive) qualitative surveys for measuring diversity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addition to pre-structured surveys there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 startAt="3"/>
            </a:pPr>
            <a:r>
              <a:rPr lang="en"/>
              <a:t>Hypothesis-testing quantitative surveys </a:t>
            </a:r>
            <a:endParaRPr/>
          </a:p>
        </p:txBody>
      </p: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Pre-Structured (Deductive) </a:t>
            </a:r>
            <a:r>
              <a:rPr lang="en"/>
              <a:t>Qualitative</a:t>
            </a:r>
            <a:r>
              <a:rPr lang="en"/>
              <a:t> Surveys</a:t>
            </a:r>
            <a:endParaRPr/>
          </a:p>
        </p:txBody>
      </p:sp>
      <p:sp>
        <p:nvSpPr>
          <p:cNvPr id="129" name="Google Shape;129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pre-structured qualitative survey [1], according to Jansen (2010)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Quantitatively assesses diversity in a population using established categories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As such, this type of survey is descriptive and findings have to fit the mold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Which of a set of predefined characteristics exist in a given population?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  <p:sp>
        <p:nvSpPr>
          <p:cNvPr id="130" name="Google Shape;130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I have no idea why she calls an essentially quantitative survey a qualitative survey [DR]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vs. Quantitative Surveys</a:t>
            </a:r>
            <a:endParaRPr/>
          </a:p>
        </p:txBody>
      </p:sp>
      <p:sp>
        <p:nvSpPr>
          <p:cNvPr id="137" name="Google Shape;137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lang="en"/>
              <a:t>qualitative</a:t>
            </a:r>
            <a:r>
              <a:rPr lang="en"/>
              <a:t> survey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Diversity</a:t>
            </a:r>
            <a:r>
              <a:rPr lang="en"/>
              <a:t> (of variables) in a population where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quantitative survey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Distribution</a:t>
            </a:r>
            <a:r>
              <a:rPr lang="en"/>
              <a:t> (of variables) in a population </a:t>
            </a:r>
            <a:r>
              <a:rPr lang="en"/>
              <a:t>where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Hypothesis-Testing Survey [1]</a:t>
            </a:r>
            <a:endParaRPr/>
          </a:p>
        </p:txBody>
      </p:sp>
      <p:sp>
        <p:nvSpPr>
          <p:cNvPr id="144" name="Google Shape;144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what extent are the following six proposed theoretical constructs indicative of an episodic volunteers intention to remain a volunteer to a project?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Volunteering experience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Contributor benefit motivations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Psychological sense of community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Community </a:t>
            </a:r>
            <a:r>
              <a:rPr lang="en"/>
              <a:t>commitment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Social norms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Satisfaction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These constructs were an outcome of the example qualitative survey research</a:t>
            </a:r>
            <a:endParaRPr/>
          </a:p>
        </p:txBody>
      </p:sp>
      <p:sp>
        <p:nvSpPr>
          <p:cNvPr id="145" name="Google Shape;145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146" name="Google Shape;146;p21"/>
          <p:cNvSpPr txBox="1"/>
          <p:nvPr/>
        </p:nvSpPr>
        <p:spPr>
          <a:xfrm>
            <a:off x="0" y="4233672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Barcomb et al. (2019): Why do episodic volunteers stay?</a:t>
            </a:r>
            <a:endParaRPr/>
          </a:p>
        </p:txBody>
      </p:sp>
      <p:pic>
        <p:nvPicPr>
          <p:cNvPr id="147" name="Google Shape;14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06411" y="1712066"/>
            <a:ext cx="3251201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vs. Quantitative Surveys 2 / 2</a:t>
            </a:r>
            <a:endParaRPr/>
          </a:p>
        </p:txBody>
      </p:sp>
      <p:sp>
        <p:nvSpPr>
          <p:cNvPr id="153" name="Google Shape;15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aphicFrame>
        <p:nvGraphicFramePr>
          <p:cNvPr id="154" name="Google Shape;154;p22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{0106BC4C-E657-4A45-BBBC-C7B5B0444BA5}</a:tableStyleId>
              </a:tblPr>
              <a:tblGrid>
                <a:gridCol w="2148825"/>
                <a:gridCol w="2148825"/>
                <a:gridCol w="2148825"/>
                <a:gridCol w="2148825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Steps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Qualitative Survey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Descriptive S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urvey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Hypothesis-testing Survey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Study purpose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Diversity / insight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Distribution analysis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Hypothesis testing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Population sampling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</a:t>
                      </a:r>
                      <a:r>
                        <a:rPr lang="en"/>
                        <a:t>urposive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(Stratified) Random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(Stratified) Random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Variable scales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Nominal or ordinal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Interval or ratio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Interval or ratio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Stopping criterion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Theoretical saturation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Statistical significance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Statistical significance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Theory and hypotheses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Descriptive statistics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Correlations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vs. Quantitative Survey Using Examples</a:t>
            </a:r>
            <a:endParaRPr/>
          </a:p>
        </p:txBody>
      </p:sp>
      <p:graphicFrame>
        <p:nvGraphicFramePr>
          <p:cNvPr id="160" name="Google Shape;160;p23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{0106BC4C-E657-4A45-BBBC-C7B5B0444BA5}</a:tableStyleId>
              </a:tblPr>
              <a:tblGrid>
                <a:gridCol w="2865100"/>
                <a:gridCol w="2865100"/>
                <a:gridCol w="2865100"/>
              </a:tblGrid>
              <a:tr h="640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Steps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 qualitative survey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of episodic volunteering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A hypothesis-testing survey of episodic volunteering practices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Study purpose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Understand retention practices for episodic volunteers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Testing relevance of constructs for intention to remain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Population sampling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Project leaders from diverse set of projects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questionnaire advertised (“convenience sampling”)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Variable scales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Categorical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Interval / distribution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Stopping criterion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Saturation of learning about new practices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Time and effort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Results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 set of retention practices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 (in)validation of practices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61" name="Google Shape;161;p2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Purposive Sampling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Sampling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selection of members (the sample) of a population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Purposive sampling</a:t>
            </a:r>
            <a:r>
              <a:rPr lang="en"/>
              <a:t> is sampling in which the selection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purposeful for theory building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Theoretical sampling is a variant of purposive sampling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Used in grounded theory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 find the term “theoretical sampling” confusing [DR]</a:t>
            </a:r>
            <a:endParaRPr/>
          </a:p>
        </p:txBody>
      </p:sp>
      <p:sp>
        <p:nvSpPr>
          <p:cNvPr id="172" name="Google Shape;172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Purposive Sampling</a:t>
            </a:r>
            <a:endParaRPr/>
          </a:p>
        </p:txBody>
      </p:sp>
      <p:sp>
        <p:nvSpPr>
          <p:cNvPr id="173" name="Google Shape;173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74" name="Google Shape;17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sampling model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a model of the population designed to sample from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Focuses on the properties of relevance to the research question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</a:t>
            </a:r>
            <a:r>
              <a:rPr b="1" lang="en"/>
              <a:t>population </a:t>
            </a:r>
            <a:r>
              <a:rPr lang="en"/>
              <a:t>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set of elements characterized by the sampling model</a:t>
            </a:r>
            <a:endParaRPr/>
          </a:p>
        </p:txBody>
      </p:sp>
      <p:sp>
        <p:nvSpPr>
          <p:cNvPr id="180" name="Google Shape;180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Sampling Model and Population</a:t>
            </a:r>
            <a:endParaRPr/>
          </a:p>
        </p:txBody>
      </p:sp>
      <p:sp>
        <p:nvSpPr>
          <p:cNvPr id="181" name="Google Shape;181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Sampling Model with Samples</a:t>
            </a:r>
            <a:endParaRPr/>
          </a:p>
        </p:txBody>
      </p:sp>
      <p:sp>
        <p:nvSpPr>
          <p:cNvPr id="187" name="Google Shape;187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188" name="Google Shape;18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Build a Sampling Model?</a:t>
            </a:r>
            <a:endParaRPr/>
          </a:p>
        </p:txBody>
      </p:sp>
      <p:sp>
        <p:nvSpPr>
          <p:cNvPr id="194" name="Google Shape;19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sampling model already incorporates assumptions (biases) about the domain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should be derived from prior work, for example, a systematic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situations of high uncertainty, start with a small model and revise over time</a:t>
            </a:r>
            <a:endParaRPr/>
          </a:p>
        </p:txBody>
      </p:sp>
      <p:sp>
        <p:nvSpPr>
          <p:cNvPr id="195" name="Google Shape;19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Sampling Model</a:t>
            </a:r>
            <a:endParaRPr/>
          </a:p>
        </p:txBody>
      </p:sp>
      <p:sp>
        <p:nvSpPr>
          <p:cNvPr id="201" name="Google Shape;201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Interview study on best practices of microservice integration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Population were experts of microservice architectures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Diversity sought out was captured by model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203" name="Google Shape;20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2468880"/>
            <a:ext cx="8595359" cy="15185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Purposive </a:t>
            </a:r>
            <a:r>
              <a:rPr lang="en"/>
              <a:t>Sampling Strategies</a:t>
            </a:r>
            <a:endParaRPr/>
          </a:p>
        </p:txBody>
      </p:sp>
      <p:sp>
        <p:nvSpPr>
          <p:cNvPr id="209" name="Google Shape;209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0" name="Google Shape;210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Typical case sampling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Chooses a common representative case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/>
              <a:t>Critical case sampling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Chooses</a:t>
            </a:r>
            <a:r>
              <a:rPr lang="en"/>
              <a:t> outlier cases for theoretical insight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/>
              <a:t>Polar sampling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Chooses sets of elements based on opposing attributes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Sample Sizes</a:t>
            </a:r>
            <a:endParaRPr/>
          </a:p>
        </p:txBody>
      </p:sp>
      <p:sp>
        <p:nvSpPr>
          <p:cNvPr id="216" name="Google Shape;216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initial sample should broadly cover the existing diversity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Grow sample (add more elements) as you work towards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Heuristics for initial sample sizes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Recommendations by other experts in the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Recommendations from qualitative methodologist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 knowledge about reaching saturation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18" name="Google Shape;218;p3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Baltes &amp; Ralph (2022): Sampling in software engineering research.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 for Sample Sizes</a:t>
            </a:r>
            <a:endParaRPr/>
          </a:p>
        </p:txBody>
      </p:sp>
      <p:sp>
        <p:nvSpPr>
          <p:cNvPr id="224" name="Google Shape;224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</a:t>
            </a:r>
            <a:r>
              <a:rPr lang="en"/>
              <a:t>r</a:t>
            </a:r>
            <a:r>
              <a:rPr lang="en"/>
              <a:t>ecommendations by qualitative methodologists for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Grounded theory research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Creswell (2007): At least 20 to 30 interviewees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Denzin and Lincoln (2005): About 30 to 50 interviews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Morse (2000): About 20 to 30 interviewees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Case study research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Creswell (2007): Max. 4 or 5 cases and 3 to 5 interviewees per case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No rule-of-thumb beats theory saturation though</a:t>
            </a:r>
            <a:endParaRPr/>
          </a:p>
        </p:txBody>
      </p:sp>
      <p:sp>
        <p:nvSpPr>
          <p:cNvPr id="225" name="Google Shape;225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r>
              <a:rPr lang="en"/>
              <a:t>. Data Collection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Qualitative Surveys as Interview Studies</a:t>
            </a:r>
            <a:endParaRPr/>
          </a:p>
        </p:txBody>
      </p:sp>
      <p:sp>
        <p:nvSpPr>
          <p:cNvPr id="236" name="Google Shape;236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interviews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Unstructured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Semi-structured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Types of interviewees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Individual 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Groups of people</a:t>
            </a:r>
            <a:endParaRPr/>
          </a:p>
        </p:txBody>
      </p:sp>
      <p:sp>
        <p:nvSpPr>
          <p:cNvPr id="237" name="Google Shape;237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Unstructured Interviews</a:t>
            </a:r>
            <a:endParaRPr/>
          </a:p>
        </p:txBody>
      </p:sp>
      <p:sp>
        <p:nvSpPr>
          <p:cNvPr id="243" name="Google Shape;243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Unstructured interviews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open-ended questions, are “in-depth interviews”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 order of questions, emphasis, and depth to vary by interview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managed and adapted in the situation by the interviewer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 not impose any prior categorization on collected data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As always, use a good textbook, for example, [1]</a:t>
            </a:r>
            <a:endParaRPr/>
          </a:p>
        </p:txBody>
      </p:sp>
      <p:sp>
        <p:nvSpPr>
          <p:cNvPr id="244" name="Google Shape;244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45" name="Google Shape;245;p35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Rubin &amp; Rubin (1995). Qualitative interviewing.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Fully </a:t>
            </a:r>
            <a:r>
              <a:rPr b="1" lang="en"/>
              <a:t>s</a:t>
            </a:r>
            <a:r>
              <a:rPr b="1" lang="en"/>
              <a:t>tructured interviews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predetermined question set, with little room for variation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predetermined order and no variation between interviewees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Contain closed questions (fixed set of answer choices)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Are created from an existing coding scheme for the responses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 to categorize behavior within pre-established categories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Structured interviews are not used in theory building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are effectively a quantitative survey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Structured Interviews</a:t>
            </a:r>
            <a:endParaRPr/>
          </a:p>
        </p:txBody>
      </p:sp>
      <p:sp>
        <p:nvSpPr>
          <p:cNvPr id="252" name="Google Shape;252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Semi-Structured Interviews</a:t>
            </a:r>
            <a:endParaRPr/>
          </a:p>
        </p:txBody>
      </p:sp>
      <p:sp>
        <p:nvSpPr>
          <p:cNvPr id="258" name="Google Shape;258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Semi-structured interviews</a:t>
            </a:r>
            <a:r>
              <a:rPr lang="en"/>
              <a:t>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Interviews with both a structured and unstructured part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Theory building (unstructured part) tends to dominate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Structured part to add some statistical data to better understand the population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Interview Study Process</a:t>
            </a:r>
            <a:endParaRPr/>
          </a:p>
        </p:txBody>
      </p:sp>
      <p:sp>
        <p:nvSpPr>
          <p:cNvPr id="265" name="Google Shape;265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66" name="Google Shape;266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selected interviewee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Prepare protocol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Setup protocol, prepare questions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Update questions if needed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Perform interview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Interview current interviewee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Capture and transcribe interview</a:t>
            </a:r>
            <a:endParaRPr b="1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Analyze results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Perform qualitative data analysis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Check saturation, iterate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Use and follow an established method, for example, [1]</a:t>
            </a:r>
            <a:endParaRPr/>
          </a:p>
        </p:txBody>
      </p:sp>
      <p:sp>
        <p:nvSpPr>
          <p:cNvPr id="267" name="Google Shape;267;p38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</a:t>
            </a:r>
            <a:r>
              <a:rPr lang="en"/>
              <a:t>DiCicco‐Bloom &amp; Crabtree (2006): The qualitative research interview. </a:t>
            </a:r>
            <a:endParaRPr/>
          </a:p>
        </p:txBody>
      </p:sp>
      <p:pic>
        <p:nvPicPr>
          <p:cNvPr id="268" name="Google Shape;268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an Interview Study?</a:t>
            </a:r>
            <a:endParaRPr/>
          </a:p>
        </p:txBody>
      </p:sp>
      <p:sp>
        <p:nvSpPr>
          <p:cNvPr id="274" name="Google Shape;274;p39"/>
          <p:cNvSpPr txBox="1"/>
          <p:nvPr>
            <p:ph idx="1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 sz="2400"/>
              <a:t>“Industry [1] is where the </a:t>
            </a:r>
            <a:r>
              <a:rPr b="1" lang="en" sz="2400"/>
              <a:t>research</a:t>
            </a:r>
            <a:r>
              <a:rPr b="1" lang="en" sz="2400"/>
              <a:t> data is.” [DR]</a:t>
            </a:r>
            <a:endParaRPr b="1" sz="2400"/>
          </a:p>
        </p:txBody>
      </p:sp>
      <p:sp>
        <p:nvSpPr>
          <p:cNvPr id="275" name="Google Shape;275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76" name="Google Shape;276;p39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Or just “practice”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Prepare Protocol</a:t>
            </a:r>
            <a:endParaRPr/>
          </a:p>
        </p:txBody>
      </p:sp>
      <p:sp>
        <p:nvSpPr>
          <p:cNvPr id="282" name="Google Shape;282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Prepare protocol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 all relevant meta-data, for example, interviewee name,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Outline (if doing it for the first time) or amend process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Prepare questions [1]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and how to ask based on research question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Structure questions into categories, have order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Usually start with some demographics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 from the general to the specific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a closing, follow-up, thank you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Ensure informed consent, etc.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284" name="Google Shape;284;p40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Roberts (2022): Qualitative interview questions.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Interview 1 / 3</a:t>
            </a:r>
            <a:endParaRPr/>
          </a:p>
        </p:txBody>
      </p:sp>
      <p:sp>
        <p:nvSpPr>
          <p:cNvPr id="290" name="Google Shape;290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Follow your interview guide (questions)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Introductory comments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Clarify purpose of interview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Ask for permission to record interview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Explain purpose of recording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Allow for off the record remarks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Inquire about use of quotes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Interview conversation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the spoken word (audio)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Take notes on non-verbal information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Prefer open-ended questions</a:t>
            </a:r>
            <a:endParaRPr/>
          </a:p>
        </p:txBody>
      </p:sp>
      <p:sp>
        <p:nvSpPr>
          <p:cNvPr id="291" name="Google Shape;291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Interview Protocol</a:t>
            </a:r>
            <a:endParaRPr/>
          </a:p>
        </p:txBody>
      </p:sp>
      <p:sp>
        <p:nvSpPr>
          <p:cNvPr id="297" name="Google Shape;297;p4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Guide for community managers</a:t>
            </a:r>
            <a:endParaRPr b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Introduction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Establish subject’s authority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Understand what the interview subject means by volunteering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What types of episodic volunteering are present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What does episodic volunteering look like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How are episodic volunteers managed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Which acti</a:t>
            </a:r>
            <a:r>
              <a:rPr lang="en"/>
              <a:t>vities are best suited to episodic volunteers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Which activities are not suited to episodic volunteers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Conclusion</a:t>
            </a:r>
            <a:endParaRPr sz="1400"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99" name="Google Shape;299;p4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Guide for episodic volunteers</a:t>
            </a:r>
            <a:endParaRPr b="1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Introduction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Episodic volunteering pattern in a community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Motives and Intentions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What initially inspired you to volunteer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Do you intend to continue to volunteer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How do you make that decision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Experiences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Practices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Volunteering identity/behavior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AutoNum type="arabicPeriod"/>
            </a:pPr>
            <a:r>
              <a:rPr lang="en" sz="1400"/>
              <a:t>Conclusion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Do you have additional insights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Interview 2 / 3</a:t>
            </a:r>
            <a:endParaRPr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Follow interview guide (questions) but do no</a:t>
            </a:r>
            <a:r>
              <a:rPr lang="en"/>
              <a:t>t be afraid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Reorder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Rephrase, reiterate questions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 off course if answers warrant it!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Be open-minded, avoid leading questions, etc.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Let the interviewee talk but pull them back to the topic if they digress</a:t>
            </a:r>
            <a:endParaRPr/>
          </a:p>
        </p:txBody>
      </p:sp>
      <p:sp>
        <p:nvSpPr>
          <p:cNvPr id="306" name="Google Shape;306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 Interview 3 / 3</a:t>
            </a:r>
            <a:endParaRPr/>
          </a:p>
        </p:txBody>
      </p:sp>
      <p:sp>
        <p:nvSpPr>
          <p:cNvPr id="312" name="Google Shape;312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the interview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Transcribe the audio recording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 the transcript manually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Correct the sentences if necessary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Delete off-the-record parts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Confirm transcription with interviewee</a:t>
            </a:r>
            <a:endParaRPr/>
          </a:p>
        </p:txBody>
      </p:sp>
      <p:sp>
        <p:nvSpPr>
          <p:cNvPr id="313" name="Google Shape;313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Data Sources / Primary Materials</a:t>
            </a:r>
            <a:endParaRPr/>
          </a:p>
        </p:txBody>
      </p:sp>
      <p:sp>
        <p:nvSpPr>
          <p:cNvPr id="319" name="Google Shape;319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20" name="Google Shape;320;p4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Beyond interview studies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Existing documents / documentation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Workshop notes / transcripts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Participant observation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Outside observations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…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r>
              <a:rPr lang="en"/>
              <a:t>. Data Analysis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Interview Study Process (Continued)</a:t>
            </a:r>
            <a:endParaRPr/>
          </a:p>
        </p:txBody>
      </p:sp>
      <p:sp>
        <p:nvSpPr>
          <p:cNvPr id="331" name="Google Shape;331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332" name="Google Shape;332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 each selected interviewee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Prepare protocol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Setup protocol, prepare questions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Updated questions if needed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Perform interview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Interview current interviewee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Capture and transcribe interview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b="1" lang="en"/>
              <a:t>Analyze results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Perform qualitative data analysis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b="1" lang="en"/>
              <a:t>Check saturation, iterate if necessary </a:t>
            </a:r>
            <a:endParaRPr b="1"/>
          </a:p>
        </p:txBody>
      </p:sp>
      <p:pic>
        <p:nvPicPr>
          <p:cNvPr id="333" name="Google Shape;333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87787" y="914400"/>
            <a:ext cx="2581836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Levels of Diversity Analysis</a:t>
            </a:r>
            <a:endParaRPr/>
          </a:p>
        </p:txBody>
      </p:sp>
      <p:sp>
        <p:nvSpPr>
          <p:cNvPr id="339" name="Google Shape;339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are three levels (types) of analysis according to Jansen (2010)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>
                <a:solidFill>
                  <a:schemeClr val="dk2"/>
                </a:solidFill>
              </a:rPr>
              <a:t>Unidimensional description (of collected data)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Data → Object, Object → Dimensions, Dimensions → Categories</a:t>
            </a:r>
            <a:endParaRPr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>
                <a:solidFill>
                  <a:schemeClr val="dk2"/>
                </a:solidFill>
              </a:rPr>
              <a:t>Multidimensional description</a:t>
            </a:r>
            <a:endParaRPr>
              <a:solidFill>
                <a:schemeClr val="dk2"/>
              </a:solidFill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</a:pPr>
            <a:r>
              <a:rPr lang="en">
                <a:solidFill>
                  <a:schemeClr val="dk2"/>
                </a:solidFill>
              </a:rPr>
              <a:t>Concept-oriented and case-oriented description</a:t>
            </a:r>
            <a:endParaRPr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Explanation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Qualitative data analysis</a:t>
            </a:r>
            <a:endParaRPr/>
          </a:p>
        </p:txBody>
      </p:sp>
      <p:sp>
        <p:nvSpPr>
          <p:cNvPr id="340" name="Google Shape;340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 of Coding Strategies</a:t>
            </a:r>
            <a:endParaRPr/>
          </a:p>
        </p:txBody>
      </p:sp>
      <p:sp>
        <p:nvSpPr>
          <p:cNvPr id="346" name="Google Shape;346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aphicFrame>
        <p:nvGraphicFramePr>
          <p:cNvPr id="347" name="Google Shape;347;p49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{0106BC4C-E657-4A45-BBBC-C7B5B0444BA5}</a:tableStyleId>
              </a:tblPr>
              <a:tblGrid>
                <a:gridCol w="2865125"/>
                <a:gridCol w="2865125"/>
                <a:gridCol w="28651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 q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ualitative survey [1]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coding strategy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Thematic analysis [2]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Straussian coding</a:t>
                      </a:r>
                      <a:r>
                        <a:rPr b="1" lang="en">
                          <a:solidFill>
                            <a:schemeClr val="lt1"/>
                          </a:solidFill>
                        </a:rPr>
                        <a:t> [3]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Initial coding and collation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Open coding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Upward coding</a:t>
                      </a:r>
                      <a:br>
                        <a:rPr lang="en"/>
                      </a:br>
                      <a:r>
                        <a:rPr lang="en"/>
                        <a:t>Downward coding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Searching for themes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Axial coding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–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Reviewing themes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Selective coding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48" name="Google Shape;348;p49"/>
          <p:cNvSpPr txBox="1"/>
          <p:nvPr/>
        </p:nvSpPr>
        <p:spPr>
          <a:xfrm>
            <a:off x="0" y="4233672"/>
            <a:ext cx="914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[1] See Jansen (2010): The qualitative survey.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See Braun &amp; Clarke (2012): Thematic analysis.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[3] See Corbin &amp; Strauss (2008): Grounded theory.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Until Saturation is Reached</a:t>
            </a:r>
            <a:endParaRPr/>
          </a:p>
        </p:txBody>
      </p:sp>
      <p:sp>
        <p:nvSpPr>
          <p:cNvPr id="354" name="Google Shape;354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Until saturation criterion tied to analysis method is reached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5" name="Google Shape;355;p5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Demonstration of Saturation</a:t>
            </a:r>
            <a:endParaRPr/>
          </a:p>
        </p:txBody>
      </p:sp>
      <p:sp>
        <p:nvSpPr>
          <p:cNvPr id="361" name="Google Shape;361;p51"/>
          <p:cNvSpPr txBox="1"/>
          <p:nvPr>
            <p:ph idx="1" type="body"/>
          </p:nvPr>
        </p:nvSpPr>
        <p:spPr>
          <a:xfrm>
            <a:off x="274325" y="4504100"/>
            <a:ext cx="8595300" cy="525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After 14 interviews (out of 20 in total) all codes were set</a:t>
            </a:r>
            <a:endParaRPr/>
          </a:p>
        </p:txBody>
      </p:sp>
      <p:sp>
        <p:nvSpPr>
          <p:cNvPr id="362" name="Google Shape;362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pic>
        <p:nvPicPr>
          <p:cNvPr id="363" name="Google Shape;363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Quality Assurance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</a:t>
            </a:r>
            <a:endParaRPr/>
          </a:p>
        </p:txBody>
      </p:sp>
      <p:sp>
        <p:nvSpPr>
          <p:cNvPr id="374" name="Google Shape;374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Quality assurance is tied to the individual research methods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survey → sampling model and sampling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Qualitative data analysis → data analysis</a:t>
            </a:r>
            <a:endParaRPr/>
          </a:p>
        </p:txBody>
      </p:sp>
      <p:sp>
        <p:nvSpPr>
          <p:cNvPr id="375" name="Google Shape;375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Quality Assurance for Data Analysis</a:t>
            </a:r>
            <a:endParaRPr/>
          </a:p>
        </p:txBody>
      </p:sp>
      <p:sp>
        <p:nvSpPr>
          <p:cNvPr id="381" name="Google Shape;381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iteration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coders, with the second coder recoding the first coder’s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Second iteration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Same procedure, with the second coder being a distributed coding team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 each iteration, the codebook was discussed and revised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88" name="Google Shape;388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surveys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Qualitative vs. quantitative surveys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Purposive sampling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collection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Quality assurance</a:t>
            </a:r>
            <a:endParaRPr/>
          </a:p>
        </p:txBody>
      </p:sp>
      <p:sp>
        <p:nvSpPr>
          <p:cNvPr id="389" name="Google Shape;389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6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95" name="Google Shape;395;p56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01" name="Google Shape;401;p5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https://uni1.de/nyt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sp>
        <p:nvSpPr>
          <p:cNvPr id="402" name="Google Shape;402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
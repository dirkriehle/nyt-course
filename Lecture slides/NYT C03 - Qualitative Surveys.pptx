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276089-1FE8-4EC9-B50F-03725FE08B00}">
  <a:tblStyle styleId="{C8276089-1FE8-4EC9-B50F-03725FE08B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c2d77bb35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c2d77bb35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0b1741a8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10b1741a8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f9bad1e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f9bad1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0b1741a8d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0b1741a8d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171faa0b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171faa0b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fde7fa67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2fde7fa67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329c9c1a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329c9c1a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1749ba1ed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1749ba1ed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b1741a8d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0b1741a8d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2f2b49de6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2f2b49de6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f2b49de6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f2b49de6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171faa0bd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171faa0bd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171faa0bd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171faa0bd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216d967f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216d967f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171faa0bd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171faa0bd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16d967f3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216d967f3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41864eaf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141864eaf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141864eaf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141864eaf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171faa0bd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171faa0bd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171faa0bd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171faa0b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141864eaf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141864eaf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141864eaf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141864eaf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2f83bbea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2f83bbea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f83bbea6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f83bbea6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216d967f3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216d967f3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216d967f34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216d967f34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216d967f34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216d967f34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71faa0bd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71faa0bd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16d967f34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216d967f34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1749ba1e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1749ba1e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2f2b49de6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2f2b49de6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216d967f34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216d967f34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2f2b49de6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2f2b49de6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171faa0bd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171faa0bd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171faa0bd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171faa0bd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2f2b49de6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2f2b49de6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171faa0bd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171faa0bd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216d967f34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216d967f34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171faa0bd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171faa0bd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3ae08f9f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3ae08f9f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32d1ef980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32d1ef980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171faa0bd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171faa0bd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171faa0bd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171faa0bd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71faa0bd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171faa0bd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171faa0bd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171faa0bd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171faa0bd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171faa0bd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171faa0bd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171faa0bd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394d7cc70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394d7cc70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394d7cc70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394d7cc70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ni1.de/ny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uni1.de/ny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uni1.de/ny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uni1.de/ny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uni1.de/ny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uni1.de/ny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uni1.de/ny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uni1.de/nyt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uni1.de/ny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uni1.de/ny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uni1.de/nyt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uni1.de/ny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uni1.de/nyt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uni1.de/nyt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uni1.de/nyt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uni1.de/ny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uni1.de/nyt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uni1.de/nyt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uni1.de/ny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uni1.de/nyt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uni1.de/nyt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uni1.de/nyt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uni1.de/nyt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://uni1.de/nyt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://uni1.de/nyt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uni1.de/nyt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Surveys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C03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Qualitative surveys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Qualitative vs. quantitative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Purposive sampling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collection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Qualitative Surveys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Surveys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survey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study of a population through observation of its members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qualitative survey</a:t>
            </a:r>
            <a:r>
              <a:rPr lang="en"/>
              <a:t> is a survey studying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</a:t>
            </a:r>
            <a:r>
              <a:rPr lang="en"/>
              <a:t>iversity (not distribution) in a population for theory building purposes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Qualitative surveys may be the simplest possible theory building methodology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common variant is the interview study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Survey Process</a:t>
            </a:r>
            <a:endParaRPr/>
          </a:p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qualitative survey process consists of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Defining the research question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Designing the qualitative survey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Create research 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Build sampling model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Performing the qualitative survey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Sample purposefully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Collect</a:t>
            </a:r>
            <a:r>
              <a:rPr lang="en"/>
              <a:t> data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Analyzing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common methodology is Jansen (2010)</a:t>
            </a:r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Research Question</a:t>
            </a:r>
            <a:endParaRPr/>
          </a:p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open source projects retain episodic volunteers? [1]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these practices relate to traditional retention practices?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Open source projects rely on free “volunteer” contributions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of these volunteers are habitual, some are episodic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0" y="423367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/>
              <a:t>Barcomb et al. (2020): Uncovering the periphery.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Survey vs. Interview Study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Most qualitative surveys are interview studies</a:t>
            </a:r>
            <a:endParaRPr/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Surveys </a:t>
            </a:r>
            <a:r>
              <a:rPr lang="en"/>
              <a:t>in a Larger Research Design</a:t>
            </a:r>
            <a:endParaRPr/>
          </a:p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499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1106364" y="1428690"/>
            <a:ext cx="2469000" cy="2469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. Qualitative vs. Quantitative Surveys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vs. Pre-structured Qualitative Surveys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Jansen (2010) distinguishes between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Open (inductive) qualitative </a:t>
            </a:r>
            <a:r>
              <a:rPr lang="en"/>
              <a:t>surveys</a:t>
            </a:r>
            <a:r>
              <a:rPr lang="en"/>
              <a:t> (for theory building)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Pre-structured (deductive) qualitative surveys for measuring diversity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addition to pre-structured surveys there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Hypothesis-testing quantitative surveys </a:t>
            </a:r>
            <a:endParaRPr/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Pre-Structured (Deductive) </a:t>
            </a:r>
            <a:r>
              <a:rPr lang="en"/>
              <a:t>Qualitative</a:t>
            </a:r>
            <a:r>
              <a:rPr lang="en"/>
              <a:t> Surveys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pre-structured qualitative survey [1], according to Jansen (2010)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Quantitatively assesses diversity in a population using established categories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such, this type of survey is descriptive and findings have to fit the mold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Which of a set of predefined characteristics exist in a given population?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08" name="Google Shape;108;p18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I have no idea why she calls an essentially quantitative survey a qualitative survey [DR]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vs. Quantitative Surveys 1 / 2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/>
              <a:t>qualitative</a:t>
            </a:r>
            <a:r>
              <a:rPr lang="en"/>
              <a:t> survey studies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Diversity</a:t>
            </a:r>
            <a:r>
              <a:rPr lang="en"/>
              <a:t> (of variables) in a population 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quantitative survey studies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Distribution</a:t>
            </a:r>
            <a:r>
              <a:rPr lang="en"/>
              <a:t> (of variables) in a population </a:t>
            </a:r>
            <a:r>
              <a:rPr lang="en"/>
              <a:t>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Hypothesis-Testing Survey [1]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what extent are the following six proposed theoretical constructs indicative of an episodic volunteers intention to remain a volunteer to a project?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Volunteering experience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Contributor benefit motivations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Psychological sense of community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Community </a:t>
            </a:r>
            <a:r>
              <a:rPr lang="en"/>
              <a:t>commitment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Social norms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Satisfaction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constructs were an outcome of the example qualitative survey research</a:t>
            </a:r>
            <a:endParaRPr/>
          </a:p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23" name="Google Shape;123;p20"/>
          <p:cNvSpPr txBox="1"/>
          <p:nvPr/>
        </p:nvSpPr>
        <p:spPr>
          <a:xfrm>
            <a:off x="0" y="423367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Barcomb et al. (2019): Why do episodic volunteers stay?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vs. Quantitative Surveys 2 / 2</a:t>
            </a:r>
            <a:endParaRPr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130" name="Google Shape;130;p21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{C8276089-1FE8-4EC9-B50F-03725FE08B00}</a:tableStyleId>
              </a:tblPr>
              <a:tblGrid>
                <a:gridCol w="2148825"/>
                <a:gridCol w="2148825"/>
                <a:gridCol w="2148825"/>
                <a:gridCol w="2148825"/>
              </a:tblGrid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Steps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Qualitative Survey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Descriptive S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urvey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Hypothesis-testing Survey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Study purpose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Diversity / insight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Distribution analysis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Hypothesis testing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Population sampling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Theoretical / purposive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(Stratified) Random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(Stratified) Random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Variable scales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Nominal or ordinal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Interval or ratio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Interval or ratio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Stopping criterion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Theoretical saturation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Statistical significance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Statistical significance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Results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Theory and hypotheses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Descriptive statistics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Correlations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vs. Quantitative Survey Using Examples</a:t>
            </a:r>
            <a:endParaRPr/>
          </a:p>
        </p:txBody>
      </p:sp>
      <p:graphicFrame>
        <p:nvGraphicFramePr>
          <p:cNvPr id="136" name="Google Shape;136;p22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{C8276089-1FE8-4EC9-B50F-03725FE08B00}</a:tableStyleId>
              </a:tblPr>
              <a:tblGrid>
                <a:gridCol w="2865100"/>
                <a:gridCol w="2865100"/>
                <a:gridCol w="2865100"/>
              </a:tblGrid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Steps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 qualitative survey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of episodic volunteering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 hypothesis-testing survey of episodic volunteering practices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Study purpose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Understand retention practices for episodic volunteers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Testing relevance of constructs for intention to remain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Population sampling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Project leaders from diverse set of projects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 questionnaire advertised (“convenience sampling”)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Variable scales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Categorical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Interval / distribution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Stopping criterion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Saturation of learning about new practices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and effort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Results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set of retention practices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(in)validation of practices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 Purposive Sampling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Sampling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selection of members (the sample) of a population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Purposive sampling</a:t>
            </a:r>
            <a:r>
              <a:rPr lang="en"/>
              <a:t> is sampling in which the selection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purposeful for theory building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Theoretical sampling is a variant of purposive sampling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in grounded theory research</a:t>
            </a:r>
            <a:endParaRPr/>
          </a:p>
        </p:txBody>
      </p:sp>
      <p:sp>
        <p:nvSpPr>
          <p:cNvPr id="148" name="Google Shape;148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Purposive Sampling</a:t>
            </a:r>
            <a:endParaRPr/>
          </a:p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sampling model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a model of the population designed to sample from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Focuses on the properties of relevance to the research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population </a:t>
            </a:r>
            <a:r>
              <a:rPr lang="en"/>
              <a:t>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set of elements characterized by the sampling model</a:t>
            </a:r>
            <a:endParaRPr/>
          </a:p>
        </p:txBody>
      </p:sp>
      <p:sp>
        <p:nvSpPr>
          <p:cNvPr id="156" name="Google Shape;156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Model and Population</a:t>
            </a:r>
            <a:endParaRPr/>
          </a:p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Sampling Model with Samples</a:t>
            </a:r>
            <a:endParaRPr/>
          </a:p>
        </p:txBody>
      </p:sp>
      <p:sp>
        <p:nvSpPr>
          <p:cNvPr id="163" name="Google Shape;163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Build a Sampling Model?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sampling model already incorporates assumptions (biases) about the domain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should be derived from prior work, for example, a systematic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situations of high uncertainty, start with a small model and revise over time</a:t>
            </a:r>
            <a:endParaRPr/>
          </a:p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Sampling Model</a:t>
            </a:r>
            <a:endParaRPr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Interview study on best practices of microservice integration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Population were experts of microservice architectures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Diversity sought out was captured by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79" name="Google Shape;17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2468880"/>
            <a:ext cx="8595359" cy="1518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Purposive </a:t>
            </a:r>
            <a:r>
              <a:rPr lang="en"/>
              <a:t>Sampling Strategies</a:t>
            </a:r>
            <a:endParaRPr/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Typical case sampling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Chooses a common representative case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Critical case sampling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Chooses</a:t>
            </a:r>
            <a:r>
              <a:rPr lang="en"/>
              <a:t> outlier cases for theoretical insight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Polar sampling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Chooses sets of elements based on opposing attributes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Sizes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initial sample should broadly cover the existing diversity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 sample (add more elements) as you work towards saturation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Heuristics for initial sample sizes [1]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Recommendations by other experts in the domain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Recommendations from qualitative methodologist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Prior knowledge about reaching saturation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94" name="Google Shape;194;p30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Baltes &amp; Ralph (2022): Sampling in software engineering research.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for Sample Sizes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</a:t>
            </a:r>
            <a:r>
              <a:rPr lang="en"/>
              <a:t>r</a:t>
            </a:r>
            <a:r>
              <a:rPr lang="en"/>
              <a:t>ecommendations by qualitative methodologists for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Grounded theory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Creswell (2007): At least 20 to 30 interviewees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Denzin and Lincoln (2005): About 30 to 50 interviews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Morse (2000): About 20 to 30 interviewees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Case study research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Creswell (2007): Max. 4 or 5 cases and 3 to 5 interviewees per case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 rule-of-thumb beats theoretical saturation though</a:t>
            </a:r>
            <a:endParaRPr/>
          </a:p>
        </p:txBody>
      </p:sp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Data Collection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Surveys as Interview Studies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interviews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Unstructured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Semi-structured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Types of interviewees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 person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Groups of people</a:t>
            </a:r>
            <a:endParaRPr/>
          </a:p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Unstructured Interviews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Unstructured interviews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open-ended questions, are “in-depth interviews”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 order of questions, emphasis, and depth to vary by interview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managed and adapted in the situation by the interviewer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impose any prior categorization on collected data</a:t>
            </a:r>
            <a:endParaRPr/>
          </a:p>
        </p:txBody>
      </p:sp>
      <p:sp>
        <p:nvSpPr>
          <p:cNvPr id="220" name="Google Shape;220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Fully </a:t>
            </a:r>
            <a:r>
              <a:rPr b="1" lang="en"/>
              <a:t>s</a:t>
            </a:r>
            <a:r>
              <a:rPr b="1" lang="en"/>
              <a:t>tructured interviews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a predetermined question set, with little room for variation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a predetermined order and no variation between interviewees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 closed questions (fixed set of answer choices)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created from an existing coding scheme for the responses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Aim to categorize behavior within pre-established categories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Structured interviews are not used in theory building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are effectively a quantitative survey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Interviews</a:t>
            </a:r>
            <a:endParaRPr/>
          </a:p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Semi-Structured Interviews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Semi-structured interviews</a:t>
            </a:r>
            <a:r>
              <a:rPr lang="en"/>
              <a:t>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Interviews with both a structured and unstructured part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Theory building (unstructured part) tends to dominate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Structured part to add some statistical data to better understand the population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an Interview Study?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274320" y="914400"/>
            <a:ext cx="8595300" cy="365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/>
              <a:t>“Industry [1] is where the </a:t>
            </a:r>
            <a:r>
              <a:rPr b="1" lang="en" sz="2400"/>
              <a:t>research</a:t>
            </a:r>
            <a:r>
              <a:rPr b="1" lang="en" sz="2400"/>
              <a:t> data is.” [DR]</a:t>
            </a:r>
            <a:endParaRPr b="1" sz="2400"/>
          </a:p>
        </p:txBody>
      </p:sp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42" name="Google Shape;242;p3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Or just “practice”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Interview Study Process</a:t>
            </a:r>
            <a:endParaRPr/>
          </a:p>
        </p:txBody>
      </p:sp>
      <p:sp>
        <p:nvSpPr>
          <p:cNvPr id="248" name="Google Shape;248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selected interviewee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Prepare protocol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Setup protocol, prepare questions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Update questions if needed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Perform interview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Interview current interviewee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Capture and transcribe interview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Analyze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Perform qualitative data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Check saturation, iterate if necessary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and follow an established method [1]</a:t>
            </a:r>
            <a:endParaRPr/>
          </a:p>
        </p:txBody>
      </p:sp>
      <p:sp>
        <p:nvSpPr>
          <p:cNvPr id="250" name="Google Shape;250;p38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For example, </a:t>
            </a:r>
            <a:r>
              <a:rPr lang="en"/>
              <a:t>DiCicco‐Bloom &amp; Crabtree (2006): The qualitative research interview. </a:t>
            </a:r>
            <a:endParaRPr/>
          </a:p>
        </p:txBody>
      </p:sp>
      <p:pic>
        <p:nvPicPr>
          <p:cNvPr id="251" name="Google Shape;25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Protocol</a:t>
            </a:r>
            <a:endParaRPr/>
          </a:p>
        </p:txBody>
      </p:sp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protocol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 all relevant meta-data, for example, interviewee name,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Outline (if doing it for the first time) or amend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Prepare questions [1]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and how to ask based on research question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Structure questions into categories, have order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start with some demographics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from the general to the specific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a closing, follow-up, thank you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59" name="Google Shape;259;p39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Roberts (2022): Qualitative interview questions.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Interview 1 / 3</a:t>
            </a:r>
            <a:endParaRPr/>
          </a:p>
        </p:txBody>
      </p:sp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your interview guide (questions)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Introductory comments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Clarify purpose of interview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Ask for permission to record interview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Explain purpose of recording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 for off the record remarks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Inquire about use of quotes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Interview conversation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Record the spoken word (audio)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notes on non-verbal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 open-ended questions</a:t>
            </a:r>
            <a:endParaRPr/>
          </a:p>
        </p:txBody>
      </p:sp>
      <p:sp>
        <p:nvSpPr>
          <p:cNvPr id="266" name="Google Shape;266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Interview Protocol</a:t>
            </a:r>
            <a:endParaRPr/>
          </a:p>
        </p:txBody>
      </p:sp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 for community managers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Introduction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Establish subject’s authority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Understand what the interview subject means by volunteering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What types of episodic volunteering are present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What does episodic volunteering look like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How are episodic volunteers managed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Which acti</a:t>
            </a:r>
            <a:r>
              <a:rPr lang="en"/>
              <a:t>vities are best suited to episodic volunteers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Which activities are not suited to episodic volunteers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Conclusion</a:t>
            </a:r>
            <a:endParaRPr sz="1400"/>
          </a:p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74" name="Google Shape;274;p41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Guide for episodic volunteers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Introduction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Episodic volunteering pattern in a community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Motives and Intentions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What initially inspired you to volunteer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Do you intend to continue to volunteer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How do you make that decision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Experiences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Practices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Volunteering identity/behavior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Conclusion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Do you have additional insights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Interview 2 / 3</a:t>
            </a:r>
            <a:endParaRPr/>
          </a:p>
        </p:txBody>
      </p:sp>
      <p:sp>
        <p:nvSpPr>
          <p:cNvPr id="280" name="Google Shape;280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interview guide (questions) but do no</a:t>
            </a:r>
            <a:r>
              <a:rPr lang="en"/>
              <a:t>t be afraid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Reorder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Rephrase, reiterate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off course if answers warrant it!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 open-minded, avoid leading questions, etc.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the interviewee talk but pull them back to the topic if they digress</a:t>
            </a:r>
            <a:endParaRPr/>
          </a:p>
        </p:txBody>
      </p:sp>
      <p:sp>
        <p:nvSpPr>
          <p:cNvPr id="281" name="Google Shape;281;p4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Interview 3 / 3</a:t>
            </a:r>
            <a:endParaRPr/>
          </a:p>
        </p:txBody>
      </p:sp>
      <p:sp>
        <p:nvSpPr>
          <p:cNvPr id="287" name="Google Shape;287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interview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Transcribe the audio recording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the transcript manually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Correct the sentences if necessary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Delete off-the-record parts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Confirm transcription with interviewee</a:t>
            </a:r>
            <a:endParaRPr/>
          </a:p>
        </p:txBody>
      </p:sp>
      <p:sp>
        <p:nvSpPr>
          <p:cNvPr id="288" name="Google Shape;288;p4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Data Sources / Primary Materials</a:t>
            </a:r>
            <a:endParaRPr/>
          </a:p>
        </p:txBody>
      </p:sp>
      <p:sp>
        <p:nvSpPr>
          <p:cNvPr id="294" name="Google Shape;294;p4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interview studies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documents / 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Workshop notes / transcripts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Participant observation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Outside observations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. Data Analysis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Interview Study Process (Continued)</a:t>
            </a:r>
            <a:endParaRPr/>
          </a:p>
        </p:txBody>
      </p:sp>
      <p:sp>
        <p:nvSpPr>
          <p:cNvPr id="306" name="Google Shape;306;p4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07" name="Google Shape;307;p4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selected interviewee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Prepare protocol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Setup protocol, prepare questions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Updated questions if needed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 interview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Interview current interviewee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Capture and transcribe interview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Analyze results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Perform qualitative data analysis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Check saturation, iterate if necessary </a:t>
            </a:r>
            <a:endParaRPr b="1"/>
          </a:p>
        </p:txBody>
      </p:sp>
      <p:pic>
        <p:nvPicPr>
          <p:cNvPr id="308" name="Google Shape;30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Levels of Diversity Analysis</a:t>
            </a:r>
            <a:endParaRPr/>
          </a:p>
        </p:txBody>
      </p:sp>
      <p:sp>
        <p:nvSpPr>
          <p:cNvPr id="314" name="Google Shape;314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three levels (types) of analysis according to Jansen (2010)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Unidimensional description (of collected data)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Data → Object, Object → Dimensions, Dimensions → Categories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Multidimensional description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Concept-oriented and case-oriented description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Qualitative data analysis</a:t>
            </a:r>
            <a:endParaRPr/>
          </a:p>
        </p:txBody>
      </p:sp>
      <p:sp>
        <p:nvSpPr>
          <p:cNvPr id="315" name="Google Shape;315;p4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Coding Strategies</a:t>
            </a:r>
            <a:endParaRPr/>
          </a:p>
        </p:txBody>
      </p:sp>
      <p:sp>
        <p:nvSpPr>
          <p:cNvPr id="321" name="Google Shape;321;p4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322" name="Google Shape;322;p48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{C8276089-1FE8-4EC9-B50F-03725FE08B00}</a:tableStyleId>
              </a:tblPr>
              <a:tblGrid>
                <a:gridCol w="2865125"/>
                <a:gridCol w="2865125"/>
                <a:gridCol w="2865125"/>
              </a:tblGrid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The q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ualitative survey [1]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Thematic analysis [2]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Grounded theory [3]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– 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Initial coding and collation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 coding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Upward coding</a:t>
                      </a:r>
                      <a:br>
                        <a:rPr lang="en"/>
                      </a:br>
                      <a:r>
                        <a:rPr lang="en"/>
                        <a:t>Downward coding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Searching for themes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Axial coding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– 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Reviewing themes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Selective coding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3" name="Google Shape;323;p48"/>
          <p:cNvSpPr txBox="1"/>
          <p:nvPr/>
        </p:nvSpPr>
        <p:spPr>
          <a:xfrm>
            <a:off x="0" y="4233672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[1] See Jansen (2010): The qualitative survey.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See Braun &amp; Clarke (2012): Thematic analysis.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[3] See Corbin &amp; Strauss (2008): Grounded theory.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Until Saturation is Reached</a:t>
            </a:r>
            <a:endParaRPr/>
          </a:p>
        </p:txBody>
      </p:sp>
      <p:sp>
        <p:nvSpPr>
          <p:cNvPr id="329" name="Google Shape;329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Until saturation criterion tied to analysis method is reached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Demonstration of Saturation</a:t>
            </a:r>
            <a:endParaRPr/>
          </a:p>
        </p:txBody>
      </p:sp>
      <p:sp>
        <p:nvSpPr>
          <p:cNvPr id="336" name="Google Shape;336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After 14 interviews (out of 20 in total) all codes were set</a:t>
            </a:r>
            <a:endParaRPr/>
          </a:p>
        </p:txBody>
      </p:sp>
      <p:sp>
        <p:nvSpPr>
          <p:cNvPr id="337" name="Google Shape;337;p5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Quality Assurance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Assurance</a:t>
            </a:r>
            <a:endParaRPr/>
          </a:p>
        </p:txBody>
      </p:sp>
      <p:sp>
        <p:nvSpPr>
          <p:cNvPr id="348" name="Google Shape;348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assurance is tied to the individual research methods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Qualitative survey → sampling model and sampling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Qualitative data analysis → data analysis</a:t>
            </a:r>
            <a:endParaRPr/>
          </a:p>
        </p:txBody>
      </p:sp>
      <p:sp>
        <p:nvSpPr>
          <p:cNvPr id="349" name="Google Shape;349;p5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Quality Assurance</a:t>
            </a:r>
            <a:endParaRPr/>
          </a:p>
        </p:txBody>
      </p:sp>
      <p:sp>
        <p:nvSpPr>
          <p:cNvPr id="355" name="Google Shape;355;p5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iteration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coders, with the second coder recoding the first coder’s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Second iteration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Same procedure, with the second coder being a distributed coding team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each iteration, the codebook was discussed and revised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62" name="Google Shape;362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Qualitative surveys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Qualitative vs. quantitative surveys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Purposive sampling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collection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</p:txBody>
      </p:sp>
      <p:sp>
        <p:nvSpPr>
          <p:cNvPr id="363" name="Google Shape;363;p5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369" name="Google Shape;369;p5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375" name="Google Shape;375;p5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76" name="Google Shape;376;p5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2023,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